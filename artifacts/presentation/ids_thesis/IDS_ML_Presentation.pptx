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1.png"/><Relationship Id="rId6" Type="http://schemas.openxmlformats.org/officeDocument/2006/relationships/image" Target="../media/image-22-2.png"/><Relationship Id="rId7" Type="http://schemas.openxmlformats.org/officeDocument/2006/relationships/image" Target="../media/image-22-3.png"/><Relationship Id="rId8" Type="http://schemas.openxmlformats.org/officeDocument/2006/relationships/image" Target="../media/image-22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3"/>
          <p:cNvSpPr/>
          <p:nvPr/>
        </p:nvSpPr>
        <p:spPr>
          <a:xfrm>
            <a:off x="0" y="960120"/>
            <a:ext cx="9144000" cy="2560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347472" y="1097280"/>
            <a:ext cx="64008" cy="22677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02920" y="10241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MÔN HỌC: PHÂN TÍCH &amp; ĐÁNH GIÁ AN TOÀN THÔNG TIN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02920" y="1353312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XÂY DỰNG HỆ THỐNG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PHÁT HIỆN XÂM NHẬP MẠNG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DỰA TRÊN MACHINE LEARNING</a:t>
            </a:r>
            <a:endParaRPr lang="en-US" sz="3000" dirty="0"/>
          </a:p>
        </p:txBody>
      </p:sp>
      <p:sp>
        <p:nvSpPr>
          <p:cNvPr id="13" name="Shape 7"/>
          <p:cNvSpPr/>
          <p:nvPr/>
        </p:nvSpPr>
        <p:spPr>
          <a:xfrm>
            <a:off x="502920" y="3584448"/>
            <a:ext cx="8138160" cy="16459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0292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TRƯỜNG ĐẠI HỌC CÔNG NGHỆ TP.HCM  ·  KHOA CNTT  ·  HK II / 2024–2025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02920" y="398678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GIẢNG VIÊN HƯỚNG DẪN</a:t>
            </a:r>
            <a:endParaRPr lang="en-US" sz="13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ĐINH PHƯƠNG NAM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709160" y="3986784"/>
            <a:ext cx="18288" cy="6858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846320" y="398678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THÀNH VIÊN NHÓM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Nguyễn Hoàng Duy  ·  ...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  ĐẶT VẤN ĐỀ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IoT BỐC PHÁT — IDS TRUYỀN THỐNG KHÔNG THEO KỊP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36192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48640" y="1536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IoT phát triển bùng nổ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48640" y="188366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 tỷ thiết bị (2023) → 29 tỷ (2030). Bề mặt tấn công tăng theo cấp số nhân, lưu lượng mạng phức tạp hơn.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11480" y="2560320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48640" y="2560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Các kiểu tấn công phổ biến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48640" y="290779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DDoS · Brute Force · Spoofing · Mirai botnet — ngày càng tự động hóa và khó phân biệt với traffic bình thường.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11480" y="3584448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48640" y="35844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Signature-based IDS: đã lỗi thời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48640" y="3931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Không phát hiện được zero-day attacks. Cần cập nhật thủ công liên tục. Bỏ qua biến thể tấn công mới.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715000" y="1536192"/>
            <a:ext cx="3017520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15000" y="15819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17B → 29B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5788152" y="203911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thiết bị IoT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2023 → 2030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715000" y="2578608"/>
            <a:ext cx="301752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715000" y="2624328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 Zero-day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5788152" y="3056382"/>
            <a:ext cx="2871216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signature IDS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không phát hiện được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715000" y="3566160"/>
            <a:ext cx="301752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715000" y="3611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ML IDS</a:t>
            </a:r>
            <a:endParaRPr lang="en-US" sz="2800" dirty="0"/>
          </a:p>
        </p:txBody>
      </p:sp>
      <p:sp>
        <p:nvSpPr>
          <p:cNvPr id="30" name="Text 24"/>
          <p:cNvSpPr/>
          <p:nvPr/>
        </p:nvSpPr>
        <p:spPr>
          <a:xfrm>
            <a:off x="5788152" y="4043934"/>
            <a:ext cx="2871216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 Cần IDS thông minh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anomaly-based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11480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➡  Giải pháp: Xây dựng IDS dựa trên Machine Learning — phát hiện bất thường theo đặc trưng luồng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 MỤC TIÊU ĐỒ ÁN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MỤC TIÊU: NGHIÊN CỨU VÀ TRIỂN KHAI THỰC TẾ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36192"/>
            <a:ext cx="420624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11480" y="1536192"/>
            <a:ext cx="54864" cy="9875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21208" y="1536192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069848" y="159105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Xây dựng IDS anomaly-based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69848" y="1975104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Phát hiện tấn công qua đặc trưng luồng, không dùng signature.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773168" y="1536192"/>
            <a:ext cx="420624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773168" y="1536192"/>
            <a:ext cx="54864" cy="9875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882896" y="1536192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5431536" y="159105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Pipeline xử lý dữ liệu hoàn chỉnh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31536" y="1975104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Làm sạch, loại leakage, split an toàn → 72 features.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11480" y="2615184"/>
            <a:ext cx="420624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11480" y="2615184"/>
            <a:ext cx="54864" cy="9875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21208" y="2615184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1069848" y="26700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 sánh 5 mô hình ML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69848" y="3054096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LogReg · RF · HistGB · CatBoost · MLP — đánh giá công bằng.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773168" y="2615184"/>
            <a:ext cx="420624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73168" y="2615184"/>
            <a:ext cx="54864" cy="9875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82896" y="2615184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5431536" y="26700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Tối ưu threshold &amp; chọn model tốt nhất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31536" y="3054096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Dựa trên FPR, F1, OOD Recall — ưu tiên FPR thấp.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11480" y="3694176"/>
            <a:ext cx="420624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11480" y="3694176"/>
            <a:ext cx="54864" cy="9875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21208" y="3694176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1069848" y="37490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Triển khai hệ thống thực tế (real-time)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1069848" y="413308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Inference engine + dashboard + Telegram alerts.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773168" y="3694176"/>
            <a:ext cx="420624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773168" y="3694176"/>
            <a:ext cx="54864" cy="9875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82896" y="3694176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2200" dirty="0"/>
          </a:p>
        </p:txBody>
      </p:sp>
      <p:sp>
        <p:nvSpPr>
          <p:cNvPr id="41" name="Text 35"/>
          <p:cNvSpPr/>
          <p:nvPr/>
        </p:nvSpPr>
        <p:spPr>
          <a:xfrm>
            <a:off x="5431536" y="37490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Mở rộng 2-stage classification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5431536" y="413308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Stage 1: benign/attack. Stage 2: phân loại attack family + abstain.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411480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⚡  Không chỉ nghiên cứu — đồ án tập trung vào triển khai hệ thống thực tế với giao diện vận hành đầy đủ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 PHẠM VI &amp; GIỚI HẠN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PHẠM VI NGHIÊN CỨU &amp; NHỮNG GÌ CHƯA LÀM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11480" y="14813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TRONG PHẠM VI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11480" y="1965960"/>
            <a:ext cx="201168" cy="201168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11480" y="1929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94944" y="187452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Hệ thống chạy trên 1 máy (same-host)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11480" y="2514600"/>
            <a:ext cx="201168" cy="201168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11480" y="2478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94944" y="242316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Dữ liệu flow-based — không đọc nội dung packet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11480" y="3063240"/>
            <a:ext cx="201168" cy="201168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11480" y="3026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94944" y="297180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Dataset: CIC IoT-DIAD 2024 (lab traffic)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11480" y="3611880"/>
            <a:ext cx="201168" cy="201168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11480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94944" y="352044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Real-time inference trên traffic flow đã được capture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11480" y="4160520"/>
            <a:ext cx="201168" cy="201168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11480" y="4123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94944" y="406908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Dashboard web + Telegram notification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663440" y="1481328"/>
            <a:ext cx="18288" cy="32461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00600" y="1481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NGOÀI PHẠM VI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800600" y="1965960"/>
            <a:ext cx="201168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00600" y="1929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084064" y="187452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Multi-host / distributed deployment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00600" y="2624328"/>
            <a:ext cx="201168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800600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084064" y="2532888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Deep Packet Inspection (DPI)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800600" y="3282696"/>
            <a:ext cx="201168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800600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084064" y="319125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Đo lường hiệu năng dài hạn / concept drift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4800600" y="3941064"/>
            <a:ext cx="201168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800600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084064" y="384962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Tấn công vật lý (Physical layer attacks)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411480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GV hay hỏi slide này — cần trả lời rõ: hệ thống chỉ chạy trên 1 máy, không đọc nội dung gói tin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 CƠ SỞ LÝ THUYẾT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HỆ THỐNG PHÁT HIỆN XÂM NHẬP (IDS)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11480" y="14813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IDS (Intrusion Detection System) là hệ thống giám sát lưu lượng mạng, phát hiện hoạt động bất thường và cảnh báo quản trị viên — nhưng không tự chặn tấn công.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411480" y="2084832"/>
            <a:ext cx="25420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11480" y="208483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GIÁM SÁT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84632" y="24323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Phân tích lưu lượng mạng liên tục theo thời gian thực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136392" y="2084832"/>
            <a:ext cx="254203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136392" y="208483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PHÂN TÍCH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209544" y="24323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 sánh với baseline hoặc mô hình để phát hiện bất thường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861304" y="2084832"/>
            <a:ext cx="2542032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861304" y="208483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CẢNH BÁO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934456" y="24323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Thông báo cho quản trị viên khi phát hiện tấn công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11480" y="2907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 SÁNH PHƯƠNG PHÁP PHÁT HIỆN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36976"/>
          <a:ext cx="8321040" cy="1536192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8346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Tiêu chí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Signature-based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Anomaly-based (ML)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Phát hiện tấn công đã biết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✓ Tốt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✓ Tốt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Phát hiện zero-day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✗ Không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✓ Có thể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Cập nhật signature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✗ Thủ công, liên tục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✓ Tự học từ dữ liệu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False Positive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✓ Thấp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⚠ Phụ thuộc threshold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Khả năng thích nghi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✗ Kém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✓ Tốt</a:t>
                      </a:r>
                      <a:endParaRPr lang="en-US" sz="11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 CƠ SỞ LÝ THUYẾT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FLOW-BASED IDS — PHÂN TÍCH LUỒNG, KHÔNG ĐỌC PACKET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11480" y="14813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Thay vì đọc nội dung từng packet (tốn tài nguyên, vi phạm privacy), Flow-based IDS phân tích metadata của luồng kết nối: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11480" y="2029968"/>
            <a:ext cx="832104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02920" y="202996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5-TUPLE: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1417320" y="2103120"/>
            <a:ext cx="128016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417320" y="21031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Source IP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834640" y="2103120"/>
            <a:ext cx="128016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834640" y="21031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Dest IP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251960" y="2103120"/>
            <a:ext cx="128016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251960" y="21031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Source Port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69280" y="2103120"/>
            <a:ext cx="128016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9280" y="21031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Dest Port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086600" y="2103120"/>
            <a:ext cx="128016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086600" y="21031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Protocol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11480" y="270662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ƯU ĐIỂM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11480" y="3072384"/>
            <a:ext cx="54864" cy="43891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30352" y="30723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Nhanh: 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298448" y="30723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Xử lý ở mức flow, không cần deep inspection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11480" y="3602736"/>
            <a:ext cx="54864" cy="43891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30352" y="360273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Bảo mật hơn: 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298448" y="36027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Không đọc payload — tôn trọng privacy người dùng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11480" y="4133088"/>
            <a:ext cx="54864" cy="43891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0352" y="4133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Khả thi: 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1298448" y="41330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Chạy được trên phần cứng thông thường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663440" y="2706624"/>
            <a:ext cx="18288" cy="212140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800600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FEATURE VÍ DỤ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4800600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  flow_duration — thời gian kết nối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800600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  tot_fwd_pkts — số packet chiều xuôi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800600" y="3621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  totlen_fwd_pkts — tổng byte chiều xuôi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480060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  flow_byts_s — throughput (bytes/s)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480060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  pkt_len_mean — kích thước packet TB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4800600" y="4498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  flow_iat_mean — inter-arrival time TB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 DỮ LIỆU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CIC IoT-DIAD 2024 — BỘ DỮ LIỆU CHUẨN NGHIÊN CỨU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481328"/>
            <a:ext cx="4069080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11480" y="1481328"/>
            <a:ext cx="40690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02920" y="14813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THÔNG TIN BỘ DỮ LIỆU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30352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Tên: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201168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CIC IoT-DIAD 2024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30352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Nguồn: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01168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Canadian Institute for Cybersecurity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30352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Tổng rows: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201168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27.7M bản ghi luồng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30352" y="3291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Sau làm sạch: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201168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18.6M rows (72 features)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30352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Thiết bị: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01168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IoT devices — thực tế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30352" y="4206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Loại: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01168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Benign + Attack traffic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709160" y="1481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CÁC LOẠI TẤN CÔNG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709160" y="1874520"/>
            <a:ext cx="685800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709160" y="1874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DDoS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5468112" y="187452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Distributed Denial of Service — làm nghẽn dịch vụ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709160" y="2331720"/>
            <a:ext cx="685800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709160" y="23317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5468112" y="233172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Denial of Service — tương tự DDoS nhưng từ 1 nguồn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709160" y="2788920"/>
            <a:ext cx="685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709160" y="27889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Spoofing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468112" y="278892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Giả mạo địa chỉ IP/ARP để đánh lừa hệ thống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709160" y="3246120"/>
            <a:ext cx="685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709160" y="3246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Mirai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5468112" y="324612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Botnet tấn công IoT — lây nhiễm thiết bị yếu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4709160" y="3703320"/>
            <a:ext cx="6858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709160" y="37033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Scan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5468112" y="370332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Quét cổng, dò tìm lỗ hổng bảo mật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4709160" y="4160520"/>
            <a:ext cx="685800" cy="36576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709160" y="4160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Brute Force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5468112" y="416052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Thử mật khẩu liên tục — SSH, Telnet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709160" y="4617720"/>
            <a:ext cx="685800" cy="365760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709160" y="46177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Benign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5468112" y="461772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Traffic bình thường của IoT devices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411480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Dataset chuẩn nghiên cứu — được dùng trong nhiều paper IoT security 2024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  MÔ HÌNH MACHINE LEARNING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 MÔ HÌNH ML ĐƯỢC SO SÁNH TRONG ĐỒ ÁN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36192"/>
            <a:ext cx="157276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11480" y="15361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LR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411480" y="1956816"/>
            <a:ext cx="1572768" cy="285292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57200" y="19933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Logistic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02920" y="2578608"/>
            <a:ext cx="1389888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66344" y="2633472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Baseline tuyến tính. Đơn giản, nhanh huấn luyện. Kỳ vọng underfit trên dữ liệu phi tuyến IoT.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2075688" y="1536192"/>
            <a:ext cx="1572768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075688" y="15361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RF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2075688" y="1956816"/>
            <a:ext cx="1572768" cy="285292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121408" y="19933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Random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Forest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167128" y="2578608"/>
            <a:ext cx="1389888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130552" y="2633472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Ensemble cây quyết định. Mạnh với nhiễu, tốt với imbalanced data. Tốn RAM với dataset lớn.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739896" y="1536192"/>
            <a:ext cx="1572768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739896" y="15361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HGB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3739896" y="1956816"/>
            <a:ext cx="1572768" cy="285292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785616" y="19933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GradientBoosting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831336" y="2578608"/>
            <a:ext cx="1389888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794760" y="2633472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Gradient boosting tối ưu bằng histogram. Nhanh hơn XGBoost, xử lý tốt missing value.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404104" y="1536192"/>
            <a:ext cx="1572768" cy="42062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04104" y="15361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CB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5404104" y="1956816"/>
            <a:ext cx="1572768" cy="285292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449824" y="19933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495544" y="2578608"/>
            <a:ext cx="1389888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458968" y="2633472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Boosting với xử lý đặc trưng categorical. Ít overfitting, huấn luyện nhanh, FPR thấp.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7068312" y="1536192"/>
            <a:ext cx="1572768" cy="420624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068312" y="15361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MLP</a:t>
            </a:r>
            <a:endParaRPr lang="en-US" sz="1800" dirty="0"/>
          </a:p>
        </p:txBody>
      </p:sp>
      <p:sp>
        <p:nvSpPr>
          <p:cNvPr id="39" name="Shape 33"/>
          <p:cNvSpPr/>
          <p:nvPr/>
        </p:nvSpPr>
        <p:spPr>
          <a:xfrm>
            <a:off x="7068312" y="1956816"/>
            <a:ext cx="1572768" cy="285292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114032" y="19933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Multi-Layer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Perceptron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7159752" y="2578608"/>
            <a:ext cx="1389888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123176" y="2633472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Neural network đơn giản. Linh hoạt nhưng cần nhiều tuning và thường có FPR cao.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Tất cả mô hình được train với cùng pipeline, split strategy và metric evaluation để so sánh công bằng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  MÔ HÌNH MACHINE LEARNING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METRIC ĐÁNH GIÁ — FPR LÀ QUAN TRỌNG NHẤT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36192"/>
            <a:ext cx="42062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11480" y="1536192"/>
            <a:ext cx="64008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4864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2331720" y="1572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TP / (TP + FP)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48640" y="19933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Trong số cảnh báo, bao nhiêu % là tấn công thật?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73168" y="1536192"/>
            <a:ext cx="42062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773168" y="1536192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910328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Recall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693408" y="1572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TP / (TP + FN)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910328" y="19933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Trong số tấn công thật, bao nhiêu % được phát hiện?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11480" y="2587752"/>
            <a:ext cx="42062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11480" y="2587752"/>
            <a:ext cx="64008" cy="960120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2624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F1-Score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2331720" y="26243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 × P × R / (P + R)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30449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Trung bình điều hòa của Precision và Recall.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773168" y="2587752"/>
            <a:ext cx="42062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73168" y="2587752"/>
            <a:ext cx="64008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10328" y="2624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FPR ⚠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693408" y="26243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FP / (FP + TN)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910328" y="30449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Tỷ lệ cảnh báo nhầm. IDS phải giảm FPR tối đa!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11480" y="3639312"/>
            <a:ext cx="832104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11480" y="3639312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8640" y="36758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OOD Recall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2606040" y="3675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TP_ood / N_ood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48640" y="40965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Phát hiện tấn công chưa thấy khi train (out-of-distribution).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411480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⚠  IDS có FPR cao = cảnh báo nhầm liên tục = quản trị viên mất niềm tin = bỏ qua cảnh báo thật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  KIẾN TRÚC HỆ THỐNG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KIẾN TRÚC 5 TẦNG — TỪ DỮ LIỆU ĐẾN DASHBOARD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462272" y="2075688"/>
            <a:ext cx="219456" cy="1097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11480" y="1554480"/>
            <a:ext cx="8321040" cy="54864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11480" y="1554480"/>
            <a:ext cx="4572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1148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950976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041648" y="1664208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133088" y="15544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Làm sạch · Loại leakage · Split · 72 features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462272" y="2715768"/>
            <a:ext cx="219456" cy="1097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11480" y="2194560"/>
            <a:ext cx="8321040" cy="54864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11480" y="2194560"/>
            <a:ext cx="457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1148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950976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TRAINING PIPELINE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041648" y="2304288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133088" y="21945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Benchmark 5 models · Threshold tuning · Scaling exp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462272" y="3355848"/>
            <a:ext cx="219456" cy="1097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11480" y="2834640"/>
            <a:ext cx="8321040" cy="54864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11480" y="2834640"/>
            <a:ext cx="457200" cy="5486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1148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950976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MODEL BUNDLE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4041648" y="2944368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133088" y="2834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 weights · Scaler · Feature list · Threshold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462272" y="3995928"/>
            <a:ext cx="219456" cy="1097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11480" y="3474720"/>
            <a:ext cx="8321040" cy="54864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11480" y="3474720"/>
            <a:ext cx="457200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11480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2"/>
          <p:cNvSpPr/>
          <p:nvPr/>
        </p:nvSpPr>
        <p:spPr>
          <a:xfrm>
            <a:off x="950976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INFERENCE ENGINE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4041648" y="3584448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133088" y="34747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Live capture · Flow extraction · Real-time prediction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411480" y="4114800"/>
            <a:ext cx="8321040" cy="54864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11480" y="4114800"/>
            <a:ext cx="457200" cy="548640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11480" y="4114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38"/>
          <p:cNvSpPr/>
          <p:nvPr/>
        </p:nvSpPr>
        <p:spPr>
          <a:xfrm>
            <a:off x="950976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45" name="Shape 39"/>
          <p:cNvSpPr/>
          <p:nvPr/>
        </p:nvSpPr>
        <p:spPr>
          <a:xfrm>
            <a:off x="4041648" y="4224528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133088" y="4114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Web UI · Alert feed · Telegram notify · Stats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Slide này rất quan trọng — giải thích rõ luồng từ raw traffic đến alert cho giảng viên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  KIẾN TRÚC HỆ THỐNG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PIPELINE — LÀM SẠCH &amp; CHỐNG LEAKAGE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12064" y="1645920"/>
            <a:ext cx="146304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12064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Raw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27.7M rows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12064" y="2103120"/>
            <a:ext cx="14630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48640" y="210312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CIC IoT-DIAD 2024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CSV files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1975104" y="1847088"/>
            <a:ext cx="201168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956816" y="17830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176272" y="1645920"/>
            <a:ext cx="14630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176272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Loại bỏ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Leakage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2176272" y="2103120"/>
            <a:ext cx="14630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212848" y="210312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IP, port, timestamp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bị loại trực tiếp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639312" y="1847088"/>
            <a:ext cx="201168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621024" y="17830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840480" y="1645920"/>
            <a:ext cx="14630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84048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Dedup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Clean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840480" y="2103120"/>
            <a:ext cx="14630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877056" y="210312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Loại duplicate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fill NaN / Inf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303520" y="1847088"/>
            <a:ext cx="201168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285232" y="17830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504688" y="1645920"/>
            <a:ext cx="14630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04688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Train/Test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Split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504688" y="2103120"/>
            <a:ext cx="14630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541264" y="210312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Stratified split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không data leakage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967728" y="1847088"/>
            <a:ext cx="201168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949440" y="17830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7168896" y="1645920"/>
            <a:ext cx="1463040" cy="457200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168896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72 Features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18.6M rows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7168896" y="2103120"/>
            <a:ext cx="14630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205472" y="210312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Feature set cuối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cho training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411480" y="3200400"/>
            <a:ext cx="8321040" cy="1444752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11480" y="3200400"/>
            <a:ext cx="64008" cy="1444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48640" y="3255264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TẠI SAO PHẢI LOẠI LEAKAGE?</a:t>
            </a:r>
            <a:endParaRPr lang="en-US" sz="1250" dirty="0"/>
          </a:p>
        </p:txBody>
      </p:sp>
      <p:sp>
        <p:nvSpPr>
          <p:cNvPr id="44" name="Text 38"/>
          <p:cNvSpPr/>
          <p:nvPr/>
        </p:nvSpPr>
        <p:spPr>
          <a:xfrm>
            <a:off x="548640" y="3639312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  IP source/destination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  Nếu giữ IP → model học IP cụ thể trong dataset, không khái quát được lên traffic mới.
</a:t>
            </a:r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›  Timestamp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  Nếu giữ timestamp → model overfit vào thứ tự thời gian của dataset lab.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  KIẾN TRÚC HỆ THỐNG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TWO-STAGE CLASSIFICATION — PHÂN LOẠI 2 TẦNG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72768"/>
            <a:ext cx="132588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11480" y="25786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NETWORK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FLOW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755648" y="285292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2084832" y="1572768"/>
            <a:ext cx="2176272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084832" y="15727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STAGE 1: Binary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2084832" y="1956816"/>
            <a:ext cx="2176272" cy="2743200"/>
          </a:xfrm>
          <a:prstGeom prst="rect">
            <a:avLst/>
          </a:prstGeom>
          <a:solidFill>
            <a:srgbClr val="E8EAF6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148840" y="2011680"/>
            <a:ext cx="20482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 binary classifier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Input: 72 flow features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Output: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BENIGN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ATTACK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279392" y="285292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4608576" y="1572768"/>
            <a:ext cx="2176272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608576" y="15727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STAGE 2: Multi-class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08576" y="1956816"/>
            <a:ext cx="2176272" cy="2743200"/>
          </a:xfrm>
          <a:prstGeom prst="rect">
            <a:avLst/>
          </a:prstGeom>
          <a:solidFill>
            <a:srgbClr val="FFEBE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672584" y="2011680"/>
            <a:ext cx="20482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 multi-class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Phân loại: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DDoS / DoS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Spoofing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Mirai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Brute Force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...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03136" y="285292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7132320" y="1572768"/>
            <a:ext cx="1600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132320" y="157276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ABSTAIN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132320" y="1956816"/>
            <a:ext cx="1600200" cy="2743200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178040" y="2011680"/>
            <a:ext cx="1508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Unknown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attack family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Cảnh báo: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Unknown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Threat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🔥  Điểm sáng: abstain mechanism giúp phát hiện tấn công chưa biết mà không báo lỗi nhầm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  KẾT QUẢ THỰC NGHIỆM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BENCHMARK KẾT QUẢ — CATBOOST VƯỢT TRỘI VỀ FPR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36192"/>
          <a:ext cx="8321040" cy="2944368"/>
        </p:xfrm>
        <a:graphic>
          <a:graphicData uri="http://schemas.openxmlformats.org/drawingml/2006/table">
            <a:tbl>
              <a:tblPr/>
              <a:tblGrid>
                <a:gridCol w="2331720"/>
                <a:gridCol w="1280160"/>
                <a:gridCol w="1234440"/>
                <a:gridCol w="1234440"/>
                <a:gridCol w="960120"/>
                <a:gridCol w="1280160"/>
              </a:tblGrid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Mô hình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Precision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Recall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F1-Score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FPR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Đánh giá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Logistic Regression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94.12%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89.34%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91.67%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8.24%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❌  FPR quá cao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MLP (Neural Net)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95.08%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91.20%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93.10%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6.87%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❌  FPR cao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Random Forest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99.41%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99.28%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99.34%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6B32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0.52%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6B32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✓  Tốt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HistGradientBoosting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99.38%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99.25%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99.31%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6B32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0.58%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6B32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✓  Tốt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CatBoost ⭐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99.52%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99.41%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99.46%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6B32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0.31%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6B32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✅  TỐT NHẤT</a:t>
                      </a:r>
                      <a:endParaRPr lang="en-US" sz="115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4" name="Text 7"/>
          <p:cNvSpPr/>
          <p:nvPr/>
        </p:nvSpPr>
        <p:spPr>
          <a:xfrm>
            <a:off x="411480" y="4572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➡  LogReg và MLP có FPR &gt; 6% — không phù hợp triển khai IDS. CatBoost đạt FPR = 0.31% là tốt nhất.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  KẾT QUẢ THỰC NGHIỆM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LEARNING CURVE — ĐỘ HỘI TỤ CỦA TỪNG MÔ HÌNH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11480" y="15087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Nhận xét từ learning curve khi tăng dần kích thước train set (2M → 4M → 8M → 18.6M rows):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11480" y="2029968"/>
            <a:ext cx="73152" cy="548640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48640" y="20299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RF &amp; HistGB: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993392" y="2029968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Hội tụ ổn định — F1 cao và ít thay đổi khi tăng data. Đã đủ data từ 4M rows.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11480" y="2715768"/>
            <a:ext cx="7315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48640" y="27157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CatBoost: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993392" y="2715768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Còn tăng khi thêm data — có khả năng cải thiện thêm với full dataset và tuning sâu hơn.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11480" y="3401568"/>
            <a:ext cx="73152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48640" y="34015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LogReg: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93392" y="3401568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Underfit rõ ràng — đường train và validation gần nhau nhưng cả hai đều thấp. Mô hình không đủ năng lực.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11480" y="4087368"/>
            <a:ext cx="73152" cy="5486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48640" y="40873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MLP: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993392" y="4087368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FPR cao dù F1 khá tốt — cần nhiều tuning hyperparameter hơn, khó deploy thực tế.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11480" y="4590288"/>
            <a:ext cx="8321040" cy="2560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" y="45902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Kết luận ngắn: RF/HistGB đã bão hòa — CatBoost còn tiềm năng với thêm data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  KẾT QUẢ THỰC NGHIỆM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SCALING EXPERIMENT — HIỆU NĂNG KHI TĂNG DỮ LIỆU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11480" y="150876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Thử nghiệm tăng train size từ 2M → 4M → 8M → 18.6M để đánh giá khả năng scale của từng mô hình: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11480" y="2011680"/>
            <a:ext cx="26060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11480" y="2011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11480" y="2395728"/>
            <a:ext cx="2606040" cy="226771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02920" y="24505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 F1 cao nhất ở full data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02920" y="2999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  FPR tăng khi thêm data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02920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  RAM tăng mạnh với 18.6M rows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02920" y="40965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  Không scale tốt với data lớn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00400" y="2011680"/>
            <a:ext cx="26060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200400" y="2011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HistGradientBoosting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200400" y="2395728"/>
            <a:ext cx="2606040" cy="226771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291840" y="24505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 Ổn định cả F1 và FPR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291840" y="2999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 Tốc độ train chấp nhận được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291840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~  Ít thay đổi khi thêm data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291840" y="40965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~  Gần bão hòa từ 8M rows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989320" y="2011680"/>
            <a:ext cx="260604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989320" y="2011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 ⭐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989320" y="2395728"/>
            <a:ext cx="2606040" cy="226771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080760" y="24505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 F1 tăng đều khi thêm data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080760" y="2999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 FPR thấp nhất và ổn định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080760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 Train nhanh nhất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080760" y="40965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 Cân bằng tốt nhất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➡  CatBoost là lựa chọn duy nhất duy trì FPR thấp khi tăng data — phù hợp nhất cho production IDS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16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  KẾT QUẢ THỰC NGHIỆM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LỰA CHỌN CUỐI CÙNG: CATBOOST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36192"/>
            <a:ext cx="3977640" cy="3246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11480" y="1536192"/>
            <a:ext cx="397764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11480" y="16002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⭐</a:t>
            </a:r>
            <a:endParaRPr lang="en-US" sz="3600" dirty="0"/>
          </a:p>
        </p:txBody>
      </p:sp>
      <p:sp>
        <p:nvSpPr>
          <p:cNvPr id="16" name="Text 10"/>
          <p:cNvSpPr/>
          <p:nvPr/>
        </p:nvSpPr>
        <p:spPr>
          <a:xfrm>
            <a:off x="411480" y="22128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</a:t>
            </a:r>
            <a:endParaRPr lang="en-US" sz="3000" dirty="0"/>
          </a:p>
        </p:txBody>
      </p:sp>
      <p:sp>
        <p:nvSpPr>
          <p:cNvPr id="17" name="Text 11"/>
          <p:cNvSpPr/>
          <p:nvPr/>
        </p:nvSpPr>
        <p:spPr>
          <a:xfrm>
            <a:off x="411480" y="28803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Gradient Boosting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with Ordered Boosting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02920" y="342900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99.46%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50292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801368" y="342900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0.31%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1801368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FPR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099816" y="342900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99.41%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3099816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OOD Recall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53712" y="1536192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LÝ DO LỰA CHỌN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53712" y="1956816"/>
            <a:ext cx="54864" cy="71323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681728" y="195681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FPR thấp nhất: 0.31%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681728" y="228600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Ít cảnh báo nhầm nhất trong 5 model — tốt nhất cho production.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53712" y="2761488"/>
            <a:ext cx="54864" cy="71323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681728" y="276148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F1-Score cao: 99.46%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681728" y="309067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Phát hiện gần như toàn bộ tấn công, ít bỏ sót.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53712" y="3566160"/>
            <a:ext cx="54864" cy="71323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681728" y="356616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Train nhanh nhất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681728" y="389534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Hoàn thành trên full 18.6M rows nhanh hơn RF và HistGB.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553712" y="4370832"/>
            <a:ext cx="54864" cy="71323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681728" y="4370832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Ổn định khi scale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4681728" y="4700016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FPR không tăng khi thêm data — khác với Random Forest.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553712" y="5175504"/>
            <a:ext cx="54864" cy="71323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681728" y="517550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Ít hyperparameter tuning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4681728" y="550468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Out-of-box đã cho kết quả tốt, phù hợp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08  TRIỂN KHAI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TRIỂN KHAI HỆ THỐNG IDS THỰC TẾ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11480" y="14813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Hệ thống được triển khai hoàn chỉnh trên 1 máy Linux — từ capture đến dashboard: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11480" y="1938528"/>
            <a:ext cx="8321040" cy="512064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11480" y="1938528"/>
            <a:ext cx="73152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48640" y="19385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Linux Sensor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578608" y="193852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live_capture.py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133088" y="2029968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224528" y="1938528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Bắt packet bằng tcpdump/scapy, trích xuất flow features, đẩy vào inference queue.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11480" y="2523744"/>
            <a:ext cx="8321040" cy="512064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11480" y="2523744"/>
            <a:ext cx="73152" cy="5120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48640" y="252374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Inference Engine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2578608" y="2523744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inference_engine.py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33088" y="2615184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224528" y="2523744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Load CatBoost model bundle. Real-time prediction. Output: benign / attack type.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11480" y="3108960"/>
            <a:ext cx="8321040" cy="512064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11480" y="3108960"/>
            <a:ext cx="7315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31089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Realtime Pipeline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2578608" y="310896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pipeline.py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133088" y="3200400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224528" y="3108960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Kết nối sensor và engine. Buffer management. Xử lý backpressure.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11480" y="3694176"/>
            <a:ext cx="8321040" cy="512064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11480" y="3694176"/>
            <a:ext cx="73152" cy="512064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48640" y="369417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Web Dashboard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2578608" y="3694176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web.py (Flask)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133088" y="3785616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224528" y="3694176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Giao diện vận hành: alert feed, thống kê, lịch sử tấn công. Auto-refresh.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11480" y="4279392"/>
            <a:ext cx="8321040" cy="512064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11480" y="4279392"/>
            <a:ext cx="73152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48640" y="42793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Telegram Alerts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2578608" y="427939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notifications.py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4133088" y="4370832"/>
            <a:ext cx="18288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224528" y="4279392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Gửi cảnh báo tức thì qua Telegram Bot khi phát hiện tấn công có độ tin cậy cao.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411480" y="49011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✅  Hệ thống deploy được thật — không phải prototype. Đã test với traffic thực và passing &gt; 140 tests.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18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08  TRIỂN KHAI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DEMO HỆ THỐNG — GIAO DIỆN VẬN HÀNH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54480"/>
            <a:ext cx="2606040" cy="310896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11480" y="1554480"/>
            <a:ext cx="260604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11480" y="15544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OVERVIEW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2011680"/>
            <a:ext cx="2423160" cy="1874520"/>
          </a:xfrm>
          <a:prstGeom prst="rect">
            <a:avLst/>
          </a:prstGeom>
          <a:solidFill>
            <a:srgbClr val="E8E8E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02920" y="201168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sẽ được chèn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vào đây]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84632" y="3913632"/>
            <a:ext cx="24597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Thống kê tổng quan: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Total flows · Attack rate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Top attack types · Timeline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3200400" y="1554480"/>
            <a:ext cx="2606040" cy="310896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200400" y="1554480"/>
            <a:ext cx="260604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200400" y="15544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ALERT FEED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291840" y="2011680"/>
            <a:ext cx="2423160" cy="1874520"/>
          </a:xfrm>
          <a:prstGeom prst="rect">
            <a:avLst/>
          </a:prstGeom>
          <a:solidFill>
            <a:srgbClr val="E8E8E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291840" y="201168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sẽ được chèn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vào đây]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273552" y="3913632"/>
            <a:ext cx="24597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Danh sách cảnh báo real-time: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Attack type · Confidence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Src IP · Timestamp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989320" y="1554480"/>
            <a:ext cx="2606040" cy="310896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989320" y="1554480"/>
            <a:ext cx="260604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989320" y="15544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TELEGRAM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080760" y="2011680"/>
            <a:ext cx="2423160" cy="1874520"/>
          </a:xfrm>
          <a:prstGeom prst="rect">
            <a:avLst/>
          </a:prstGeom>
          <a:solidFill>
            <a:srgbClr val="E8E8E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80760" y="201168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sẽ được chèn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vào đây]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062472" y="3913632"/>
            <a:ext cx="24597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Cảnh báo tức thì: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Bot gửi message ngay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khi phát hiện tấn công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(high-confidence only)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💡  Thêm ảnh demo thật vào slide này là điểm cộng lớn với hội đồng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19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09  ĐÁNH GIÁ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ĐÁNH GIÁ HỆ THỐNG — ƯU &amp; NHƯỢC ĐIỂM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481328"/>
            <a:ext cx="4069080" cy="347472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02920" y="14813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 ƯU ĐIỂM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11480" y="1920240"/>
            <a:ext cx="64008" cy="493776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48640" y="192024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FPR thấp: 0.31%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21579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Số cảnh báo nhầm cực thấp — quản trị viên có thể tin tưởng mỗi cảnh báo.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11480" y="2505456"/>
            <a:ext cx="64008" cy="493776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" y="25054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Real-time inference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Xử lý flow ngay khi capture — độ trễ &lt; 1 giây.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11480" y="3090672"/>
            <a:ext cx="64008" cy="493776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48640" y="30906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Scalable pipeline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3328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 thể mở rộng với buffer queue, không bị nghẽn.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1480" y="3675888"/>
            <a:ext cx="64008" cy="493776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36758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Two-stage detection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3913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Không chỉ biết là attack, mà còn biết attack loại gì.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11480" y="4261104"/>
            <a:ext cx="64008" cy="493776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42611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Telegram alerts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4498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Thông báo ngay trên điện thoại — không cần ngồi xem dashboard.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645152" y="1481328"/>
            <a:ext cx="18288" cy="32461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773168" y="1481328"/>
            <a:ext cx="395935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64608" y="1481328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  NHƯỢC ĐIỂM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773168" y="1920240"/>
            <a:ext cx="64008" cy="6035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910328" y="192024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Chưa multi-host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910328" y="2176272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Hiện tại chỉ monitor được 1 máy. Không có centralized view.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773168" y="2615184"/>
            <a:ext cx="64008" cy="6035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910328" y="2615184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Chưa xử lý concept drift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910328" y="2871216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Nếu attack pattern thay đổi theo thời gian, model cần retrain thủ công.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773168" y="3310128"/>
            <a:ext cx="64008" cy="6035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910328" y="331012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Không DPI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4910328" y="3566160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Không phân tích nội dung packet — bỏ qua các tấn công application-layer tinh vi.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4773168" y="4005072"/>
            <a:ext cx="64008" cy="6035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910328" y="4005072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Lab data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4910328" y="4261104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Dataset là traffic lab, không phải production — có thể khác với môi trường thực tế.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  KẾT LUẬN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KẾT LUẬN ĐỒ ÁN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54480"/>
            <a:ext cx="83210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11480" y="1554480"/>
            <a:ext cx="658368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11480" y="1554480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800" dirty="0"/>
          </a:p>
        </p:txBody>
      </p:sp>
      <p:sp>
        <p:nvSpPr>
          <p:cNvPr id="16" name="Text 10"/>
          <p:cNvSpPr/>
          <p:nvPr/>
        </p:nvSpPr>
        <p:spPr>
          <a:xfrm>
            <a:off x="1152144" y="16002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Đã xây dựng IDS ML hoàn chỉnh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152144" y="19751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Hệ thống IDS anomaly-based đầy đủ: từ data pipeline đến real-time inference và operator console với &gt; 140 tests passing.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11480" y="2606040"/>
            <a:ext cx="83210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11480" y="2606040"/>
            <a:ext cx="658368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11480" y="2606040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1152144" y="26517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 là lựa chọn tốt nhất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52144" y="30266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FPR 0.31% thấp nhất, F1 99.46%, train nhanh và ổn định khi scale — vượt trội hoàn toàn so với LogReg và MLP.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11480" y="3657600"/>
            <a:ext cx="832104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11480" y="3657600"/>
            <a:ext cx="658368" cy="960120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11480" y="3657600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1152144" y="37033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6B3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Hệ thống có thể deploy thực tế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52144" y="40782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Không chỉ là nghiên cứu — hệ thống chạy được trên Linux, có web dashboard và Telegram alerts.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11480" y="4663440"/>
            <a:ext cx="832104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" y="46634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Đồ án đạt cả 3 mục tiêu ban đầu: Benchmark ML · Chọn model tối ưu · Deploy hệ thống thực tế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21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0292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  KẾT LUẬN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411480" y="877824"/>
            <a:ext cx="64008" cy="5120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66928" y="877824"/>
            <a:ext cx="8211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HƯỚNG PHÁT TRIỂN TIẾP THEO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411480" y="1426464"/>
            <a:ext cx="8321040" cy="1645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11480" y="1536192"/>
            <a:ext cx="42062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11480" y="1536192"/>
            <a:ext cx="420624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84632" y="1536192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🌐  Multi-host Deployment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02920" y="20116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Mở rộng sang nhiều máy với centralized dashboard. Tích hợp SIEM để quản lý tập trung.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73168" y="1536192"/>
            <a:ext cx="42062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773168" y="1536192"/>
            <a:ext cx="42062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846320" y="1536192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📊  Drift Detection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64608" y="20116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Tự động phát hiện khi distribution của traffic thay đổi và trigger retraining model.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11480" y="3108960"/>
            <a:ext cx="42062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11480" y="3108960"/>
            <a:ext cx="420624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84632" y="3108960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🤖  Deep Learning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" y="35844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Thử nghiệm LSTM/Transformer cho traffic sequence — có thể tốt hơn với temporal patterns.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773168" y="3108960"/>
            <a:ext cx="42062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73168" y="3108960"/>
            <a:ext cx="4206240" cy="420624"/>
          </a:xfrm>
          <a:prstGeom prst="rect">
            <a:avLst/>
          </a:prstGeom>
          <a:solidFill>
            <a:srgbClr val="1B6B32"/>
          </a:solidFill>
          <a:ln w="12700">
            <a:solidFill>
              <a:srgbClr val="1B6B3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846320" y="3108960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🔗  SIEM Integration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64608" y="35844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Kết nối với Splunk, ELK Stack hoặc Wazuh để dễ dàng tích hợp vào security operations.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Hướng phát triển gần nhất: Multi-host + Drift Detection — hai tính năng quan trọng nhất cho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3" name="Image 0" descr="C:/Users/hdi/Downloads/IDS_M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4" name="Image 1" descr="C:/Users/hdi/Downloads/IDS_M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5" name="Image 2" descr="C:/Users/hdi/Downloads/IDS_M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6" name="Image 3" descr="C:/Users/hdi/Downloads/IDS_ML_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22</a:t>
            </a:r>
            <a:endParaRPr lang="en-US" sz="1100" dirty="0"/>
          </a:p>
        </p:txBody>
      </p:sp>
      <p:sp>
        <p:nvSpPr>
          <p:cNvPr id="9" name="Shape 3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8229600" y="4901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0" y="534924"/>
            <a:ext cx="91440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4" descr="C:/Users/hdi/Downloads/IDS_ML_media/imag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" y="64008"/>
            <a:ext cx="1280160" cy="411480"/>
          </a:xfrm>
          <a:prstGeom prst="rect">
            <a:avLst/>
          </a:prstGeom>
        </p:spPr>
      </p:pic>
      <p:pic>
        <p:nvPicPr>
          <p:cNvPr id="13" name="Image 5" descr="C:/Users/hdi/Downloads/IDS_ML_media/imag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64008"/>
            <a:ext cx="420624" cy="402336"/>
          </a:xfrm>
          <a:prstGeom prst="rect">
            <a:avLst/>
          </a:prstGeom>
        </p:spPr>
      </p:pic>
      <p:pic>
        <p:nvPicPr>
          <p:cNvPr id="14" name="Image 6" descr="C:/Users/hdi/Downloads/IDS_ML_media/image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82296"/>
            <a:ext cx="731520" cy="301752"/>
          </a:xfrm>
          <a:prstGeom prst="rect">
            <a:avLst/>
          </a:prstGeom>
        </p:spPr>
      </p:pic>
      <p:pic>
        <p:nvPicPr>
          <p:cNvPr id="15" name="Image 7" descr="C:/Users/hdi/Downloads/IDS_ML_media/image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82296"/>
            <a:ext cx="804672" cy="347472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3474720" y="1783080"/>
            <a:ext cx="21945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7"/>
          <p:cNvSpPr/>
          <p:nvPr/>
        </p:nvSpPr>
        <p:spPr>
          <a:xfrm>
            <a:off x="457200" y="1901952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20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18" name="Shape 8"/>
          <p:cNvSpPr/>
          <p:nvPr/>
        </p:nvSpPr>
        <p:spPr>
          <a:xfrm>
            <a:off x="3474720" y="3063240"/>
            <a:ext cx="21945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9"/>
          <p:cNvSpPr/>
          <p:nvPr/>
        </p:nvSpPr>
        <p:spPr>
          <a:xfrm>
            <a:off x="457200" y="32186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CCC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CẢM ƠN THẦY/CÔ ĐÃ LẮNG NGHE</a:t>
            </a:r>
            <a:endParaRPr lang="en-US" sz="1600" dirty="0"/>
          </a:p>
        </p:txBody>
      </p:sp>
      <p:sp>
        <p:nvSpPr>
          <p:cNvPr id="20" name="Shape 10"/>
          <p:cNvSpPr/>
          <p:nvPr/>
        </p:nvSpPr>
        <p:spPr>
          <a:xfrm>
            <a:off x="1371600" y="3822192"/>
            <a:ext cx="6400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1371600" y="3822192"/>
            <a:ext cx="54864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1508760" y="382219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IDS ML · </a:t>
            </a:r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CatBoost · FPR 0.31% · F1 99.46% · Real-time dashboard · Telegram alerts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IDS Dựa Trên Machine Learning</dc:title>
  <dc:subject>Phân tích và đánh giá ATTT</dc:subject>
  <dc:creator>PptxGenJS</dc:creator>
  <cp:lastModifiedBy>PptxGenJS</cp:lastModifiedBy>
  <cp:revision>1</cp:revision>
  <dcterms:created xsi:type="dcterms:W3CDTF">2026-04-06T01:43:54Z</dcterms:created>
  <dcterms:modified xsi:type="dcterms:W3CDTF">2026-04-06T01:43:54Z</dcterms:modified>
</cp:coreProperties>
</file>