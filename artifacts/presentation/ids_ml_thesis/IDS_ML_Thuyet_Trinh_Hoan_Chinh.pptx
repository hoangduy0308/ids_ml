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DS_MASTER">
    <p:bg>
      <p:bgPr>
        <a:solidFill>
          <a:srgbClr val="FCF8F2"/>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75720" y="6446520"/>
            <a:ext cx="32004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7A7A76"/>
                </a:solidFill>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75720" y="6446520"/>
            <a:ext cx="32004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7A7A76"/>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CF8F2"/>
        </a:solidFill>
      </p:bgPr>
    </p:bg>
    <p:spTree>
      <p:nvGrpSpPr>
        <p:cNvPr id="1" name=""/>
        <p:cNvGrpSpPr/>
        <p:nvPr/>
      </p:nvGrpSpPr>
      <p:grpSpPr>
        <a:xfrm>
          <a:off x="0" y="0"/>
          <a:ext cx="0" cy="0"/>
          <a:chOff x="0" y="0"/>
          <a:chExt cx="0" cy="0"/>
        </a:xfrm>
      </p:grpSpPr>
      <p:sp>
        <p:nvSpPr>
          <p:cNvPr id="2" name="Shape 0"/>
          <p:cNvSpPr/>
          <p:nvPr/>
        </p:nvSpPr>
        <p:spPr>
          <a:xfrm>
            <a:off x="0" y="0"/>
            <a:ext cx="12191695" cy="219456"/>
          </a:xfrm>
          <a:prstGeom prst="rect">
            <a:avLst/>
          </a:prstGeom>
          <a:solidFill>
            <a:srgbClr val="0E1B2A"/>
          </a:solidFill>
          <a:ln w="12700">
            <a:solidFill>
              <a:srgbClr val="0E1B2A"/>
            </a:solidFill>
            <a:prstDash val="solid"/>
          </a:ln>
        </p:spPr>
      </p:sp>
      <p:sp>
        <p:nvSpPr>
          <p:cNvPr id="3" name="Shape 1"/>
          <p:cNvSpPr/>
          <p:nvPr/>
        </p:nvSpPr>
        <p:spPr>
          <a:xfrm>
            <a:off x="566928" y="713232"/>
            <a:ext cx="54864" cy="859536"/>
          </a:xfrm>
          <a:prstGeom prst="rect">
            <a:avLst/>
          </a:prstGeom>
          <a:solidFill>
            <a:srgbClr val="C96A2B"/>
          </a:solidFill>
          <a:ln w="12700">
            <a:solidFill>
              <a:srgbClr val="C96A2B"/>
            </a:solidFill>
            <a:prstDash val="solid"/>
          </a:ln>
        </p:spPr>
      </p:sp>
      <p:sp>
        <p:nvSpPr>
          <p:cNvPr id="4" name="Shape 2"/>
          <p:cNvSpPr/>
          <p:nvPr/>
        </p:nvSpPr>
        <p:spPr>
          <a:xfrm>
            <a:off x="9555480" y="822960"/>
            <a:ext cx="2011680" cy="36576"/>
          </a:xfrm>
          <a:prstGeom prst="rect">
            <a:avLst/>
          </a:prstGeom>
          <a:solidFill>
            <a:srgbClr val="C96A2B">
              <a:alpha val="72000"/>
            </a:srgbClr>
          </a:solidFill>
          <a:ln w="12700">
            <a:solidFill>
              <a:srgbClr val="C96A2B">
                <a:alpha val="72000"/>
              </a:srgbClr>
            </a:solidFill>
            <a:prstDash val="solid"/>
          </a:ln>
        </p:spPr>
      </p:sp>
      <p:sp>
        <p:nvSpPr>
          <p:cNvPr id="5" name="Shape 3"/>
          <p:cNvSpPr/>
          <p:nvPr/>
        </p:nvSpPr>
        <p:spPr>
          <a:xfrm>
            <a:off x="10469880" y="292608"/>
            <a:ext cx="1078992" cy="1078992"/>
          </a:xfrm>
          <a:prstGeom prst="ellipse">
            <a:avLst/>
          </a:prstGeom>
          <a:solidFill>
            <a:srgbClr val="C96A2B">
              <a:alpha val="0"/>
            </a:srgbClr>
          </a:solidFill>
          <a:ln w="12700">
            <a:solidFill>
              <a:srgbClr val="C96A2B">
                <a:alpha val="18000"/>
              </a:srgbClr>
            </a:solidFill>
            <a:prstDash val="solid"/>
          </a:ln>
        </p:spPr>
      </p:sp>
      <p:sp>
        <p:nvSpPr>
          <p:cNvPr id="6" name="Shape 4"/>
          <p:cNvSpPr/>
          <p:nvPr/>
        </p:nvSpPr>
        <p:spPr>
          <a:xfrm>
            <a:off x="73152" y="5257800"/>
            <a:ext cx="987552" cy="987552"/>
          </a:xfrm>
          <a:prstGeom prst="ellipse">
            <a:avLst/>
          </a:prstGeom>
          <a:solidFill>
            <a:srgbClr val="2B7A78">
              <a:alpha val="0"/>
            </a:srgbClr>
          </a:solidFill>
          <a:ln w="12700">
            <a:solidFill>
              <a:srgbClr val="2B7A78">
                <a:alpha val="14000"/>
              </a:srgbClr>
            </a:solidFill>
            <a:prstDash val="solid"/>
          </a:ln>
        </p:spPr>
      </p:sp>
      <p:sp>
        <p:nvSpPr>
          <p:cNvPr id="7" name="Shape 5"/>
          <p:cNvSpPr/>
          <p:nvPr/>
        </p:nvSpPr>
        <p:spPr>
          <a:xfrm>
            <a:off x="0" y="219456"/>
            <a:ext cx="7178040" cy="4956048"/>
          </a:xfrm>
          <a:prstGeom prst="rect">
            <a:avLst/>
          </a:prstGeom>
          <a:solidFill>
            <a:srgbClr val="132436"/>
          </a:solidFill>
          <a:ln w="12700">
            <a:solidFill>
              <a:srgbClr val="132436"/>
            </a:solidFill>
            <a:prstDash val="solid"/>
          </a:ln>
        </p:spPr>
      </p:sp>
      <p:sp>
        <p:nvSpPr>
          <p:cNvPr id="8" name="Shape 6"/>
          <p:cNvSpPr/>
          <p:nvPr/>
        </p:nvSpPr>
        <p:spPr>
          <a:xfrm>
            <a:off x="7178040" y="219456"/>
            <a:ext cx="5010912" cy="4956048"/>
          </a:xfrm>
          <a:prstGeom prst="rect">
            <a:avLst/>
          </a:prstGeom>
          <a:solidFill>
            <a:srgbClr val="F5F1EA"/>
          </a:solidFill>
          <a:ln w="12700">
            <a:solidFill>
              <a:srgbClr val="F5F1EA"/>
            </a:solidFill>
            <a:prstDash val="solid"/>
          </a:ln>
        </p:spPr>
      </p:sp>
      <p:sp>
        <p:nvSpPr>
          <p:cNvPr id="9" name="Shape 7"/>
          <p:cNvSpPr/>
          <p:nvPr/>
        </p:nvSpPr>
        <p:spPr>
          <a:xfrm>
            <a:off x="804672" y="1005840"/>
            <a:ext cx="82296" cy="2697480"/>
          </a:xfrm>
          <a:prstGeom prst="rect">
            <a:avLst/>
          </a:prstGeom>
          <a:solidFill>
            <a:srgbClr val="C96A2B"/>
          </a:solidFill>
          <a:ln w="12700">
            <a:solidFill>
              <a:srgbClr val="C96A2B"/>
            </a:solidFill>
            <a:prstDash val="solid"/>
          </a:ln>
        </p:spPr>
      </p:sp>
      <p:sp>
        <p:nvSpPr>
          <p:cNvPr id="10" name="Text 8"/>
          <p:cNvSpPr/>
          <p:nvPr/>
        </p:nvSpPr>
        <p:spPr>
          <a:xfrm>
            <a:off x="1078992" y="969264"/>
            <a:ext cx="2743200" cy="274320"/>
          </a:xfrm>
          <a:prstGeom prst="rect">
            <a:avLst/>
          </a:prstGeom>
          <a:noFill/>
          <a:ln/>
        </p:spPr>
        <p:txBody>
          <a:bodyPr wrap="square" rtlCol="0" anchor="ctr"/>
          <a:lstStyle/>
          <a:p>
            <a:pPr indent="0" marL="0">
              <a:buNone/>
            </a:pPr>
            <a:r>
              <a:rPr lang="en-US" sz="1200" b="1" dirty="0">
                <a:solidFill>
                  <a:srgbClr val="F3C9A8"/>
                </a:solidFill>
                <a:latin typeface="Bahnschrift" pitchFamily="34" charset="0"/>
                <a:ea typeface="Bahnschrift" pitchFamily="34" charset="-122"/>
                <a:cs typeface="Bahnschrift" pitchFamily="34" charset="-120"/>
              </a:rPr>
              <a:t>ĐỀ TÀI TỐT NGHIỆP</a:t>
            </a:r>
            <a:endParaRPr lang="en-US" sz="1200" dirty="0"/>
          </a:p>
        </p:txBody>
      </p:sp>
      <p:sp>
        <p:nvSpPr>
          <p:cNvPr id="11" name="Text 9"/>
          <p:cNvSpPr/>
          <p:nvPr/>
        </p:nvSpPr>
        <p:spPr>
          <a:xfrm>
            <a:off x="1078992" y="1335024"/>
            <a:ext cx="5440680" cy="1572768"/>
          </a:xfrm>
          <a:prstGeom prst="rect">
            <a:avLst/>
          </a:prstGeom>
          <a:noFill/>
          <a:ln/>
        </p:spPr>
        <p:txBody>
          <a:bodyPr wrap="square" rtlCol="0" anchor="ctr"/>
          <a:lstStyle/>
          <a:p>
            <a:pPr indent="0" marL="0">
              <a:buNone/>
            </a:pPr>
            <a:r>
              <a:rPr lang="en-US" sz="2800" b="1" dirty="0">
                <a:solidFill>
                  <a:srgbClr val="FFFFFF"/>
                </a:solidFill>
                <a:latin typeface="Bahnschrift" pitchFamily="34" charset="0"/>
                <a:ea typeface="Bahnschrift" pitchFamily="34" charset="-122"/>
                <a:cs typeface="Bahnschrift" pitchFamily="34" charset="-120"/>
              </a:rPr>
              <a:t>XÂY DỰNG HỆ THỐNG IDS</a:t>
            </a:r>
            <a:endParaRPr lang="en-US" sz="2800" dirty="0"/>
          </a:p>
          <a:p>
            <a:pPr indent="0" marL="0">
              <a:buNone/>
            </a:pPr>
            <a:r>
              <a:rPr lang="en-US" sz="2800" b="1" dirty="0">
                <a:solidFill>
                  <a:srgbClr val="FFFFFF"/>
                </a:solidFill>
                <a:latin typeface="Bahnschrift" pitchFamily="34" charset="0"/>
                <a:ea typeface="Bahnschrift" pitchFamily="34" charset="-122"/>
                <a:cs typeface="Bahnschrift" pitchFamily="34" charset="-120"/>
              </a:rPr>
              <a:t>DỰA TRÊN MACHINE LEARNING</a:t>
            </a:r>
            <a:endParaRPr lang="en-US" sz="2800" dirty="0"/>
          </a:p>
        </p:txBody>
      </p:sp>
      <p:sp>
        <p:nvSpPr>
          <p:cNvPr id="12" name="Text 10"/>
          <p:cNvSpPr/>
          <p:nvPr/>
        </p:nvSpPr>
        <p:spPr>
          <a:xfrm>
            <a:off x="1078992" y="3127248"/>
            <a:ext cx="5074920" cy="914400"/>
          </a:xfrm>
          <a:prstGeom prst="rect">
            <a:avLst/>
          </a:prstGeom>
          <a:noFill/>
          <a:ln/>
        </p:spPr>
        <p:txBody>
          <a:bodyPr wrap="square" rtlCol="0" anchor="ctr"/>
          <a:lstStyle/>
          <a:p>
            <a:pPr indent="0" marL="0">
              <a:buNone/>
            </a:pPr>
            <a:r>
              <a:rPr lang="en-US" sz="1240" dirty="0">
                <a:solidFill>
                  <a:srgbClr val="D7E2EC"/>
                </a:solidFill>
                <a:latin typeface="Aptos" pitchFamily="34" charset="0"/>
                <a:ea typeface="Aptos" pitchFamily="34" charset="-122"/>
                <a:cs typeface="Aptos" pitchFamily="34" charset="-120"/>
              </a:rPr>
              <a:t>Bài thuyết trình này đi từ bài toán IDS, cách chuẩn hóa dữ liệu và protocol thực nghiệm, đến quyết định chọn CatBoost full-data và phần kiến trúc vận hành realtime trên host thật.</a:t>
            </a:r>
            <a:endParaRPr lang="en-US" sz="1240" dirty="0"/>
          </a:p>
        </p:txBody>
      </p:sp>
      <p:sp>
        <p:nvSpPr>
          <p:cNvPr id="13" name="Text 11"/>
          <p:cNvSpPr/>
          <p:nvPr/>
        </p:nvSpPr>
        <p:spPr>
          <a:xfrm>
            <a:off x="7726680" y="932688"/>
            <a:ext cx="2743200" cy="256032"/>
          </a:xfrm>
          <a:prstGeom prst="rect">
            <a:avLst/>
          </a:prstGeom>
          <a:noFill/>
          <a:ln/>
        </p:spPr>
        <p:txBody>
          <a:bodyPr wrap="square" rtlCol="0" anchor="ctr"/>
          <a:lstStyle/>
          <a:p>
            <a:pPr indent="0" marL="0">
              <a:buNone/>
            </a:pPr>
            <a:r>
              <a:rPr lang="en-US" sz="1800" b="1" dirty="0">
                <a:solidFill>
                  <a:srgbClr val="0E1B2A"/>
                </a:solidFill>
                <a:latin typeface="Bahnschrift" pitchFamily="34" charset="0"/>
                <a:ea typeface="Bahnschrift" pitchFamily="34" charset="-122"/>
                <a:cs typeface="Bahnschrift" pitchFamily="34" charset="-120"/>
              </a:rPr>
              <a:t>Trục nội dung</a:t>
            </a:r>
            <a:endParaRPr lang="en-US" sz="1800" dirty="0"/>
          </a:p>
        </p:txBody>
      </p:sp>
      <p:sp>
        <p:nvSpPr>
          <p:cNvPr id="14" name="Text 12"/>
          <p:cNvSpPr/>
          <p:nvPr/>
        </p:nvSpPr>
        <p:spPr>
          <a:xfrm>
            <a:off x="7726680" y="1417320"/>
            <a:ext cx="548640" cy="329184"/>
          </a:xfrm>
          <a:prstGeom prst="rect">
            <a:avLst/>
          </a:prstGeom>
          <a:noFill/>
          <a:ln/>
        </p:spPr>
        <p:txBody>
          <a:bodyPr wrap="square" rtlCol="0" anchor="ctr"/>
          <a:lstStyle/>
          <a:p>
            <a:pPr indent="0" marL="0">
              <a:buNone/>
            </a:pPr>
            <a:r>
              <a:rPr lang="en-US" sz="2200" b="1" dirty="0">
                <a:solidFill>
                  <a:srgbClr val="C96A2B"/>
                </a:solidFill>
                <a:latin typeface="Bahnschrift" pitchFamily="34" charset="0"/>
                <a:ea typeface="Bahnschrift" pitchFamily="34" charset="-122"/>
                <a:cs typeface="Bahnschrift" pitchFamily="34" charset="-120"/>
              </a:rPr>
              <a:t>01</a:t>
            </a:r>
            <a:endParaRPr lang="en-US" sz="2200" dirty="0"/>
          </a:p>
        </p:txBody>
      </p:sp>
      <p:sp>
        <p:nvSpPr>
          <p:cNvPr id="15" name="Text 13"/>
          <p:cNvSpPr/>
          <p:nvPr/>
        </p:nvSpPr>
        <p:spPr>
          <a:xfrm>
            <a:off x="8339328" y="1444752"/>
            <a:ext cx="3182112" cy="256032"/>
          </a:xfrm>
          <a:prstGeom prst="rect">
            <a:avLst/>
          </a:prstGeom>
          <a:noFill/>
          <a:ln/>
        </p:spPr>
        <p:txBody>
          <a:bodyPr wrap="square" rtlCol="0" anchor="ctr"/>
          <a:lstStyle/>
          <a:p>
            <a:pPr indent="0" marL="0">
              <a:buNone/>
            </a:pPr>
            <a:r>
              <a:rPr lang="en-US" sz="1240" dirty="0">
                <a:solidFill>
                  <a:srgbClr val="41576D"/>
                </a:solidFill>
                <a:latin typeface="Aptos" pitchFamily="34" charset="0"/>
                <a:ea typeface="Aptos" pitchFamily="34" charset="-122"/>
                <a:cs typeface="Aptos" pitchFamily="34" charset="-120"/>
              </a:rPr>
              <a:t>Bài toán và mục tiêu hệ thống IDS</a:t>
            </a:r>
            <a:endParaRPr lang="en-US" sz="1240" dirty="0"/>
          </a:p>
        </p:txBody>
      </p:sp>
      <p:sp>
        <p:nvSpPr>
          <p:cNvPr id="16" name="Text 14"/>
          <p:cNvSpPr/>
          <p:nvPr/>
        </p:nvSpPr>
        <p:spPr>
          <a:xfrm>
            <a:off x="7726680" y="1965960"/>
            <a:ext cx="548640" cy="329184"/>
          </a:xfrm>
          <a:prstGeom prst="rect">
            <a:avLst/>
          </a:prstGeom>
          <a:noFill/>
          <a:ln/>
        </p:spPr>
        <p:txBody>
          <a:bodyPr wrap="square" rtlCol="0" anchor="ctr"/>
          <a:lstStyle/>
          <a:p>
            <a:pPr indent="0" marL="0">
              <a:buNone/>
            </a:pPr>
            <a:r>
              <a:rPr lang="en-US" sz="2200" b="1" dirty="0">
                <a:solidFill>
                  <a:srgbClr val="C96A2B"/>
                </a:solidFill>
                <a:latin typeface="Bahnschrift" pitchFamily="34" charset="0"/>
                <a:ea typeface="Bahnschrift" pitchFamily="34" charset="-122"/>
                <a:cs typeface="Bahnschrift" pitchFamily="34" charset="-120"/>
              </a:rPr>
              <a:t>02</a:t>
            </a:r>
            <a:endParaRPr lang="en-US" sz="2200" dirty="0"/>
          </a:p>
        </p:txBody>
      </p:sp>
      <p:sp>
        <p:nvSpPr>
          <p:cNvPr id="17" name="Text 15"/>
          <p:cNvSpPr/>
          <p:nvPr/>
        </p:nvSpPr>
        <p:spPr>
          <a:xfrm>
            <a:off x="8339328" y="1993392"/>
            <a:ext cx="3182112" cy="256032"/>
          </a:xfrm>
          <a:prstGeom prst="rect">
            <a:avLst/>
          </a:prstGeom>
          <a:noFill/>
          <a:ln/>
        </p:spPr>
        <p:txBody>
          <a:bodyPr wrap="square" rtlCol="0" anchor="ctr"/>
          <a:lstStyle/>
          <a:p>
            <a:pPr indent="0" marL="0">
              <a:buNone/>
            </a:pPr>
            <a:r>
              <a:rPr lang="en-US" sz="1240" dirty="0">
                <a:solidFill>
                  <a:srgbClr val="41576D"/>
                </a:solidFill>
                <a:latin typeface="Aptos" pitchFamily="34" charset="0"/>
                <a:ea typeface="Aptos" pitchFamily="34" charset="-122"/>
                <a:cs typeface="Aptos" pitchFamily="34" charset="-120"/>
              </a:rPr>
              <a:t>Dữ liệu, tiền xử lý và protocol thực nghiệm</a:t>
            </a:r>
            <a:endParaRPr lang="en-US" sz="1240" dirty="0"/>
          </a:p>
        </p:txBody>
      </p:sp>
      <p:sp>
        <p:nvSpPr>
          <p:cNvPr id="18" name="Text 16"/>
          <p:cNvSpPr/>
          <p:nvPr/>
        </p:nvSpPr>
        <p:spPr>
          <a:xfrm>
            <a:off x="7726680" y="2514600"/>
            <a:ext cx="548640" cy="329184"/>
          </a:xfrm>
          <a:prstGeom prst="rect">
            <a:avLst/>
          </a:prstGeom>
          <a:noFill/>
          <a:ln/>
        </p:spPr>
        <p:txBody>
          <a:bodyPr wrap="square" rtlCol="0" anchor="ctr"/>
          <a:lstStyle/>
          <a:p>
            <a:pPr indent="0" marL="0">
              <a:buNone/>
            </a:pPr>
            <a:r>
              <a:rPr lang="en-US" sz="2200" b="1" dirty="0">
                <a:solidFill>
                  <a:srgbClr val="C96A2B"/>
                </a:solidFill>
                <a:latin typeface="Bahnschrift" pitchFamily="34" charset="0"/>
                <a:ea typeface="Bahnschrift" pitchFamily="34" charset="-122"/>
                <a:cs typeface="Bahnschrift" pitchFamily="34" charset="-120"/>
              </a:rPr>
              <a:t>03</a:t>
            </a:r>
            <a:endParaRPr lang="en-US" sz="2200" dirty="0"/>
          </a:p>
        </p:txBody>
      </p:sp>
      <p:sp>
        <p:nvSpPr>
          <p:cNvPr id="19" name="Text 17"/>
          <p:cNvSpPr/>
          <p:nvPr/>
        </p:nvSpPr>
        <p:spPr>
          <a:xfrm>
            <a:off x="8339328" y="2542032"/>
            <a:ext cx="3182112" cy="256032"/>
          </a:xfrm>
          <a:prstGeom prst="rect">
            <a:avLst/>
          </a:prstGeom>
          <a:noFill/>
          <a:ln/>
        </p:spPr>
        <p:txBody>
          <a:bodyPr wrap="square" rtlCol="0" anchor="ctr"/>
          <a:lstStyle/>
          <a:p>
            <a:pPr indent="0" marL="0">
              <a:buNone/>
            </a:pPr>
            <a:r>
              <a:rPr lang="en-US" sz="1240" dirty="0">
                <a:solidFill>
                  <a:srgbClr val="41576D"/>
                </a:solidFill>
                <a:latin typeface="Aptos" pitchFamily="34" charset="0"/>
                <a:ea typeface="Aptos" pitchFamily="34" charset="-122"/>
                <a:cs typeface="Aptos" pitchFamily="34" charset="-120"/>
              </a:rPr>
              <a:t>Kết quả chọn model, threshold và model bundle</a:t>
            </a:r>
            <a:endParaRPr lang="en-US" sz="1240" dirty="0"/>
          </a:p>
        </p:txBody>
      </p:sp>
      <p:sp>
        <p:nvSpPr>
          <p:cNvPr id="20" name="Text 18"/>
          <p:cNvSpPr/>
          <p:nvPr/>
        </p:nvSpPr>
        <p:spPr>
          <a:xfrm>
            <a:off x="7726680" y="3063240"/>
            <a:ext cx="548640" cy="329184"/>
          </a:xfrm>
          <a:prstGeom prst="rect">
            <a:avLst/>
          </a:prstGeom>
          <a:noFill/>
          <a:ln/>
        </p:spPr>
        <p:txBody>
          <a:bodyPr wrap="square" rtlCol="0" anchor="ctr"/>
          <a:lstStyle/>
          <a:p>
            <a:pPr indent="0" marL="0">
              <a:buNone/>
            </a:pPr>
            <a:r>
              <a:rPr lang="en-US" sz="2200" b="1" dirty="0">
                <a:solidFill>
                  <a:srgbClr val="C96A2B"/>
                </a:solidFill>
                <a:latin typeface="Bahnschrift" pitchFamily="34" charset="0"/>
                <a:ea typeface="Bahnschrift" pitchFamily="34" charset="-122"/>
                <a:cs typeface="Bahnschrift" pitchFamily="34" charset="-120"/>
              </a:rPr>
              <a:t>04</a:t>
            </a:r>
            <a:endParaRPr lang="en-US" sz="2200" dirty="0"/>
          </a:p>
        </p:txBody>
      </p:sp>
      <p:sp>
        <p:nvSpPr>
          <p:cNvPr id="21" name="Text 19"/>
          <p:cNvSpPr/>
          <p:nvPr/>
        </p:nvSpPr>
        <p:spPr>
          <a:xfrm>
            <a:off x="8339328" y="3090672"/>
            <a:ext cx="3182112" cy="292608"/>
          </a:xfrm>
          <a:prstGeom prst="rect">
            <a:avLst/>
          </a:prstGeom>
          <a:noFill/>
          <a:ln/>
        </p:spPr>
        <p:txBody>
          <a:bodyPr wrap="square" rtlCol="0" anchor="ctr"/>
          <a:lstStyle/>
          <a:p>
            <a:pPr indent="0" marL="0">
              <a:buNone/>
            </a:pPr>
            <a:r>
              <a:rPr lang="en-US" sz="1240" dirty="0">
                <a:solidFill>
                  <a:srgbClr val="41576D"/>
                </a:solidFill>
                <a:latin typeface="Aptos" pitchFamily="34" charset="0"/>
                <a:ea typeface="Aptos" pitchFamily="34" charset="-122"/>
                <a:cs typeface="Aptos" pitchFamily="34" charset="-120"/>
              </a:rPr>
              <a:t>Runtime IDS, live sensor và vận hành same-host</a:t>
            </a:r>
            <a:endParaRPr lang="en-US" sz="1240" dirty="0"/>
          </a:p>
        </p:txBody>
      </p:sp>
      <p:sp>
        <p:nvSpPr>
          <p:cNvPr id="22" name="Shape 20"/>
          <p:cNvSpPr/>
          <p:nvPr/>
        </p:nvSpPr>
        <p:spPr>
          <a:xfrm>
            <a:off x="7726680" y="3977640"/>
            <a:ext cx="1554480" cy="932688"/>
          </a:xfrm>
          <a:prstGeom prst="rect">
            <a:avLst/>
          </a:prstGeom>
          <a:solidFill>
            <a:srgbClr val="F6E7DA"/>
          </a:solidFill>
          <a:ln w="12700">
            <a:solidFill>
              <a:srgbClr val="F6E7DA"/>
            </a:solidFill>
            <a:prstDash val="solid"/>
          </a:ln>
        </p:spPr>
      </p:sp>
      <p:sp>
        <p:nvSpPr>
          <p:cNvPr id="23" name="Shape 21"/>
          <p:cNvSpPr/>
          <p:nvPr/>
        </p:nvSpPr>
        <p:spPr>
          <a:xfrm>
            <a:off x="7726680" y="3977640"/>
            <a:ext cx="1554480" cy="36576"/>
          </a:xfrm>
          <a:prstGeom prst="rect">
            <a:avLst/>
          </a:prstGeom>
          <a:solidFill>
            <a:srgbClr val="C96A2B"/>
          </a:solidFill>
          <a:ln w="12700">
            <a:solidFill>
              <a:srgbClr val="C96A2B"/>
            </a:solidFill>
            <a:prstDash val="solid"/>
          </a:ln>
        </p:spPr>
      </p:sp>
      <p:sp>
        <p:nvSpPr>
          <p:cNvPr id="24" name="Text 22"/>
          <p:cNvSpPr/>
          <p:nvPr/>
        </p:nvSpPr>
        <p:spPr>
          <a:xfrm>
            <a:off x="7872984" y="4087368"/>
            <a:ext cx="1261872" cy="182880"/>
          </a:xfrm>
          <a:prstGeom prst="rect">
            <a:avLst/>
          </a:prstGeom>
          <a:noFill/>
          <a:ln/>
        </p:spPr>
        <p:txBody>
          <a:bodyPr wrap="square" rtlCol="0" anchor="ctr"/>
          <a:lstStyle/>
          <a:p>
            <a:pPr indent="0" marL="0">
              <a:buNone/>
            </a:pPr>
            <a:r>
              <a:rPr lang="en-US" sz="1030" b="1" dirty="0">
                <a:solidFill>
                  <a:srgbClr val="7A7A76"/>
                </a:solidFill>
                <a:latin typeface="Aptos" pitchFamily="34" charset="0"/>
                <a:ea typeface="Aptos" pitchFamily="34" charset="-122"/>
                <a:cs typeface="Aptos" pitchFamily="34" charset="-120"/>
              </a:rPr>
              <a:t>Feature</a:t>
            </a:r>
            <a:endParaRPr lang="en-US" sz="1030" dirty="0"/>
          </a:p>
        </p:txBody>
      </p:sp>
      <p:sp>
        <p:nvSpPr>
          <p:cNvPr id="25" name="Text 23"/>
          <p:cNvSpPr/>
          <p:nvPr/>
        </p:nvSpPr>
        <p:spPr>
          <a:xfrm>
            <a:off x="7872984" y="4288536"/>
            <a:ext cx="1261872" cy="384048"/>
          </a:xfrm>
          <a:prstGeom prst="rect">
            <a:avLst/>
          </a:prstGeom>
          <a:noFill/>
          <a:ln/>
        </p:spPr>
        <p:txBody>
          <a:bodyPr wrap="square" rtlCol="0" anchor="ctr"/>
          <a:lstStyle/>
          <a:p>
            <a:pPr indent="0" marL="0">
              <a:buNone/>
            </a:pPr>
            <a:r>
              <a:rPr lang="en-US" sz="2200" b="1" dirty="0">
                <a:solidFill>
                  <a:srgbClr val="C96A2B"/>
                </a:solidFill>
                <a:latin typeface="Bahnschrift" pitchFamily="34" charset="0"/>
                <a:ea typeface="Bahnschrift" pitchFamily="34" charset="-122"/>
                <a:cs typeface="Bahnschrift" pitchFamily="34" charset="-120"/>
              </a:rPr>
              <a:t>72</a:t>
            </a:r>
            <a:endParaRPr lang="en-US" sz="2200" dirty="0"/>
          </a:p>
        </p:txBody>
      </p:sp>
      <p:sp>
        <p:nvSpPr>
          <p:cNvPr id="26" name="Text 24"/>
          <p:cNvSpPr/>
          <p:nvPr/>
        </p:nvSpPr>
        <p:spPr>
          <a:xfrm>
            <a:off x="7872984" y="4736592"/>
            <a:ext cx="1261872" cy="91440"/>
          </a:xfrm>
          <a:prstGeom prst="rect">
            <a:avLst/>
          </a:prstGeom>
          <a:noFill/>
          <a:ln/>
        </p:spPr>
        <p:txBody>
          <a:bodyPr wrap="square" rtlCol="0" anchor="ctr"/>
          <a:lstStyle/>
          <a:p>
            <a:pPr indent="0" marL="0">
              <a:buNone/>
            </a:pPr>
            <a:r>
              <a:rPr lang="en-US" sz="950" dirty="0">
                <a:solidFill>
                  <a:srgbClr val="41576D"/>
                </a:solidFill>
                <a:latin typeface="Aptos" pitchFamily="34" charset="0"/>
                <a:ea typeface="Aptos" pitchFamily="34" charset="-122"/>
                <a:cs typeface="Aptos" pitchFamily="34" charset="-120"/>
              </a:rPr>
              <a:t>Schema canonical</a:t>
            </a:r>
            <a:endParaRPr lang="en-US" sz="950" dirty="0"/>
          </a:p>
        </p:txBody>
      </p:sp>
      <p:sp>
        <p:nvSpPr>
          <p:cNvPr id="27" name="Shape 25"/>
          <p:cNvSpPr/>
          <p:nvPr/>
        </p:nvSpPr>
        <p:spPr>
          <a:xfrm>
            <a:off x="9464040" y="3977640"/>
            <a:ext cx="1691640" cy="932688"/>
          </a:xfrm>
          <a:prstGeom prst="rect">
            <a:avLst/>
          </a:prstGeom>
          <a:solidFill>
            <a:srgbClr val="E2F3F1"/>
          </a:solidFill>
          <a:ln w="12700">
            <a:solidFill>
              <a:srgbClr val="E2F3F1"/>
            </a:solidFill>
            <a:prstDash val="solid"/>
          </a:ln>
        </p:spPr>
      </p:sp>
      <p:sp>
        <p:nvSpPr>
          <p:cNvPr id="28" name="Shape 26"/>
          <p:cNvSpPr/>
          <p:nvPr/>
        </p:nvSpPr>
        <p:spPr>
          <a:xfrm>
            <a:off x="9464040" y="3977640"/>
            <a:ext cx="1691640" cy="36576"/>
          </a:xfrm>
          <a:prstGeom prst="rect">
            <a:avLst/>
          </a:prstGeom>
          <a:solidFill>
            <a:srgbClr val="2B7A78"/>
          </a:solidFill>
          <a:ln w="12700">
            <a:solidFill>
              <a:srgbClr val="2B7A78"/>
            </a:solidFill>
            <a:prstDash val="solid"/>
          </a:ln>
        </p:spPr>
      </p:sp>
      <p:sp>
        <p:nvSpPr>
          <p:cNvPr id="29" name="Text 27"/>
          <p:cNvSpPr/>
          <p:nvPr/>
        </p:nvSpPr>
        <p:spPr>
          <a:xfrm>
            <a:off x="9610344" y="4087368"/>
            <a:ext cx="1399032" cy="182880"/>
          </a:xfrm>
          <a:prstGeom prst="rect">
            <a:avLst/>
          </a:prstGeom>
          <a:noFill/>
          <a:ln/>
        </p:spPr>
        <p:txBody>
          <a:bodyPr wrap="square" rtlCol="0" anchor="ctr"/>
          <a:lstStyle/>
          <a:p>
            <a:pPr indent="0" marL="0">
              <a:buNone/>
            </a:pPr>
            <a:r>
              <a:rPr lang="en-US" sz="1030" b="1" dirty="0">
                <a:solidFill>
                  <a:srgbClr val="7A7A76"/>
                </a:solidFill>
                <a:latin typeface="Aptos" pitchFamily="34" charset="0"/>
                <a:ea typeface="Aptos" pitchFamily="34" charset="-122"/>
                <a:cs typeface="Aptos" pitchFamily="34" charset="-120"/>
              </a:rPr>
              <a:t>Model chốt</a:t>
            </a:r>
            <a:endParaRPr lang="en-US" sz="1030" dirty="0"/>
          </a:p>
        </p:txBody>
      </p:sp>
      <p:sp>
        <p:nvSpPr>
          <p:cNvPr id="30" name="Text 28"/>
          <p:cNvSpPr/>
          <p:nvPr/>
        </p:nvSpPr>
        <p:spPr>
          <a:xfrm>
            <a:off x="9610344" y="4288536"/>
            <a:ext cx="1399032" cy="384048"/>
          </a:xfrm>
          <a:prstGeom prst="rect">
            <a:avLst/>
          </a:prstGeom>
          <a:noFill/>
          <a:ln/>
        </p:spPr>
        <p:txBody>
          <a:bodyPr wrap="square" rtlCol="0" anchor="ctr"/>
          <a:lstStyle/>
          <a:p>
            <a:pPr indent="0" marL="0">
              <a:buNone/>
            </a:pPr>
            <a:r>
              <a:rPr lang="en-US" sz="2200" b="1" dirty="0">
                <a:solidFill>
                  <a:srgbClr val="2B7A78"/>
                </a:solidFill>
                <a:latin typeface="Bahnschrift" pitchFamily="34" charset="0"/>
                <a:ea typeface="Bahnschrift" pitchFamily="34" charset="-122"/>
                <a:cs typeface="Bahnschrift" pitchFamily="34" charset="-120"/>
              </a:rPr>
              <a:t>CatBoost</a:t>
            </a:r>
            <a:endParaRPr lang="en-US" sz="2200" dirty="0"/>
          </a:p>
        </p:txBody>
      </p:sp>
      <p:sp>
        <p:nvSpPr>
          <p:cNvPr id="31" name="Text 29"/>
          <p:cNvSpPr/>
          <p:nvPr/>
        </p:nvSpPr>
        <p:spPr>
          <a:xfrm>
            <a:off x="9610344" y="4736592"/>
            <a:ext cx="1399032" cy="91440"/>
          </a:xfrm>
          <a:prstGeom prst="rect">
            <a:avLst/>
          </a:prstGeom>
          <a:noFill/>
          <a:ln/>
        </p:spPr>
        <p:txBody>
          <a:bodyPr wrap="square" rtlCol="0" anchor="ctr"/>
          <a:lstStyle/>
          <a:p>
            <a:pPr indent="0" marL="0">
              <a:buNone/>
            </a:pPr>
            <a:r>
              <a:rPr lang="en-US" sz="950" dirty="0">
                <a:solidFill>
                  <a:srgbClr val="41576D"/>
                </a:solidFill>
                <a:latin typeface="Aptos" pitchFamily="34" charset="0"/>
                <a:ea typeface="Aptos" pitchFamily="34" charset="-122"/>
                <a:cs typeface="Aptos" pitchFamily="34" charset="-120"/>
              </a:rPr>
              <a:t>Threshold 0.5</a:t>
            </a:r>
            <a:endParaRPr lang="en-US" sz="950" dirty="0"/>
          </a:p>
        </p:txBody>
      </p:sp>
      <p:sp>
        <p:nvSpPr>
          <p:cNvPr id="32" name="Text 30"/>
          <p:cNvSpPr/>
          <p:nvPr/>
        </p:nvSpPr>
        <p:spPr>
          <a:xfrm>
            <a:off x="1078992" y="4370832"/>
            <a:ext cx="1828800" cy="219456"/>
          </a:xfrm>
          <a:prstGeom prst="rect">
            <a:avLst/>
          </a:prstGeom>
          <a:noFill/>
          <a:ln/>
        </p:spPr>
        <p:txBody>
          <a:bodyPr wrap="square" rtlCol="0" anchor="ctr"/>
          <a:lstStyle/>
          <a:p>
            <a:pPr indent="0" marL="0">
              <a:buNone/>
            </a:pPr>
            <a:r>
              <a:rPr lang="en-US" sz="1150" b="1" dirty="0">
                <a:solidFill>
                  <a:srgbClr val="F3C9A8"/>
                </a:solidFill>
                <a:latin typeface="Bahnschrift" pitchFamily="34" charset="0"/>
                <a:ea typeface="Bahnschrift" pitchFamily="34" charset="-122"/>
                <a:cs typeface="Bahnschrift" pitchFamily="34" charset="-120"/>
              </a:rPr>
              <a:t>Điểm nổi bật</a:t>
            </a:r>
            <a:endParaRPr lang="en-US" sz="1150" dirty="0"/>
          </a:p>
        </p:txBody>
      </p:sp>
      <p:sp>
        <p:nvSpPr>
          <p:cNvPr id="33" name="Text 31"/>
          <p:cNvSpPr/>
          <p:nvPr/>
        </p:nvSpPr>
        <p:spPr>
          <a:xfrm>
            <a:off x="1078992" y="4645152"/>
            <a:ext cx="5394960" cy="502920"/>
          </a:xfrm>
          <a:prstGeom prst="rect">
            <a:avLst/>
          </a:prstGeom>
          <a:noFill/>
          <a:ln/>
        </p:spPr>
        <p:txBody>
          <a:bodyPr wrap="square" rtlCol="0" anchor="ctr"/>
          <a:lstStyle/>
          <a:p>
            <a:pPr indent="0" marL="0">
              <a:buNone/>
            </a:pPr>
            <a:r>
              <a:rPr lang="en-US" sz="1120" dirty="0">
                <a:solidFill>
                  <a:srgbClr val="FFFFFF"/>
                </a:solidFill>
                <a:latin typeface="Aptos" pitchFamily="34" charset="0"/>
                <a:ea typeface="Aptos" pitchFamily="34" charset="-122"/>
                <a:cs typeface="Aptos" pitchFamily="34" charset="-120"/>
              </a:rPr>
              <a:t>Project không dừng ở mô hình offline mà đã đi tới bundle versioned, pipeline realtime, cảm biến host-based và lớp vận hành có thể demo.</a:t>
            </a:r>
            <a:endParaRPr lang="en-US" sz="1120" dirty="0"/>
          </a:p>
        </p:txBody>
      </p:sp>
      <p:sp>
        <p:nvSpPr>
          <p:cNvPr id="34" name="Text 32"/>
          <p:cNvSpPr/>
          <p:nvPr/>
        </p:nvSpPr>
        <p:spPr>
          <a:xfrm>
            <a:off x="548640" y="6473952"/>
            <a:ext cx="9509760" cy="164592"/>
          </a:xfrm>
          <a:prstGeom prst="rect">
            <a:avLst/>
          </a:prstGeom>
          <a:noFill/>
          <a:ln/>
        </p:spPr>
        <p:txBody>
          <a:bodyPr wrap="square" rtlCol="0" anchor="ctr"/>
          <a:lstStyle/>
          <a:p>
            <a:pPr indent="0" marL="0">
              <a:buNone/>
            </a:pPr>
            <a:r>
              <a:rPr lang="en-US" sz="900" dirty="0">
                <a:solidFill>
                  <a:srgbClr val="7A7A76"/>
                </a:solidFill>
                <a:latin typeface="Aptos" pitchFamily="34" charset="0"/>
                <a:ea typeface="Aptos" pitchFamily="34" charset="-122"/>
                <a:cs typeface="Aptos" pitchFamily="34" charset="-120"/>
              </a:rPr>
              <a:t>Đề tài tập trung vào một hệ thống IDS dựa trên ML theo hướng có thể triển khai, chứ không chỉ dừng ở mô hình offline.</a:t>
            </a:r>
            <a:endParaRPr lang="en-US" sz="900" dirty="0"/>
          </a:p>
        </p:txBody>
      </p:sp>
      <p:sp>
        <p:nvSpPr>
          <p:cNvPr id="25" name="Slide Number Placeholder 0"/>
          <p:cNvSpPr>
            <a:spLocks noGrp="1"/>
          </p:cNvSpPr>
          <p:nvPr>
            <p:ph type="sldNum" sz="quarter" idx="4294967295"/>
          </p:nvPr>
        </p:nvSpPr>
        <p:spPr>
          <a:xfrm>
            <a:off x="11475720" y="6446520"/>
            <a:ext cx="32004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7A7A76"/>
                </a:solidFill>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CF8F2"/>
        </a:solidFill>
      </p:bgPr>
    </p:bg>
    <p:spTree>
      <p:nvGrpSpPr>
        <p:cNvPr id="1" name=""/>
        <p:cNvGrpSpPr/>
        <p:nvPr/>
      </p:nvGrpSpPr>
      <p:grpSpPr>
        <a:xfrm>
          <a:off x="0" y="0"/>
          <a:ext cx="0" cy="0"/>
          <a:chOff x="0" y="0"/>
          <a:chExt cx="0" cy="0"/>
        </a:xfrm>
      </p:grpSpPr>
      <p:sp>
        <p:nvSpPr>
          <p:cNvPr id="2" name="Shape 0"/>
          <p:cNvSpPr/>
          <p:nvPr/>
        </p:nvSpPr>
        <p:spPr>
          <a:xfrm>
            <a:off x="0" y="0"/>
            <a:ext cx="12191695" cy="219456"/>
          </a:xfrm>
          <a:prstGeom prst="rect">
            <a:avLst/>
          </a:prstGeom>
          <a:solidFill>
            <a:srgbClr val="0E1B2A"/>
          </a:solidFill>
          <a:ln w="12700">
            <a:solidFill>
              <a:srgbClr val="0E1B2A"/>
            </a:solidFill>
            <a:prstDash val="solid"/>
          </a:ln>
        </p:spPr>
      </p:sp>
      <p:sp>
        <p:nvSpPr>
          <p:cNvPr id="3" name="Shape 1"/>
          <p:cNvSpPr/>
          <p:nvPr/>
        </p:nvSpPr>
        <p:spPr>
          <a:xfrm>
            <a:off x="566928" y="713232"/>
            <a:ext cx="54864" cy="859536"/>
          </a:xfrm>
          <a:prstGeom prst="rect">
            <a:avLst/>
          </a:prstGeom>
          <a:solidFill>
            <a:srgbClr val="C96A2B"/>
          </a:solidFill>
          <a:ln w="12700">
            <a:solidFill>
              <a:srgbClr val="C96A2B"/>
            </a:solidFill>
            <a:prstDash val="solid"/>
          </a:ln>
        </p:spPr>
      </p:sp>
      <p:sp>
        <p:nvSpPr>
          <p:cNvPr id="4" name="Shape 2"/>
          <p:cNvSpPr/>
          <p:nvPr/>
        </p:nvSpPr>
        <p:spPr>
          <a:xfrm>
            <a:off x="9555480" y="822960"/>
            <a:ext cx="2011680" cy="36576"/>
          </a:xfrm>
          <a:prstGeom prst="rect">
            <a:avLst/>
          </a:prstGeom>
          <a:solidFill>
            <a:srgbClr val="C96A2B">
              <a:alpha val="72000"/>
            </a:srgbClr>
          </a:solidFill>
          <a:ln w="12700">
            <a:solidFill>
              <a:srgbClr val="C96A2B">
                <a:alpha val="72000"/>
              </a:srgbClr>
            </a:solidFill>
            <a:prstDash val="solid"/>
          </a:ln>
        </p:spPr>
      </p:sp>
      <p:sp>
        <p:nvSpPr>
          <p:cNvPr id="5" name="Shape 3"/>
          <p:cNvSpPr/>
          <p:nvPr/>
        </p:nvSpPr>
        <p:spPr>
          <a:xfrm>
            <a:off x="10469880" y="292608"/>
            <a:ext cx="1078992" cy="1078992"/>
          </a:xfrm>
          <a:prstGeom prst="ellipse">
            <a:avLst/>
          </a:prstGeom>
          <a:solidFill>
            <a:srgbClr val="C96A2B">
              <a:alpha val="0"/>
            </a:srgbClr>
          </a:solidFill>
          <a:ln w="12700">
            <a:solidFill>
              <a:srgbClr val="C96A2B">
                <a:alpha val="18000"/>
              </a:srgbClr>
            </a:solidFill>
            <a:prstDash val="solid"/>
          </a:ln>
        </p:spPr>
      </p:sp>
      <p:sp>
        <p:nvSpPr>
          <p:cNvPr id="6" name="Shape 4"/>
          <p:cNvSpPr/>
          <p:nvPr/>
        </p:nvSpPr>
        <p:spPr>
          <a:xfrm>
            <a:off x="73152" y="5257800"/>
            <a:ext cx="987552" cy="987552"/>
          </a:xfrm>
          <a:prstGeom prst="ellipse">
            <a:avLst/>
          </a:prstGeom>
          <a:solidFill>
            <a:srgbClr val="2B7A78">
              <a:alpha val="0"/>
            </a:srgbClr>
          </a:solidFill>
          <a:ln w="12700">
            <a:solidFill>
              <a:srgbClr val="2B7A78">
                <a:alpha val="14000"/>
              </a:srgbClr>
            </a:solidFill>
            <a:prstDash val="solid"/>
          </a:ln>
        </p:spPr>
      </p:sp>
      <p:sp>
        <p:nvSpPr>
          <p:cNvPr id="7" name="Text 5"/>
          <p:cNvSpPr/>
          <p:nvPr/>
        </p:nvSpPr>
        <p:spPr>
          <a:xfrm>
            <a:off x="768096" y="603504"/>
            <a:ext cx="4023360" cy="237744"/>
          </a:xfrm>
          <a:prstGeom prst="rect">
            <a:avLst/>
          </a:prstGeom>
          <a:noFill/>
          <a:ln/>
        </p:spPr>
        <p:txBody>
          <a:bodyPr wrap="square" rtlCol="0" anchor="ctr"/>
          <a:lstStyle/>
          <a:p>
            <a:pPr indent="0" marL="0">
              <a:buNone/>
            </a:pPr>
            <a:r>
              <a:rPr lang="en-US" sz="1100" b="1" dirty="0">
                <a:solidFill>
                  <a:srgbClr val="C96A2B"/>
                </a:solidFill>
                <a:latin typeface="Bahnschrift" pitchFamily="34" charset="0"/>
                <a:ea typeface="Bahnschrift" pitchFamily="34" charset="-122"/>
                <a:cs typeface="Bahnschrift" pitchFamily="34" charset="-120"/>
              </a:rPr>
              <a:t>01  VẤN ĐỀ NGHIÊN CỨU</a:t>
            </a:r>
            <a:endParaRPr lang="en-US" sz="1100" dirty="0"/>
          </a:p>
        </p:txBody>
      </p:sp>
      <p:sp>
        <p:nvSpPr>
          <p:cNvPr id="8" name="Text 6"/>
          <p:cNvSpPr/>
          <p:nvPr/>
        </p:nvSpPr>
        <p:spPr>
          <a:xfrm>
            <a:off x="768096" y="859536"/>
            <a:ext cx="8001000" cy="457200"/>
          </a:xfrm>
          <a:prstGeom prst="rect">
            <a:avLst/>
          </a:prstGeom>
          <a:noFill/>
          <a:ln/>
        </p:spPr>
        <p:txBody>
          <a:bodyPr wrap="square" rtlCol="0" anchor="ctr"/>
          <a:lstStyle/>
          <a:p>
            <a:pPr indent="0" marL="0">
              <a:buNone/>
            </a:pPr>
            <a:r>
              <a:rPr lang="en-US" sz="2500" b="1" dirty="0">
                <a:solidFill>
                  <a:srgbClr val="0E1B2A"/>
                </a:solidFill>
                <a:latin typeface="Bahnschrift" pitchFamily="34" charset="0"/>
                <a:ea typeface="Bahnschrift" pitchFamily="34" charset="-122"/>
                <a:cs typeface="Bahnschrift" pitchFamily="34" charset="-120"/>
              </a:rPr>
              <a:t>Bài toán, mục tiêu và đóng góp</a:t>
            </a:r>
            <a:endParaRPr lang="en-US" sz="2500" dirty="0"/>
          </a:p>
        </p:txBody>
      </p:sp>
      <p:sp>
        <p:nvSpPr>
          <p:cNvPr id="9" name="Shape 7"/>
          <p:cNvSpPr/>
          <p:nvPr/>
        </p:nvSpPr>
        <p:spPr>
          <a:xfrm>
            <a:off x="768096" y="1389888"/>
            <a:ext cx="1965960" cy="36576"/>
          </a:xfrm>
          <a:prstGeom prst="rect">
            <a:avLst/>
          </a:prstGeom>
          <a:solidFill>
            <a:srgbClr val="C96A2B"/>
          </a:solidFill>
          <a:ln w="12700">
            <a:solidFill>
              <a:srgbClr val="C96A2B"/>
            </a:solidFill>
            <a:prstDash val="solid"/>
          </a:ln>
        </p:spPr>
      </p:sp>
      <p:sp>
        <p:nvSpPr>
          <p:cNvPr id="10" name="Text 8"/>
          <p:cNvSpPr/>
          <p:nvPr/>
        </p:nvSpPr>
        <p:spPr>
          <a:xfrm>
            <a:off x="10808208" y="566928"/>
            <a:ext cx="502920" cy="237744"/>
          </a:xfrm>
          <a:prstGeom prst="rect">
            <a:avLst/>
          </a:prstGeom>
          <a:noFill/>
          <a:ln/>
        </p:spPr>
        <p:txBody>
          <a:bodyPr wrap="square" rtlCol="0" anchor="ctr"/>
          <a:lstStyle/>
          <a:p>
            <a:pPr algn="r" indent="0" marL="0">
              <a:buNone/>
            </a:pPr>
            <a:r>
              <a:rPr lang="en-US" sz="1200" b="1" dirty="0">
                <a:solidFill>
                  <a:srgbClr val="7A7A76"/>
                </a:solidFill>
                <a:latin typeface="Bahnschrift" pitchFamily="34" charset="0"/>
                <a:ea typeface="Bahnschrift" pitchFamily="34" charset="-122"/>
                <a:cs typeface="Bahnschrift" pitchFamily="34" charset="-120"/>
              </a:rPr>
              <a:t>02</a:t>
            </a:r>
            <a:endParaRPr lang="en-US" sz="1200" dirty="0"/>
          </a:p>
        </p:txBody>
      </p:sp>
      <p:sp>
        <p:nvSpPr>
          <p:cNvPr id="11" name="Shape 9"/>
          <p:cNvSpPr/>
          <p:nvPr/>
        </p:nvSpPr>
        <p:spPr>
          <a:xfrm>
            <a:off x="640080" y="1499616"/>
            <a:ext cx="3657600" cy="1444752"/>
          </a:xfrm>
          <a:prstGeom prst="rect">
            <a:avLst/>
          </a:prstGeom>
          <a:solidFill>
            <a:srgbClr val="F6E7DA"/>
          </a:solidFill>
          <a:ln w="12700">
            <a:solidFill>
              <a:srgbClr val="F6E7DA"/>
            </a:solidFill>
            <a:prstDash val="solid"/>
          </a:ln>
        </p:spPr>
      </p:sp>
      <p:sp>
        <p:nvSpPr>
          <p:cNvPr id="12" name="Shape 10"/>
          <p:cNvSpPr/>
          <p:nvPr/>
        </p:nvSpPr>
        <p:spPr>
          <a:xfrm>
            <a:off x="640080" y="1499616"/>
            <a:ext cx="73152" cy="1444752"/>
          </a:xfrm>
          <a:prstGeom prst="rect">
            <a:avLst/>
          </a:prstGeom>
          <a:solidFill>
            <a:srgbClr val="C96A2B"/>
          </a:solidFill>
          <a:ln w="12700">
            <a:solidFill>
              <a:srgbClr val="C96A2B"/>
            </a:solidFill>
            <a:prstDash val="solid"/>
          </a:ln>
        </p:spPr>
      </p:sp>
      <p:sp>
        <p:nvSpPr>
          <p:cNvPr id="13" name="Shape 11"/>
          <p:cNvSpPr/>
          <p:nvPr/>
        </p:nvSpPr>
        <p:spPr>
          <a:xfrm>
            <a:off x="786384" y="1627632"/>
            <a:ext cx="475488" cy="27432"/>
          </a:xfrm>
          <a:prstGeom prst="rect">
            <a:avLst/>
          </a:prstGeom>
          <a:solidFill>
            <a:srgbClr val="C96A2B"/>
          </a:solidFill>
          <a:ln w="12700">
            <a:solidFill>
              <a:srgbClr val="C96A2B"/>
            </a:solidFill>
            <a:prstDash val="solid"/>
          </a:ln>
        </p:spPr>
      </p:sp>
      <p:sp>
        <p:nvSpPr>
          <p:cNvPr id="14" name="Text 12"/>
          <p:cNvSpPr/>
          <p:nvPr/>
        </p:nvSpPr>
        <p:spPr>
          <a:xfrm>
            <a:off x="841248" y="1719072"/>
            <a:ext cx="3346704" cy="219456"/>
          </a:xfrm>
          <a:prstGeom prst="rect">
            <a:avLst/>
          </a:prstGeom>
          <a:noFill/>
          <a:ln/>
        </p:spPr>
        <p:txBody>
          <a:bodyPr wrap="square" rtlCol="0" anchor="ctr"/>
          <a:lstStyle/>
          <a:p>
            <a:pPr indent="0" marL="0">
              <a:buNone/>
            </a:pPr>
            <a:r>
              <a:rPr lang="en-US" sz="1450" b="1" dirty="0">
                <a:solidFill>
                  <a:srgbClr val="0E1B2A"/>
                </a:solidFill>
                <a:latin typeface="Bahnschrift" pitchFamily="34" charset="0"/>
                <a:ea typeface="Bahnschrift" pitchFamily="34" charset="-122"/>
                <a:cs typeface="Bahnschrift" pitchFamily="34" charset="-120"/>
              </a:rPr>
              <a:t>Bài toán</a:t>
            </a:r>
            <a:endParaRPr lang="en-US" sz="1450" dirty="0"/>
          </a:p>
        </p:txBody>
      </p:sp>
      <p:sp>
        <p:nvSpPr>
          <p:cNvPr id="15" name="Text 13"/>
          <p:cNvSpPr/>
          <p:nvPr/>
        </p:nvSpPr>
        <p:spPr>
          <a:xfrm>
            <a:off x="841248" y="2048256"/>
            <a:ext cx="3346704" cy="768096"/>
          </a:xfrm>
          <a:prstGeom prst="rect">
            <a:avLst/>
          </a:prstGeom>
          <a:noFill/>
          <a:ln/>
        </p:spPr>
        <p:txBody>
          <a:bodyPr wrap="square" lIns="254" tIns="254" rIns="254" bIns="254" rtlCol="0" anchor="t"/>
          <a:lstStyle/>
          <a:p>
            <a:pPr indent="0" marL="0">
              <a:buNone/>
            </a:pPr>
            <a:r>
              <a:rPr lang="en-US" sz="1050" dirty="0">
                <a:solidFill>
                  <a:srgbClr val="41576D"/>
                </a:solidFill>
                <a:latin typeface="Aptos" pitchFamily="34" charset="0"/>
                <a:ea typeface="Aptos" pitchFamily="34" charset="-122"/>
                <a:cs typeface="Aptos" pitchFamily="34" charset="-120"/>
              </a:rPr>
              <a:t>Hệ thống IDS cần phát hiện lưu lượng tấn công từ network flow, nhưng đồng thời phải kiểm soát false positive để có thể đưa vào vận hành thực tế mà không gây quá nhiều nhiễu cho người quản trị.</a:t>
            </a:r>
            <a:endParaRPr lang="en-US" sz="1050" dirty="0"/>
          </a:p>
        </p:txBody>
      </p:sp>
      <p:sp>
        <p:nvSpPr>
          <p:cNvPr id="16" name="Shape 14"/>
          <p:cNvSpPr/>
          <p:nvPr/>
        </p:nvSpPr>
        <p:spPr>
          <a:xfrm>
            <a:off x="4526280" y="1499616"/>
            <a:ext cx="3429000" cy="1444752"/>
          </a:xfrm>
          <a:prstGeom prst="rect">
            <a:avLst/>
          </a:prstGeom>
          <a:solidFill>
            <a:srgbClr val="E7F0F6"/>
          </a:solidFill>
          <a:ln w="12700">
            <a:solidFill>
              <a:srgbClr val="E7F0F6"/>
            </a:solidFill>
            <a:prstDash val="solid"/>
          </a:ln>
        </p:spPr>
      </p:sp>
      <p:sp>
        <p:nvSpPr>
          <p:cNvPr id="17" name="Shape 15"/>
          <p:cNvSpPr/>
          <p:nvPr/>
        </p:nvSpPr>
        <p:spPr>
          <a:xfrm>
            <a:off x="4526280" y="1499616"/>
            <a:ext cx="73152" cy="1444752"/>
          </a:xfrm>
          <a:prstGeom prst="rect">
            <a:avLst/>
          </a:prstGeom>
          <a:solidFill>
            <a:srgbClr val="3D6C8D"/>
          </a:solidFill>
          <a:ln w="12700">
            <a:solidFill>
              <a:srgbClr val="3D6C8D"/>
            </a:solidFill>
            <a:prstDash val="solid"/>
          </a:ln>
        </p:spPr>
      </p:sp>
      <p:sp>
        <p:nvSpPr>
          <p:cNvPr id="18" name="Shape 16"/>
          <p:cNvSpPr/>
          <p:nvPr/>
        </p:nvSpPr>
        <p:spPr>
          <a:xfrm>
            <a:off x="4672584" y="1627632"/>
            <a:ext cx="475488" cy="27432"/>
          </a:xfrm>
          <a:prstGeom prst="rect">
            <a:avLst/>
          </a:prstGeom>
          <a:solidFill>
            <a:srgbClr val="3D6C8D"/>
          </a:solidFill>
          <a:ln w="12700">
            <a:solidFill>
              <a:srgbClr val="3D6C8D"/>
            </a:solidFill>
            <a:prstDash val="solid"/>
          </a:ln>
        </p:spPr>
      </p:sp>
      <p:sp>
        <p:nvSpPr>
          <p:cNvPr id="19" name="Text 17"/>
          <p:cNvSpPr/>
          <p:nvPr/>
        </p:nvSpPr>
        <p:spPr>
          <a:xfrm>
            <a:off x="4727448" y="1719072"/>
            <a:ext cx="3118104" cy="219456"/>
          </a:xfrm>
          <a:prstGeom prst="rect">
            <a:avLst/>
          </a:prstGeom>
          <a:noFill/>
          <a:ln/>
        </p:spPr>
        <p:txBody>
          <a:bodyPr wrap="square" rtlCol="0" anchor="ctr"/>
          <a:lstStyle/>
          <a:p>
            <a:pPr indent="0" marL="0">
              <a:buNone/>
            </a:pPr>
            <a:r>
              <a:rPr lang="en-US" sz="1450" b="1" dirty="0">
                <a:solidFill>
                  <a:srgbClr val="0E1B2A"/>
                </a:solidFill>
                <a:latin typeface="Bahnschrift" pitchFamily="34" charset="0"/>
                <a:ea typeface="Bahnschrift" pitchFamily="34" charset="-122"/>
                <a:cs typeface="Bahnschrift" pitchFamily="34" charset="-120"/>
              </a:rPr>
              <a:t>Mục tiêu học thuật</a:t>
            </a:r>
            <a:endParaRPr lang="en-US" sz="1450" dirty="0"/>
          </a:p>
        </p:txBody>
      </p:sp>
      <p:sp>
        <p:nvSpPr>
          <p:cNvPr id="20" name="Text 18"/>
          <p:cNvSpPr/>
          <p:nvPr/>
        </p:nvSpPr>
        <p:spPr>
          <a:xfrm>
            <a:off x="4727448" y="2048256"/>
            <a:ext cx="3118104" cy="768096"/>
          </a:xfrm>
          <a:prstGeom prst="rect">
            <a:avLst/>
          </a:prstGeom>
          <a:noFill/>
          <a:ln/>
        </p:spPr>
        <p:txBody>
          <a:bodyPr wrap="square" lIns="254" tIns="254" rIns="254" bIns="254" rtlCol="0" anchor="t"/>
          <a:lstStyle/>
          <a:p>
            <a:pPr indent="0" marL="0">
              <a:buNone/>
            </a:pPr>
            <a:r>
              <a:rPr lang="en-US" sz="1050" dirty="0">
                <a:solidFill>
                  <a:srgbClr val="41576D"/>
                </a:solidFill>
                <a:latin typeface="Aptos" pitchFamily="34" charset="0"/>
                <a:ea typeface="Aptos" pitchFamily="34" charset="-122"/>
                <a:cs typeface="Aptos" pitchFamily="34" charset="-120"/>
              </a:rPr>
              <a:t>So sánh nhiều họ mô hình trên cùng một protocol đánh giá, từ đó phân tích trade-off giữa F1, FPR, OOD recall và chi phí huấn luyện.</a:t>
            </a:r>
            <a:endParaRPr lang="en-US" sz="1050" dirty="0"/>
          </a:p>
        </p:txBody>
      </p:sp>
      <p:sp>
        <p:nvSpPr>
          <p:cNvPr id="21" name="Shape 19"/>
          <p:cNvSpPr/>
          <p:nvPr/>
        </p:nvSpPr>
        <p:spPr>
          <a:xfrm>
            <a:off x="8183880" y="1499616"/>
            <a:ext cx="3337560" cy="1444752"/>
          </a:xfrm>
          <a:prstGeom prst="rect">
            <a:avLst/>
          </a:prstGeom>
          <a:solidFill>
            <a:srgbClr val="E2F3F1"/>
          </a:solidFill>
          <a:ln w="12700">
            <a:solidFill>
              <a:srgbClr val="E2F3F1"/>
            </a:solidFill>
            <a:prstDash val="solid"/>
          </a:ln>
        </p:spPr>
      </p:sp>
      <p:sp>
        <p:nvSpPr>
          <p:cNvPr id="22" name="Shape 20"/>
          <p:cNvSpPr/>
          <p:nvPr/>
        </p:nvSpPr>
        <p:spPr>
          <a:xfrm>
            <a:off x="8183880" y="1499616"/>
            <a:ext cx="73152" cy="1444752"/>
          </a:xfrm>
          <a:prstGeom prst="rect">
            <a:avLst/>
          </a:prstGeom>
          <a:solidFill>
            <a:srgbClr val="2B7A78"/>
          </a:solidFill>
          <a:ln w="12700">
            <a:solidFill>
              <a:srgbClr val="2B7A78"/>
            </a:solidFill>
            <a:prstDash val="solid"/>
          </a:ln>
        </p:spPr>
      </p:sp>
      <p:sp>
        <p:nvSpPr>
          <p:cNvPr id="23" name="Shape 21"/>
          <p:cNvSpPr/>
          <p:nvPr/>
        </p:nvSpPr>
        <p:spPr>
          <a:xfrm>
            <a:off x="8330184" y="1627632"/>
            <a:ext cx="475488" cy="27432"/>
          </a:xfrm>
          <a:prstGeom prst="rect">
            <a:avLst/>
          </a:prstGeom>
          <a:solidFill>
            <a:srgbClr val="2B7A78"/>
          </a:solidFill>
          <a:ln w="12700">
            <a:solidFill>
              <a:srgbClr val="2B7A78"/>
            </a:solidFill>
            <a:prstDash val="solid"/>
          </a:ln>
        </p:spPr>
      </p:sp>
      <p:sp>
        <p:nvSpPr>
          <p:cNvPr id="24" name="Text 22"/>
          <p:cNvSpPr/>
          <p:nvPr/>
        </p:nvSpPr>
        <p:spPr>
          <a:xfrm>
            <a:off x="8385048" y="1719072"/>
            <a:ext cx="3026664" cy="219456"/>
          </a:xfrm>
          <a:prstGeom prst="rect">
            <a:avLst/>
          </a:prstGeom>
          <a:noFill/>
          <a:ln/>
        </p:spPr>
        <p:txBody>
          <a:bodyPr wrap="square" rtlCol="0" anchor="ctr"/>
          <a:lstStyle/>
          <a:p>
            <a:pPr indent="0" marL="0">
              <a:buNone/>
            </a:pPr>
            <a:r>
              <a:rPr lang="en-US" sz="1450" b="1" dirty="0">
                <a:solidFill>
                  <a:srgbClr val="0E1B2A"/>
                </a:solidFill>
                <a:latin typeface="Bahnschrift" pitchFamily="34" charset="0"/>
                <a:ea typeface="Bahnschrift" pitchFamily="34" charset="-122"/>
                <a:cs typeface="Bahnschrift" pitchFamily="34" charset="-120"/>
              </a:rPr>
              <a:t>Mục tiêu hệ thống</a:t>
            </a:r>
            <a:endParaRPr lang="en-US" sz="1450" dirty="0"/>
          </a:p>
        </p:txBody>
      </p:sp>
      <p:sp>
        <p:nvSpPr>
          <p:cNvPr id="25" name="Text 23"/>
          <p:cNvSpPr/>
          <p:nvPr/>
        </p:nvSpPr>
        <p:spPr>
          <a:xfrm>
            <a:off x="8385048" y="2048256"/>
            <a:ext cx="3026664" cy="768096"/>
          </a:xfrm>
          <a:prstGeom prst="rect">
            <a:avLst/>
          </a:prstGeom>
          <a:noFill/>
          <a:ln/>
        </p:spPr>
        <p:txBody>
          <a:bodyPr wrap="square" lIns="254" tIns="254" rIns="254" bIns="254" rtlCol="0" anchor="t"/>
          <a:lstStyle/>
          <a:p>
            <a:pPr indent="0" marL="0">
              <a:buNone/>
            </a:pPr>
            <a:r>
              <a:rPr lang="en-US" sz="1050" dirty="0">
                <a:solidFill>
                  <a:srgbClr val="41576D"/>
                </a:solidFill>
                <a:latin typeface="Aptos" pitchFamily="34" charset="0"/>
                <a:ea typeface="Aptos" pitchFamily="34" charset="-122"/>
                <a:cs typeface="Aptos" pitchFamily="34" charset="-120"/>
              </a:rPr>
              <a:t>Đóng gói model thành bundle có contract, xây dựng runtime realtime, live sensor host-based và operator console để chứng minh khả năng triển khai thành hệ thống IDS hoàn chỉnh.</a:t>
            </a:r>
            <a:endParaRPr lang="en-US" sz="1050" dirty="0"/>
          </a:p>
        </p:txBody>
      </p:sp>
      <p:sp>
        <p:nvSpPr>
          <p:cNvPr id="26" name="Text 24"/>
          <p:cNvSpPr/>
          <p:nvPr/>
        </p:nvSpPr>
        <p:spPr>
          <a:xfrm>
            <a:off x="777240" y="3246120"/>
            <a:ext cx="5166360" cy="2468880"/>
          </a:xfrm>
          <a:prstGeom prst="rect">
            <a:avLst/>
          </a:prstGeom>
          <a:noFill/>
          <a:ln/>
        </p:spPr>
        <p:txBody>
          <a:bodyPr wrap="square" lIns="635" tIns="635" rIns="635" bIns="635" rtlCol="0" anchor="t"/>
          <a:lstStyle/>
          <a:p>
            <a:pPr marL="342900" indent="-342900">
              <a:buSzPct val="100000"/>
              <a:buChar char="•"/>
            </a:pPr>
            <a:r>
              <a:rPr lang="en-US" sz="1160" dirty="0">
                <a:solidFill>
                  <a:srgbClr val="41576D"/>
                </a:solidFill>
                <a:latin typeface="Aptos" pitchFamily="34" charset="0"/>
                <a:ea typeface="Aptos" pitchFamily="34" charset="-122"/>
                <a:cs typeface="Aptos" pitchFamily="34" charset="-120"/>
              </a:rPr>
              <a:t>Project không dừng ở benchmark notebook, mà đã đi tới bundle versioned, verify/promote/rollback và stack vận hành same-host.</a:t>
            </a:r>
            <a:endParaRPr lang="en-US" sz="1160" dirty="0"/>
          </a:p>
          <a:p>
            <a:pPr marL="342900" indent="-342900">
              <a:buSzPct val="100000"/>
              <a:buChar char="•"/>
            </a:pPr>
            <a:r>
              <a:rPr lang="en-US" sz="1160" dirty="0">
                <a:solidFill>
                  <a:srgbClr val="41576D"/>
                </a:solidFill>
                <a:latin typeface="Aptos" pitchFamily="34" charset="0"/>
                <a:ea typeface="Aptos" pitchFamily="34" charset="-122"/>
                <a:cs typeface="Aptos" pitchFamily="34" charset="-120"/>
              </a:rPr>
              <a:t>Ranh giới V1 được định nghĩa rõ: flow-based IDS, micro-batch near-real-time, single host, single NIC, local outputs và dashboard nội bộ.</a:t>
            </a:r>
            <a:endParaRPr lang="en-US" sz="1160" dirty="0"/>
          </a:p>
          <a:p>
            <a:pPr marL="342900" indent="-342900">
              <a:buSzPct val="100000"/>
              <a:buChar char="•"/>
            </a:pPr>
            <a:r>
              <a:rPr lang="en-US" sz="1160" dirty="0">
                <a:solidFill>
                  <a:srgbClr val="41576D"/>
                </a:solidFill>
                <a:latin typeface="Aptos" pitchFamily="34" charset="0"/>
                <a:ea typeface="Aptos" pitchFamily="34" charset="-122"/>
                <a:cs typeface="Aptos" pitchFamily="34" charset="-120"/>
              </a:rPr>
              <a:t>Câu hỏi trung tâm của đề tài là: mô hình nào cân bằng nhất để đưa vào IDS thực tế, thay vì chỉ tối ưu một chỉ số đơn lẻ.</a:t>
            </a:r>
            <a:endParaRPr lang="en-US" sz="1160" dirty="0"/>
          </a:p>
        </p:txBody>
      </p:sp>
      <p:sp>
        <p:nvSpPr>
          <p:cNvPr id="27" name="Shape 25"/>
          <p:cNvSpPr/>
          <p:nvPr/>
        </p:nvSpPr>
        <p:spPr>
          <a:xfrm>
            <a:off x="6720840" y="3456432"/>
            <a:ext cx="1508760" cy="914400"/>
          </a:xfrm>
          <a:prstGeom prst="rect">
            <a:avLst/>
          </a:prstGeom>
          <a:solidFill>
            <a:srgbClr val="F2E8DC"/>
          </a:solidFill>
          <a:ln w="12700">
            <a:solidFill>
              <a:srgbClr val="F2E8DC"/>
            </a:solidFill>
            <a:prstDash val="solid"/>
          </a:ln>
        </p:spPr>
      </p:sp>
      <p:sp>
        <p:nvSpPr>
          <p:cNvPr id="28" name="Shape 26"/>
          <p:cNvSpPr/>
          <p:nvPr/>
        </p:nvSpPr>
        <p:spPr>
          <a:xfrm>
            <a:off x="6720840" y="3456432"/>
            <a:ext cx="1508760" cy="36576"/>
          </a:xfrm>
          <a:prstGeom prst="rect">
            <a:avLst/>
          </a:prstGeom>
          <a:solidFill>
            <a:srgbClr val="0E1B2A"/>
          </a:solidFill>
          <a:ln w="12700">
            <a:solidFill>
              <a:srgbClr val="0E1B2A"/>
            </a:solidFill>
            <a:prstDash val="solid"/>
          </a:ln>
        </p:spPr>
      </p:sp>
      <p:sp>
        <p:nvSpPr>
          <p:cNvPr id="29" name="Text 27"/>
          <p:cNvSpPr/>
          <p:nvPr/>
        </p:nvSpPr>
        <p:spPr>
          <a:xfrm>
            <a:off x="6867144" y="3566160"/>
            <a:ext cx="1216152" cy="182880"/>
          </a:xfrm>
          <a:prstGeom prst="rect">
            <a:avLst/>
          </a:prstGeom>
          <a:noFill/>
          <a:ln/>
        </p:spPr>
        <p:txBody>
          <a:bodyPr wrap="square" rtlCol="0" anchor="ctr"/>
          <a:lstStyle/>
          <a:p>
            <a:pPr indent="0" marL="0">
              <a:buNone/>
            </a:pPr>
            <a:r>
              <a:rPr lang="en-US" sz="1030" b="1" dirty="0">
                <a:solidFill>
                  <a:srgbClr val="7A7A76"/>
                </a:solidFill>
                <a:latin typeface="Aptos" pitchFamily="34" charset="0"/>
                <a:ea typeface="Aptos" pitchFamily="34" charset="-122"/>
                <a:cs typeface="Aptos" pitchFamily="34" charset="-120"/>
              </a:rPr>
              <a:t>Mô hình</a:t>
            </a:r>
            <a:endParaRPr lang="en-US" sz="1030" dirty="0"/>
          </a:p>
        </p:txBody>
      </p:sp>
      <p:sp>
        <p:nvSpPr>
          <p:cNvPr id="30" name="Text 28"/>
          <p:cNvSpPr/>
          <p:nvPr/>
        </p:nvSpPr>
        <p:spPr>
          <a:xfrm>
            <a:off x="6867144" y="3767328"/>
            <a:ext cx="1216152" cy="384048"/>
          </a:xfrm>
          <a:prstGeom prst="rect">
            <a:avLst/>
          </a:prstGeom>
          <a:noFill/>
          <a:ln/>
        </p:spPr>
        <p:txBody>
          <a:bodyPr wrap="square" rtlCol="0" anchor="ctr"/>
          <a:lstStyle/>
          <a:p>
            <a:pPr indent="0" marL="0">
              <a:buNone/>
            </a:pPr>
            <a:r>
              <a:rPr lang="en-US" sz="2200" b="1" dirty="0">
                <a:solidFill>
                  <a:srgbClr val="0E1B2A"/>
                </a:solidFill>
                <a:latin typeface="Bahnschrift" pitchFamily="34" charset="0"/>
                <a:ea typeface="Bahnschrift" pitchFamily="34" charset="-122"/>
                <a:cs typeface="Bahnschrift" pitchFamily="34" charset="-120"/>
              </a:rPr>
              <a:t>5</a:t>
            </a:r>
            <a:endParaRPr lang="en-US" sz="2200" dirty="0"/>
          </a:p>
        </p:txBody>
      </p:sp>
      <p:sp>
        <p:nvSpPr>
          <p:cNvPr id="31" name="Text 29"/>
          <p:cNvSpPr/>
          <p:nvPr/>
        </p:nvSpPr>
        <p:spPr>
          <a:xfrm>
            <a:off x="6867144" y="4215384"/>
            <a:ext cx="1216152" cy="73152"/>
          </a:xfrm>
          <a:prstGeom prst="rect">
            <a:avLst/>
          </a:prstGeom>
          <a:noFill/>
          <a:ln/>
        </p:spPr>
        <p:txBody>
          <a:bodyPr wrap="square" rtlCol="0" anchor="ctr"/>
          <a:lstStyle/>
          <a:p>
            <a:pPr indent="0" marL="0">
              <a:buNone/>
            </a:pPr>
            <a:r>
              <a:rPr lang="en-US" sz="950" dirty="0">
                <a:solidFill>
                  <a:srgbClr val="41576D"/>
                </a:solidFill>
                <a:latin typeface="Aptos" pitchFamily="34" charset="0"/>
                <a:ea typeface="Aptos" pitchFamily="34" charset="-122"/>
                <a:cs typeface="Aptos" pitchFamily="34" charset="-120"/>
              </a:rPr>
              <a:t>Benchmark vòng đầu</a:t>
            </a:r>
            <a:endParaRPr lang="en-US" sz="950" dirty="0"/>
          </a:p>
        </p:txBody>
      </p:sp>
      <p:sp>
        <p:nvSpPr>
          <p:cNvPr id="32" name="Shape 30"/>
          <p:cNvSpPr/>
          <p:nvPr/>
        </p:nvSpPr>
        <p:spPr>
          <a:xfrm>
            <a:off x="8366760" y="3456432"/>
            <a:ext cx="1508760" cy="914400"/>
          </a:xfrm>
          <a:prstGeom prst="rect">
            <a:avLst/>
          </a:prstGeom>
          <a:solidFill>
            <a:srgbClr val="E7F0F6"/>
          </a:solidFill>
          <a:ln w="12700">
            <a:solidFill>
              <a:srgbClr val="E7F0F6"/>
            </a:solidFill>
            <a:prstDash val="solid"/>
          </a:ln>
        </p:spPr>
      </p:sp>
      <p:sp>
        <p:nvSpPr>
          <p:cNvPr id="33" name="Shape 31"/>
          <p:cNvSpPr/>
          <p:nvPr/>
        </p:nvSpPr>
        <p:spPr>
          <a:xfrm>
            <a:off x="8366760" y="3456432"/>
            <a:ext cx="1508760" cy="36576"/>
          </a:xfrm>
          <a:prstGeom prst="rect">
            <a:avLst/>
          </a:prstGeom>
          <a:solidFill>
            <a:srgbClr val="3D6C8D"/>
          </a:solidFill>
          <a:ln w="12700">
            <a:solidFill>
              <a:srgbClr val="3D6C8D"/>
            </a:solidFill>
            <a:prstDash val="solid"/>
          </a:ln>
        </p:spPr>
      </p:sp>
      <p:sp>
        <p:nvSpPr>
          <p:cNvPr id="34" name="Text 32"/>
          <p:cNvSpPr/>
          <p:nvPr/>
        </p:nvSpPr>
        <p:spPr>
          <a:xfrm>
            <a:off x="8513064" y="3566160"/>
            <a:ext cx="1216152" cy="182880"/>
          </a:xfrm>
          <a:prstGeom prst="rect">
            <a:avLst/>
          </a:prstGeom>
          <a:noFill/>
          <a:ln/>
        </p:spPr>
        <p:txBody>
          <a:bodyPr wrap="square" rtlCol="0" anchor="ctr"/>
          <a:lstStyle/>
          <a:p>
            <a:pPr indent="0" marL="0">
              <a:buNone/>
            </a:pPr>
            <a:r>
              <a:rPr lang="en-US" sz="1030" b="1" dirty="0">
                <a:solidFill>
                  <a:srgbClr val="7A7A76"/>
                </a:solidFill>
                <a:latin typeface="Aptos" pitchFamily="34" charset="0"/>
                <a:ea typeface="Aptos" pitchFamily="34" charset="-122"/>
                <a:cs typeface="Aptos" pitchFamily="34" charset="-120"/>
              </a:rPr>
              <a:t>Finalist</a:t>
            </a:r>
            <a:endParaRPr lang="en-US" sz="1030" dirty="0"/>
          </a:p>
        </p:txBody>
      </p:sp>
      <p:sp>
        <p:nvSpPr>
          <p:cNvPr id="35" name="Text 33"/>
          <p:cNvSpPr/>
          <p:nvPr/>
        </p:nvSpPr>
        <p:spPr>
          <a:xfrm>
            <a:off x="8513064" y="3767328"/>
            <a:ext cx="1216152" cy="384048"/>
          </a:xfrm>
          <a:prstGeom prst="rect">
            <a:avLst/>
          </a:prstGeom>
          <a:noFill/>
          <a:ln/>
        </p:spPr>
        <p:txBody>
          <a:bodyPr wrap="square" rtlCol="0" anchor="ctr"/>
          <a:lstStyle/>
          <a:p>
            <a:pPr indent="0" marL="0">
              <a:buNone/>
            </a:pPr>
            <a:r>
              <a:rPr lang="en-US" sz="2200" b="1" dirty="0">
                <a:solidFill>
                  <a:srgbClr val="3D6C8D"/>
                </a:solidFill>
                <a:latin typeface="Bahnschrift" pitchFamily="34" charset="0"/>
                <a:ea typeface="Bahnschrift" pitchFamily="34" charset="-122"/>
                <a:cs typeface="Bahnschrift" pitchFamily="34" charset="-120"/>
              </a:rPr>
              <a:t>3</a:t>
            </a:r>
            <a:endParaRPr lang="en-US" sz="2200" dirty="0"/>
          </a:p>
        </p:txBody>
      </p:sp>
      <p:sp>
        <p:nvSpPr>
          <p:cNvPr id="36" name="Text 34"/>
          <p:cNvSpPr/>
          <p:nvPr/>
        </p:nvSpPr>
        <p:spPr>
          <a:xfrm>
            <a:off x="8513064" y="4215384"/>
            <a:ext cx="1216152" cy="73152"/>
          </a:xfrm>
          <a:prstGeom prst="rect">
            <a:avLst/>
          </a:prstGeom>
          <a:noFill/>
          <a:ln/>
        </p:spPr>
        <p:txBody>
          <a:bodyPr wrap="square" rtlCol="0" anchor="ctr"/>
          <a:lstStyle/>
          <a:p>
            <a:pPr indent="0" marL="0">
              <a:buNone/>
            </a:pPr>
            <a:r>
              <a:rPr lang="en-US" sz="950" dirty="0">
                <a:solidFill>
                  <a:srgbClr val="41576D"/>
                </a:solidFill>
                <a:latin typeface="Aptos" pitchFamily="34" charset="0"/>
                <a:ea typeface="Aptos" pitchFamily="34" charset="-122"/>
                <a:cs typeface="Aptos" pitchFamily="34" charset="-120"/>
              </a:rPr>
              <a:t>CatBoost, RF, HistGB</a:t>
            </a:r>
            <a:endParaRPr lang="en-US" sz="950" dirty="0"/>
          </a:p>
        </p:txBody>
      </p:sp>
      <p:sp>
        <p:nvSpPr>
          <p:cNvPr id="37" name="Shape 35"/>
          <p:cNvSpPr/>
          <p:nvPr/>
        </p:nvSpPr>
        <p:spPr>
          <a:xfrm>
            <a:off x="10012680" y="3456432"/>
            <a:ext cx="1508760" cy="914400"/>
          </a:xfrm>
          <a:prstGeom prst="rect">
            <a:avLst/>
          </a:prstGeom>
          <a:solidFill>
            <a:srgbClr val="E8F2EA"/>
          </a:solidFill>
          <a:ln w="12700">
            <a:solidFill>
              <a:srgbClr val="E8F2EA"/>
            </a:solidFill>
            <a:prstDash val="solid"/>
          </a:ln>
        </p:spPr>
      </p:sp>
      <p:sp>
        <p:nvSpPr>
          <p:cNvPr id="38" name="Shape 36"/>
          <p:cNvSpPr/>
          <p:nvPr/>
        </p:nvSpPr>
        <p:spPr>
          <a:xfrm>
            <a:off x="10012680" y="3456432"/>
            <a:ext cx="1508760" cy="36576"/>
          </a:xfrm>
          <a:prstGeom prst="rect">
            <a:avLst/>
          </a:prstGeom>
          <a:solidFill>
            <a:srgbClr val="4E8B61"/>
          </a:solidFill>
          <a:ln w="12700">
            <a:solidFill>
              <a:srgbClr val="4E8B61"/>
            </a:solidFill>
            <a:prstDash val="solid"/>
          </a:ln>
        </p:spPr>
      </p:sp>
      <p:sp>
        <p:nvSpPr>
          <p:cNvPr id="39" name="Text 37"/>
          <p:cNvSpPr/>
          <p:nvPr/>
        </p:nvSpPr>
        <p:spPr>
          <a:xfrm>
            <a:off x="10158984" y="3566160"/>
            <a:ext cx="1216152" cy="182880"/>
          </a:xfrm>
          <a:prstGeom prst="rect">
            <a:avLst/>
          </a:prstGeom>
          <a:noFill/>
          <a:ln/>
        </p:spPr>
        <p:txBody>
          <a:bodyPr wrap="square" rtlCol="0" anchor="ctr"/>
          <a:lstStyle/>
          <a:p>
            <a:pPr indent="0" marL="0">
              <a:buNone/>
            </a:pPr>
            <a:r>
              <a:rPr lang="en-US" sz="1030" b="1" dirty="0">
                <a:solidFill>
                  <a:srgbClr val="7A7A76"/>
                </a:solidFill>
                <a:latin typeface="Aptos" pitchFamily="34" charset="0"/>
                <a:ea typeface="Aptos" pitchFamily="34" charset="-122"/>
                <a:cs typeface="Aptos" pitchFamily="34" charset="-120"/>
              </a:rPr>
              <a:t>Test suite</a:t>
            </a:r>
            <a:endParaRPr lang="en-US" sz="1030" dirty="0"/>
          </a:p>
        </p:txBody>
      </p:sp>
      <p:sp>
        <p:nvSpPr>
          <p:cNvPr id="40" name="Text 38"/>
          <p:cNvSpPr/>
          <p:nvPr/>
        </p:nvSpPr>
        <p:spPr>
          <a:xfrm>
            <a:off x="10158984" y="3767328"/>
            <a:ext cx="1216152" cy="384048"/>
          </a:xfrm>
          <a:prstGeom prst="rect">
            <a:avLst/>
          </a:prstGeom>
          <a:noFill/>
          <a:ln/>
        </p:spPr>
        <p:txBody>
          <a:bodyPr wrap="square" rtlCol="0" anchor="ctr"/>
          <a:lstStyle/>
          <a:p>
            <a:pPr indent="0" marL="0">
              <a:buNone/>
            </a:pPr>
            <a:r>
              <a:rPr lang="en-US" sz="2200" b="1" dirty="0">
                <a:solidFill>
                  <a:srgbClr val="4E8B61"/>
                </a:solidFill>
                <a:latin typeface="Bahnschrift" pitchFamily="34" charset="0"/>
                <a:ea typeface="Bahnschrift" pitchFamily="34" charset="-122"/>
                <a:cs typeface="Bahnschrift" pitchFamily="34" charset="-120"/>
              </a:rPr>
              <a:t>28</a:t>
            </a:r>
            <a:endParaRPr lang="en-US" sz="2200" dirty="0"/>
          </a:p>
        </p:txBody>
      </p:sp>
      <p:sp>
        <p:nvSpPr>
          <p:cNvPr id="41" name="Text 39"/>
          <p:cNvSpPr/>
          <p:nvPr/>
        </p:nvSpPr>
        <p:spPr>
          <a:xfrm>
            <a:off x="10158984" y="4215384"/>
            <a:ext cx="1216152" cy="73152"/>
          </a:xfrm>
          <a:prstGeom prst="rect">
            <a:avLst/>
          </a:prstGeom>
          <a:noFill/>
          <a:ln/>
        </p:spPr>
        <p:txBody>
          <a:bodyPr wrap="square" rtlCol="0" anchor="ctr"/>
          <a:lstStyle/>
          <a:p>
            <a:pPr indent="0" marL="0">
              <a:buNone/>
            </a:pPr>
            <a:r>
              <a:rPr lang="en-US" sz="950" dirty="0">
                <a:solidFill>
                  <a:srgbClr val="41576D"/>
                </a:solidFill>
                <a:latin typeface="Aptos" pitchFamily="34" charset="0"/>
                <a:ea typeface="Aptos" pitchFamily="34" charset="-122"/>
                <a:cs typeface="Aptos" pitchFamily="34" charset="-120"/>
              </a:rPr>
              <a:t>Bao phủ runtime</a:t>
            </a:r>
            <a:endParaRPr lang="en-US" sz="950" dirty="0"/>
          </a:p>
        </p:txBody>
      </p:sp>
      <p:sp>
        <p:nvSpPr>
          <p:cNvPr id="42" name="Shape 40"/>
          <p:cNvSpPr/>
          <p:nvPr/>
        </p:nvSpPr>
        <p:spPr>
          <a:xfrm>
            <a:off x="6583680" y="4572000"/>
            <a:ext cx="4892040" cy="1234440"/>
          </a:xfrm>
          <a:prstGeom prst="rect">
            <a:avLst/>
          </a:prstGeom>
          <a:solidFill>
            <a:srgbClr val="E8F2EA"/>
          </a:solidFill>
          <a:ln w="12700">
            <a:solidFill>
              <a:srgbClr val="E8F2EA"/>
            </a:solidFill>
            <a:prstDash val="solid"/>
          </a:ln>
        </p:spPr>
      </p:sp>
      <p:sp>
        <p:nvSpPr>
          <p:cNvPr id="43" name="Shape 41"/>
          <p:cNvSpPr/>
          <p:nvPr/>
        </p:nvSpPr>
        <p:spPr>
          <a:xfrm>
            <a:off x="6583680" y="4572000"/>
            <a:ext cx="73152" cy="1234440"/>
          </a:xfrm>
          <a:prstGeom prst="rect">
            <a:avLst/>
          </a:prstGeom>
          <a:solidFill>
            <a:srgbClr val="4E8B61"/>
          </a:solidFill>
          <a:ln w="12700">
            <a:solidFill>
              <a:srgbClr val="4E8B61"/>
            </a:solidFill>
            <a:prstDash val="solid"/>
          </a:ln>
        </p:spPr>
      </p:sp>
      <p:sp>
        <p:nvSpPr>
          <p:cNvPr id="44" name="Shape 42"/>
          <p:cNvSpPr/>
          <p:nvPr/>
        </p:nvSpPr>
        <p:spPr>
          <a:xfrm>
            <a:off x="6729984" y="4700016"/>
            <a:ext cx="475488" cy="27432"/>
          </a:xfrm>
          <a:prstGeom prst="rect">
            <a:avLst/>
          </a:prstGeom>
          <a:solidFill>
            <a:srgbClr val="4E8B61"/>
          </a:solidFill>
          <a:ln w="12700">
            <a:solidFill>
              <a:srgbClr val="4E8B61"/>
            </a:solidFill>
            <a:prstDash val="solid"/>
          </a:ln>
        </p:spPr>
      </p:sp>
      <p:sp>
        <p:nvSpPr>
          <p:cNvPr id="45" name="Text 43"/>
          <p:cNvSpPr/>
          <p:nvPr/>
        </p:nvSpPr>
        <p:spPr>
          <a:xfrm>
            <a:off x="6784848" y="4791456"/>
            <a:ext cx="4581144" cy="219456"/>
          </a:xfrm>
          <a:prstGeom prst="rect">
            <a:avLst/>
          </a:prstGeom>
          <a:noFill/>
          <a:ln/>
        </p:spPr>
        <p:txBody>
          <a:bodyPr wrap="square" rtlCol="0" anchor="ctr"/>
          <a:lstStyle/>
          <a:p>
            <a:pPr indent="0" marL="0">
              <a:buNone/>
            </a:pPr>
            <a:r>
              <a:rPr lang="en-US" sz="1450" b="1" dirty="0">
                <a:solidFill>
                  <a:srgbClr val="0E1B2A"/>
                </a:solidFill>
                <a:latin typeface="Bahnschrift" pitchFamily="34" charset="0"/>
                <a:ea typeface="Bahnschrift" pitchFamily="34" charset="-122"/>
                <a:cs typeface="Bahnschrift" pitchFamily="34" charset="-120"/>
              </a:rPr>
              <a:t>Thông điệp khoa học</a:t>
            </a:r>
            <a:endParaRPr lang="en-US" sz="1450" dirty="0"/>
          </a:p>
        </p:txBody>
      </p:sp>
      <p:sp>
        <p:nvSpPr>
          <p:cNvPr id="46" name="Text 44"/>
          <p:cNvSpPr/>
          <p:nvPr/>
        </p:nvSpPr>
        <p:spPr>
          <a:xfrm>
            <a:off x="6784848" y="5120640"/>
            <a:ext cx="4581144" cy="557784"/>
          </a:xfrm>
          <a:prstGeom prst="rect">
            <a:avLst/>
          </a:prstGeom>
          <a:noFill/>
          <a:ln/>
        </p:spPr>
        <p:txBody>
          <a:bodyPr wrap="square" lIns="254" tIns="254" rIns="254" bIns="254" rtlCol="0" anchor="t"/>
          <a:lstStyle/>
          <a:p>
            <a:pPr indent="0" marL="0">
              <a:buNone/>
            </a:pPr>
            <a:r>
              <a:rPr lang="en-US" sz="1050" dirty="0">
                <a:solidFill>
                  <a:srgbClr val="41576D"/>
                </a:solidFill>
                <a:latin typeface="Aptos" pitchFamily="34" charset="0"/>
                <a:ea typeface="Aptos" pitchFamily="34" charset="-122"/>
                <a:cs typeface="Aptos" pitchFamily="34" charset="-120"/>
              </a:rPr>
              <a:t>CatBoost full-data không đứng đầu tuyệt đối ở mọi metric, nhưng lại là lựa chọn cân bằng nhất giữa hiệu năng phát hiện, FPR, khả năng scale và mức độ sẵn sàng để deploy.</a:t>
            </a:r>
            <a:endParaRPr lang="en-US" sz="1050" dirty="0"/>
          </a:p>
        </p:txBody>
      </p:sp>
      <p:sp>
        <p:nvSpPr>
          <p:cNvPr id="47" name="Text 45"/>
          <p:cNvSpPr/>
          <p:nvPr/>
        </p:nvSpPr>
        <p:spPr>
          <a:xfrm>
            <a:off x="548640" y="6473952"/>
            <a:ext cx="9509760" cy="164592"/>
          </a:xfrm>
          <a:prstGeom prst="rect">
            <a:avLst/>
          </a:prstGeom>
          <a:noFill/>
          <a:ln/>
        </p:spPr>
        <p:txBody>
          <a:bodyPr wrap="square" rtlCol="0" anchor="ctr"/>
          <a:lstStyle/>
          <a:p>
            <a:pPr indent="0" marL="0">
              <a:buNone/>
            </a:pPr>
            <a:r>
              <a:rPr lang="en-US" sz="900" dirty="0">
                <a:solidFill>
                  <a:srgbClr val="7A7A76"/>
                </a:solidFill>
                <a:latin typeface="Aptos" pitchFamily="34" charset="0"/>
                <a:ea typeface="Aptos" pitchFamily="34" charset="-122"/>
                <a:cs typeface="Aptos" pitchFamily="34" charset="-120"/>
              </a:rPr>
              <a:t>Mục tiêu của project là tạo ra một IDS có thể giải thích, tái lập và vận hành được, thay vì chỉ tối ưu duy nhất một metric.</a:t>
            </a:r>
            <a:endParaRPr lang="en-US" sz="900" dirty="0"/>
          </a:p>
        </p:txBody>
      </p:sp>
      <p:sp>
        <p:nvSpPr>
          <p:cNvPr id="25" name="Slide Number Placeholder 0"/>
          <p:cNvSpPr>
            <a:spLocks noGrp="1"/>
          </p:cNvSpPr>
          <p:nvPr>
            <p:ph type="sldNum" sz="quarter" idx="4294967295"/>
          </p:nvPr>
        </p:nvSpPr>
        <p:spPr>
          <a:xfrm>
            <a:off x="11475720" y="6446520"/>
            <a:ext cx="32004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7A7A76"/>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CF8F2"/>
        </a:solidFill>
      </p:bgPr>
    </p:bg>
    <p:spTree>
      <p:nvGrpSpPr>
        <p:cNvPr id="1" name=""/>
        <p:cNvGrpSpPr/>
        <p:nvPr/>
      </p:nvGrpSpPr>
      <p:grpSpPr>
        <a:xfrm>
          <a:off x="0" y="0"/>
          <a:ext cx="0" cy="0"/>
          <a:chOff x="0" y="0"/>
          <a:chExt cx="0" cy="0"/>
        </a:xfrm>
      </p:grpSpPr>
      <p:sp>
        <p:nvSpPr>
          <p:cNvPr id="2" name="Shape 0"/>
          <p:cNvSpPr/>
          <p:nvPr/>
        </p:nvSpPr>
        <p:spPr>
          <a:xfrm>
            <a:off x="0" y="0"/>
            <a:ext cx="12191695" cy="219456"/>
          </a:xfrm>
          <a:prstGeom prst="rect">
            <a:avLst/>
          </a:prstGeom>
          <a:solidFill>
            <a:srgbClr val="0E1B2A"/>
          </a:solidFill>
          <a:ln w="12700">
            <a:solidFill>
              <a:srgbClr val="0E1B2A"/>
            </a:solidFill>
            <a:prstDash val="solid"/>
          </a:ln>
        </p:spPr>
      </p:sp>
      <p:sp>
        <p:nvSpPr>
          <p:cNvPr id="3" name="Shape 1"/>
          <p:cNvSpPr/>
          <p:nvPr/>
        </p:nvSpPr>
        <p:spPr>
          <a:xfrm>
            <a:off x="566928" y="713232"/>
            <a:ext cx="54864" cy="859536"/>
          </a:xfrm>
          <a:prstGeom prst="rect">
            <a:avLst/>
          </a:prstGeom>
          <a:solidFill>
            <a:srgbClr val="C96A2B"/>
          </a:solidFill>
          <a:ln w="12700">
            <a:solidFill>
              <a:srgbClr val="C96A2B"/>
            </a:solidFill>
            <a:prstDash val="solid"/>
          </a:ln>
        </p:spPr>
      </p:sp>
      <p:sp>
        <p:nvSpPr>
          <p:cNvPr id="4" name="Shape 2"/>
          <p:cNvSpPr/>
          <p:nvPr/>
        </p:nvSpPr>
        <p:spPr>
          <a:xfrm>
            <a:off x="9555480" y="822960"/>
            <a:ext cx="2011680" cy="36576"/>
          </a:xfrm>
          <a:prstGeom prst="rect">
            <a:avLst/>
          </a:prstGeom>
          <a:solidFill>
            <a:srgbClr val="C96A2B">
              <a:alpha val="72000"/>
            </a:srgbClr>
          </a:solidFill>
          <a:ln w="12700">
            <a:solidFill>
              <a:srgbClr val="C96A2B">
                <a:alpha val="72000"/>
              </a:srgbClr>
            </a:solidFill>
            <a:prstDash val="solid"/>
          </a:ln>
        </p:spPr>
      </p:sp>
      <p:sp>
        <p:nvSpPr>
          <p:cNvPr id="5" name="Shape 3"/>
          <p:cNvSpPr/>
          <p:nvPr/>
        </p:nvSpPr>
        <p:spPr>
          <a:xfrm>
            <a:off x="10469880" y="292608"/>
            <a:ext cx="1078992" cy="1078992"/>
          </a:xfrm>
          <a:prstGeom prst="ellipse">
            <a:avLst/>
          </a:prstGeom>
          <a:solidFill>
            <a:srgbClr val="C96A2B">
              <a:alpha val="0"/>
            </a:srgbClr>
          </a:solidFill>
          <a:ln w="12700">
            <a:solidFill>
              <a:srgbClr val="C96A2B">
                <a:alpha val="18000"/>
              </a:srgbClr>
            </a:solidFill>
            <a:prstDash val="solid"/>
          </a:ln>
        </p:spPr>
      </p:sp>
      <p:sp>
        <p:nvSpPr>
          <p:cNvPr id="6" name="Shape 4"/>
          <p:cNvSpPr/>
          <p:nvPr/>
        </p:nvSpPr>
        <p:spPr>
          <a:xfrm>
            <a:off x="73152" y="5257800"/>
            <a:ext cx="987552" cy="987552"/>
          </a:xfrm>
          <a:prstGeom prst="ellipse">
            <a:avLst/>
          </a:prstGeom>
          <a:solidFill>
            <a:srgbClr val="2B7A78">
              <a:alpha val="0"/>
            </a:srgbClr>
          </a:solidFill>
          <a:ln w="12700">
            <a:solidFill>
              <a:srgbClr val="2B7A78">
                <a:alpha val="14000"/>
              </a:srgbClr>
            </a:solidFill>
            <a:prstDash val="solid"/>
          </a:ln>
        </p:spPr>
      </p:sp>
      <p:sp>
        <p:nvSpPr>
          <p:cNvPr id="7" name="Text 5"/>
          <p:cNvSpPr/>
          <p:nvPr/>
        </p:nvSpPr>
        <p:spPr>
          <a:xfrm>
            <a:off x="768096" y="603504"/>
            <a:ext cx="4023360" cy="237744"/>
          </a:xfrm>
          <a:prstGeom prst="rect">
            <a:avLst/>
          </a:prstGeom>
          <a:noFill/>
          <a:ln/>
        </p:spPr>
        <p:txBody>
          <a:bodyPr wrap="square" rtlCol="0" anchor="ctr"/>
          <a:lstStyle/>
          <a:p>
            <a:pPr indent="0" marL="0">
              <a:buNone/>
            </a:pPr>
            <a:r>
              <a:rPr lang="en-US" sz="1100" b="1" dirty="0">
                <a:solidFill>
                  <a:srgbClr val="C96A2B"/>
                </a:solidFill>
                <a:latin typeface="Bahnschrift" pitchFamily="34" charset="0"/>
                <a:ea typeface="Bahnschrift" pitchFamily="34" charset="-122"/>
                <a:cs typeface="Bahnschrift" pitchFamily="34" charset="-120"/>
              </a:rPr>
              <a:t>02  TOÀN CẢNH PROJECT</a:t>
            </a:r>
            <a:endParaRPr lang="en-US" sz="1100" dirty="0"/>
          </a:p>
        </p:txBody>
      </p:sp>
      <p:sp>
        <p:nvSpPr>
          <p:cNvPr id="8" name="Text 6"/>
          <p:cNvSpPr/>
          <p:nvPr/>
        </p:nvSpPr>
        <p:spPr>
          <a:xfrm>
            <a:off x="768096" y="859536"/>
            <a:ext cx="8001000" cy="457200"/>
          </a:xfrm>
          <a:prstGeom prst="rect">
            <a:avLst/>
          </a:prstGeom>
          <a:noFill/>
          <a:ln/>
        </p:spPr>
        <p:txBody>
          <a:bodyPr wrap="square" rtlCol="0" anchor="ctr"/>
          <a:lstStyle/>
          <a:p>
            <a:pPr indent="0" marL="0">
              <a:buNone/>
            </a:pPr>
            <a:r>
              <a:rPr lang="en-US" sz="2500" b="1" dirty="0">
                <a:solidFill>
                  <a:srgbClr val="0E1B2A"/>
                </a:solidFill>
                <a:latin typeface="Bahnschrift" pitchFamily="34" charset="0"/>
                <a:ea typeface="Bahnschrift" pitchFamily="34" charset="-122"/>
                <a:cs typeface="Bahnschrift" pitchFamily="34" charset="-120"/>
              </a:rPr>
              <a:t>Phạm vi repo và các lớp thành phần</a:t>
            </a:r>
            <a:endParaRPr lang="en-US" sz="2500" dirty="0"/>
          </a:p>
        </p:txBody>
      </p:sp>
      <p:sp>
        <p:nvSpPr>
          <p:cNvPr id="9" name="Shape 7"/>
          <p:cNvSpPr/>
          <p:nvPr/>
        </p:nvSpPr>
        <p:spPr>
          <a:xfrm>
            <a:off x="768096" y="1389888"/>
            <a:ext cx="1965960" cy="36576"/>
          </a:xfrm>
          <a:prstGeom prst="rect">
            <a:avLst/>
          </a:prstGeom>
          <a:solidFill>
            <a:srgbClr val="C96A2B"/>
          </a:solidFill>
          <a:ln w="12700">
            <a:solidFill>
              <a:srgbClr val="C96A2B"/>
            </a:solidFill>
            <a:prstDash val="solid"/>
          </a:ln>
        </p:spPr>
      </p:sp>
      <p:sp>
        <p:nvSpPr>
          <p:cNvPr id="10" name="Text 8"/>
          <p:cNvSpPr/>
          <p:nvPr/>
        </p:nvSpPr>
        <p:spPr>
          <a:xfrm>
            <a:off x="10808208" y="566928"/>
            <a:ext cx="502920" cy="237744"/>
          </a:xfrm>
          <a:prstGeom prst="rect">
            <a:avLst/>
          </a:prstGeom>
          <a:noFill/>
          <a:ln/>
        </p:spPr>
        <p:txBody>
          <a:bodyPr wrap="square" rtlCol="0" anchor="ctr"/>
          <a:lstStyle/>
          <a:p>
            <a:pPr algn="r" indent="0" marL="0">
              <a:buNone/>
            </a:pPr>
            <a:r>
              <a:rPr lang="en-US" sz="1200" b="1" dirty="0">
                <a:solidFill>
                  <a:srgbClr val="7A7A76"/>
                </a:solidFill>
                <a:latin typeface="Bahnschrift" pitchFamily="34" charset="0"/>
                <a:ea typeface="Bahnschrift" pitchFamily="34" charset="-122"/>
                <a:cs typeface="Bahnschrift" pitchFamily="34" charset="-120"/>
              </a:rPr>
              <a:t>03</a:t>
            </a:r>
            <a:endParaRPr lang="en-US" sz="1200" dirty="0"/>
          </a:p>
        </p:txBody>
      </p:sp>
      <p:sp>
        <p:nvSpPr>
          <p:cNvPr id="11" name="Shape 9"/>
          <p:cNvSpPr/>
          <p:nvPr/>
        </p:nvSpPr>
        <p:spPr>
          <a:xfrm>
            <a:off x="640080" y="1463040"/>
            <a:ext cx="2743200" cy="1920240"/>
          </a:xfrm>
          <a:prstGeom prst="rect">
            <a:avLst/>
          </a:prstGeom>
          <a:solidFill>
            <a:srgbClr val="F6E7DA"/>
          </a:solidFill>
          <a:ln w="12700">
            <a:solidFill>
              <a:srgbClr val="F6E7DA"/>
            </a:solidFill>
            <a:prstDash val="solid"/>
          </a:ln>
        </p:spPr>
      </p:sp>
      <p:sp>
        <p:nvSpPr>
          <p:cNvPr id="12" name="Shape 10"/>
          <p:cNvSpPr/>
          <p:nvPr/>
        </p:nvSpPr>
        <p:spPr>
          <a:xfrm>
            <a:off x="640080" y="1463040"/>
            <a:ext cx="73152" cy="1920240"/>
          </a:xfrm>
          <a:prstGeom prst="rect">
            <a:avLst/>
          </a:prstGeom>
          <a:solidFill>
            <a:srgbClr val="C96A2B"/>
          </a:solidFill>
          <a:ln w="12700">
            <a:solidFill>
              <a:srgbClr val="C96A2B"/>
            </a:solidFill>
            <a:prstDash val="solid"/>
          </a:ln>
        </p:spPr>
      </p:sp>
      <p:sp>
        <p:nvSpPr>
          <p:cNvPr id="13" name="Shape 11"/>
          <p:cNvSpPr/>
          <p:nvPr/>
        </p:nvSpPr>
        <p:spPr>
          <a:xfrm>
            <a:off x="786384" y="1591056"/>
            <a:ext cx="475488" cy="27432"/>
          </a:xfrm>
          <a:prstGeom prst="rect">
            <a:avLst/>
          </a:prstGeom>
          <a:solidFill>
            <a:srgbClr val="C96A2B"/>
          </a:solidFill>
          <a:ln w="12700">
            <a:solidFill>
              <a:srgbClr val="C96A2B"/>
            </a:solidFill>
            <a:prstDash val="solid"/>
          </a:ln>
        </p:spPr>
      </p:sp>
      <p:sp>
        <p:nvSpPr>
          <p:cNvPr id="14" name="Text 12"/>
          <p:cNvSpPr/>
          <p:nvPr/>
        </p:nvSpPr>
        <p:spPr>
          <a:xfrm>
            <a:off x="841248" y="1682496"/>
            <a:ext cx="2432304" cy="219456"/>
          </a:xfrm>
          <a:prstGeom prst="rect">
            <a:avLst/>
          </a:prstGeom>
          <a:noFill/>
          <a:ln/>
        </p:spPr>
        <p:txBody>
          <a:bodyPr wrap="square" rtlCol="0" anchor="ctr"/>
          <a:lstStyle/>
          <a:p>
            <a:pPr indent="0" marL="0">
              <a:buNone/>
            </a:pPr>
            <a:r>
              <a:rPr lang="en-US" sz="1450" b="1" dirty="0">
                <a:solidFill>
                  <a:srgbClr val="0E1B2A"/>
                </a:solidFill>
                <a:latin typeface="Bahnschrift" pitchFamily="34" charset="0"/>
                <a:ea typeface="Bahnschrift" pitchFamily="34" charset="-122"/>
                <a:cs typeface="Bahnschrift" pitchFamily="34" charset="-120"/>
              </a:rPr>
              <a:t>Lớp dữ liệu</a:t>
            </a:r>
            <a:endParaRPr lang="en-US" sz="1450" dirty="0"/>
          </a:p>
        </p:txBody>
      </p:sp>
      <p:sp>
        <p:nvSpPr>
          <p:cNvPr id="15" name="Text 13"/>
          <p:cNvSpPr/>
          <p:nvPr/>
        </p:nvSpPr>
        <p:spPr>
          <a:xfrm>
            <a:off x="841248" y="2011680"/>
            <a:ext cx="2432304" cy="1243584"/>
          </a:xfrm>
          <a:prstGeom prst="rect">
            <a:avLst/>
          </a:prstGeom>
          <a:noFill/>
          <a:ln/>
        </p:spPr>
        <p:txBody>
          <a:bodyPr wrap="square" lIns="254" tIns="254" rIns="254" bIns="254" rtlCol="0" anchor="t"/>
          <a:lstStyle/>
          <a:p>
            <a:pPr indent="0" marL="0">
              <a:buNone/>
            </a:pPr>
            <a:r>
              <a:rPr lang="en-US" sz="1050" dirty="0">
                <a:solidFill>
                  <a:srgbClr val="41576D"/>
                </a:solidFill>
                <a:latin typeface="Aptos" pitchFamily="34" charset="0"/>
                <a:ea typeface="Aptos" pitchFamily="34" charset="-122"/>
                <a:cs typeface="Aptos" pitchFamily="34" charset="-120"/>
              </a:rPr>
              <a:t>Nguồn CIC IoT-DIAD 2024, pipeline tiền xử lý từ CSV sang parquet binary IDS, cùng bộ split đã freeze và manifest để bảo đảm benchmark công bằng.</a:t>
            </a:r>
            <a:endParaRPr lang="en-US" sz="1050" dirty="0"/>
          </a:p>
        </p:txBody>
      </p:sp>
      <p:sp>
        <p:nvSpPr>
          <p:cNvPr id="16" name="Shape 14"/>
          <p:cNvSpPr/>
          <p:nvPr/>
        </p:nvSpPr>
        <p:spPr>
          <a:xfrm>
            <a:off x="3611880" y="1463040"/>
            <a:ext cx="2743200" cy="1920240"/>
          </a:xfrm>
          <a:prstGeom prst="rect">
            <a:avLst/>
          </a:prstGeom>
          <a:solidFill>
            <a:srgbClr val="E7F0F6"/>
          </a:solidFill>
          <a:ln w="12700">
            <a:solidFill>
              <a:srgbClr val="E7F0F6"/>
            </a:solidFill>
            <a:prstDash val="solid"/>
          </a:ln>
        </p:spPr>
      </p:sp>
      <p:sp>
        <p:nvSpPr>
          <p:cNvPr id="17" name="Shape 15"/>
          <p:cNvSpPr/>
          <p:nvPr/>
        </p:nvSpPr>
        <p:spPr>
          <a:xfrm>
            <a:off x="3611880" y="1463040"/>
            <a:ext cx="73152" cy="1920240"/>
          </a:xfrm>
          <a:prstGeom prst="rect">
            <a:avLst/>
          </a:prstGeom>
          <a:solidFill>
            <a:srgbClr val="3D6C8D"/>
          </a:solidFill>
          <a:ln w="12700">
            <a:solidFill>
              <a:srgbClr val="3D6C8D"/>
            </a:solidFill>
            <a:prstDash val="solid"/>
          </a:ln>
        </p:spPr>
      </p:sp>
      <p:sp>
        <p:nvSpPr>
          <p:cNvPr id="18" name="Shape 16"/>
          <p:cNvSpPr/>
          <p:nvPr/>
        </p:nvSpPr>
        <p:spPr>
          <a:xfrm>
            <a:off x="3758184" y="1591056"/>
            <a:ext cx="475488" cy="27432"/>
          </a:xfrm>
          <a:prstGeom prst="rect">
            <a:avLst/>
          </a:prstGeom>
          <a:solidFill>
            <a:srgbClr val="3D6C8D"/>
          </a:solidFill>
          <a:ln w="12700">
            <a:solidFill>
              <a:srgbClr val="3D6C8D"/>
            </a:solidFill>
            <a:prstDash val="solid"/>
          </a:ln>
        </p:spPr>
      </p:sp>
      <p:sp>
        <p:nvSpPr>
          <p:cNvPr id="19" name="Text 17"/>
          <p:cNvSpPr/>
          <p:nvPr/>
        </p:nvSpPr>
        <p:spPr>
          <a:xfrm>
            <a:off x="3813048" y="1682496"/>
            <a:ext cx="2432304" cy="219456"/>
          </a:xfrm>
          <a:prstGeom prst="rect">
            <a:avLst/>
          </a:prstGeom>
          <a:noFill/>
          <a:ln/>
        </p:spPr>
        <p:txBody>
          <a:bodyPr wrap="square" rtlCol="0" anchor="ctr"/>
          <a:lstStyle/>
          <a:p>
            <a:pPr indent="0" marL="0">
              <a:buNone/>
            </a:pPr>
            <a:r>
              <a:rPr lang="en-US" sz="1450" b="1" dirty="0">
                <a:solidFill>
                  <a:srgbClr val="0E1B2A"/>
                </a:solidFill>
                <a:latin typeface="Bahnschrift" pitchFamily="34" charset="0"/>
                <a:ea typeface="Bahnschrift" pitchFamily="34" charset="-122"/>
                <a:cs typeface="Bahnschrift" pitchFamily="34" charset="-120"/>
              </a:rPr>
              <a:t>Lớp thực nghiệm ML</a:t>
            </a:r>
            <a:endParaRPr lang="en-US" sz="1450" dirty="0"/>
          </a:p>
        </p:txBody>
      </p:sp>
      <p:sp>
        <p:nvSpPr>
          <p:cNvPr id="20" name="Text 18"/>
          <p:cNvSpPr/>
          <p:nvPr/>
        </p:nvSpPr>
        <p:spPr>
          <a:xfrm>
            <a:off x="3813048" y="2011680"/>
            <a:ext cx="2432304" cy="1243584"/>
          </a:xfrm>
          <a:prstGeom prst="rect">
            <a:avLst/>
          </a:prstGeom>
          <a:noFill/>
          <a:ln/>
        </p:spPr>
        <p:txBody>
          <a:bodyPr wrap="square" lIns="254" tIns="254" rIns="254" bIns="254" rtlCol="0" anchor="t"/>
          <a:lstStyle/>
          <a:p>
            <a:pPr indent="0" marL="0">
              <a:buNone/>
            </a:pPr>
            <a:r>
              <a:rPr lang="en-US" sz="1050" dirty="0">
                <a:solidFill>
                  <a:srgbClr val="41576D"/>
                </a:solidFill>
                <a:latin typeface="Aptos" pitchFamily="34" charset="0"/>
                <a:ea typeface="Aptos" pitchFamily="34" charset="-122"/>
                <a:cs typeface="Aptos" pitchFamily="34" charset="-120"/>
              </a:rPr>
              <a:t>Benchmark 5 model trên Kaggle, tuning cho 3 model mạnh, scaling 2M/4M/8M + full-data, rồi threshold analysis và chọn model cuối cùng.</a:t>
            </a:r>
            <a:endParaRPr lang="en-US" sz="1050" dirty="0"/>
          </a:p>
        </p:txBody>
      </p:sp>
      <p:sp>
        <p:nvSpPr>
          <p:cNvPr id="21" name="Shape 19"/>
          <p:cNvSpPr/>
          <p:nvPr/>
        </p:nvSpPr>
        <p:spPr>
          <a:xfrm>
            <a:off x="6583680" y="1463040"/>
            <a:ext cx="2468880" cy="1920240"/>
          </a:xfrm>
          <a:prstGeom prst="rect">
            <a:avLst/>
          </a:prstGeom>
          <a:solidFill>
            <a:srgbClr val="E2F3F1"/>
          </a:solidFill>
          <a:ln w="12700">
            <a:solidFill>
              <a:srgbClr val="E2F3F1"/>
            </a:solidFill>
            <a:prstDash val="solid"/>
          </a:ln>
        </p:spPr>
      </p:sp>
      <p:sp>
        <p:nvSpPr>
          <p:cNvPr id="22" name="Shape 20"/>
          <p:cNvSpPr/>
          <p:nvPr/>
        </p:nvSpPr>
        <p:spPr>
          <a:xfrm>
            <a:off x="6583680" y="1463040"/>
            <a:ext cx="73152" cy="1920240"/>
          </a:xfrm>
          <a:prstGeom prst="rect">
            <a:avLst/>
          </a:prstGeom>
          <a:solidFill>
            <a:srgbClr val="2B7A78"/>
          </a:solidFill>
          <a:ln w="12700">
            <a:solidFill>
              <a:srgbClr val="2B7A78"/>
            </a:solidFill>
            <a:prstDash val="solid"/>
          </a:ln>
        </p:spPr>
      </p:sp>
      <p:sp>
        <p:nvSpPr>
          <p:cNvPr id="23" name="Shape 21"/>
          <p:cNvSpPr/>
          <p:nvPr/>
        </p:nvSpPr>
        <p:spPr>
          <a:xfrm>
            <a:off x="6729984" y="1591056"/>
            <a:ext cx="475488" cy="27432"/>
          </a:xfrm>
          <a:prstGeom prst="rect">
            <a:avLst/>
          </a:prstGeom>
          <a:solidFill>
            <a:srgbClr val="2B7A78"/>
          </a:solidFill>
          <a:ln w="12700">
            <a:solidFill>
              <a:srgbClr val="2B7A78"/>
            </a:solidFill>
            <a:prstDash val="solid"/>
          </a:ln>
        </p:spPr>
      </p:sp>
      <p:sp>
        <p:nvSpPr>
          <p:cNvPr id="24" name="Text 22"/>
          <p:cNvSpPr/>
          <p:nvPr/>
        </p:nvSpPr>
        <p:spPr>
          <a:xfrm>
            <a:off x="6784848" y="1682496"/>
            <a:ext cx="2157984" cy="219456"/>
          </a:xfrm>
          <a:prstGeom prst="rect">
            <a:avLst/>
          </a:prstGeom>
          <a:noFill/>
          <a:ln/>
        </p:spPr>
        <p:txBody>
          <a:bodyPr wrap="square" rtlCol="0" anchor="ctr"/>
          <a:lstStyle/>
          <a:p>
            <a:pPr indent="0" marL="0">
              <a:buNone/>
            </a:pPr>
            <a:r>
              <a:rPr lang="en-US" sz="1450" b="1" dirty="0">
                <a:solidFill>
                  <a:srgbClr val="0E1B2A"/>
                </a:solidFill>
                <a:latin typeface="Bahnschrift" pitchFamily="34" charset="0"/>
                <a:ea typeface="Bahnschrift" pitchFamily="34" charset="-122"/>
                <a:cs typeface="Bahnschrift" pitchFamily="34" charset="-120"/>
              </a:rPr>
              <a:t>Lớp runtime IDS</a:t>
            </a:r>
            <a:endParaRPr lang="en-US" sz="1450" dirty="0"/>
          </a:p>
        </p:txBody>
      </p:sp>
      <p:sp>
        <p:nvSpPr>
          <p:cNvPr id="25" name="Text 23"/>
          <p:cNvSpPr/>
          <p:nvPr/>
        </p:nvSpPr>
        <p:spPr>
          <a:xfrm>
            <a:off x="6784848" y="2011680"/>
            <a:ext cx="2157984" cy="1243584"/>
          </a:xfrm>
          <a:prstGeom prst="rect">
            <a:avLst/>
          </a:prstGeom>
          <a:noFill/>
          <a:ln/>
        </p:spPr>
        <p:txBody>
          <a:bodyPr wrap="square" lIns="254" tIns="254" rIns="254" bIns="254" rtlCol="0" anchor="t"/>
          <a:lstStyle/>
          <a:p>
            <a:pPr indent="0" marL="0">
              <a:buNone/>
            </a:pPr>
            <a:r>
              <a:rPr lang="en-US" sz="1050" dirty="0">
                <a:solidFill>
                  <a:srgbClr val="41576D"/>
                </a:solidFill>
                <a:latin typeface="Aptos" pitchFamily="34" charset="0"/>
                <a:ea typeface="Aptos" pitchFamily="34" charset="-122"/>
                <a:cs typeface="Aptos" pitchFamily="34" charset="-120"/>
              </a:rPr>
              <a:t>Bao gồm model bundle, batch inference, realtime pipeline micro-batch, structured record adapter và live host-based sensor.</a:t>
            </a:r>
            <a:endParaRPr lang="en-US" sz="1050" dirty="0"/>
          </a:p>
        </p:txBody>
      </p:sp>
      <p:sp>
        <p:nvSpPr>
          <p:cNvPr id="26" name="Shape 24"/>
          <p:cNvSpPr/>
          <p:nvPr/>
        </p:nvSpPr>
        <p:spPr>
          <a:xfrm>
            <a:off x="9281160" y="1463040"/>
            <a:ext cx="2240280" cy="1920240"/>
          </a:xfrm>
          <a:prstGeom prst="rect">
            <a:avLst/>
          </a:prstGeom>
          <a:solidFill>
            <a:srgbClr val="E8F2EA"/>
          </a:solidFill>
          <a:ln w="12700">
            <a:solidFill>
              <a:srgbClr val="E8F2EA"/>
            </a:solidFill>
            <a:prstDash val="solid"/>
          </a:ln>
        </p:spPr>
      </p:sp>
      <p:sp>
        <p:nvSpPr>
          <p:cNvPr id="27" name="Shape 25"/>
          <p:cNvSpPr/>
          <p:nvPr/>
        </p:nvSpPr>
        <p:spPr>
          <a:xfrm>
            <a:off x="9281160" y="1463040"/>
            <a:ext cx="73152" cy="1920240"/>
          </a:xfrm>
          <a:prstGeom prst="rect">
            <a:avLst/>
          </a:prstGeom>
          <a:solidFill>
            <a:srgbClr val="4E8B61"/>
          </a:solidFill>
          <a:ln w="12700">
            <a:solidFill>
              <a:srgbClr val="4E8B61"/>
            </a:solidFill>
            <a:prstDash val="solid"/>
          </a:ln>
        </p:spPr>
      </p:sp>
      <p:sp>
        <p:nvSpPr>
          <p:cNvPr id="28" name="Shape 26"/>
          <p:cNvSpPr/>
          <p:nvPr/>
        </p:nvSpPr>
        <p:spPr>
          <a:xfrm>
            <a:off x="9427464" y="1591056"/>
            <a:ext cx="475488" cy="27432"/>
          </a:xfrm>
          <a:prstGeom prst="rect">
            <a:avLst/>
          </a:prstGeom>
          <a:solidFill>
            <a:srgbClr val="4E8B61"/>
          </a:solidFill>
          <a:ln w="12700">
            <a:solidFill>
              <a:srgbClr val="4E8B61"/>
            </a:solidFill>
            <a:prstDash val="solid"/>
          </a:ln>
        </p:spPr>
      </p:sp>
      <p:sp>
        <p:nvSpPr>
          <p:cNvPr id="29" name="Text 27"/>
          <p:cNvSpPr/>
          <p:nvPr/>
        </p:nvSpPr>
        <p:spPr>
          <a:xfrm>
            <a:off x="9482328" y="1682496"/>
            <a:ext cx="1929384" cy="219456"/>
          </a:xfrm>
          <a:prstGeom prst="rect">
            <a:avLst/>
          </a:prstGeom>
          <a:noFill/>
          <a:ln/>
        </p:spPr>
        <p:txBody>
          <a:bodyPr wrap="square" rtlCol="0" anchor="ctr"/>
          <a:lstStyle/>
          <a:p>
            <a:pPr indent="0" marL="0">
              <a:buNone/>
            </a:pPr>
            <a:r>
              <a:rPr lang="en-US" sz="1450" b="1" dirty="0">
                <a:solidFill>
                  <a:srgbClr val="0E1B2A"/>
                </a:solidFill>
                <a:latin typeface="Bahnschrift" pitchFamily="34" charset="0"/>
                <a:ea typeface="Bahnschrift" pitchFamily="34" charset="-122"/>
                <a:cs typeface="Bahnschrift" pitchFamily="34" charset="-120"/>
              </a:rPr>
              <a:t>Lớp vận hành</a:t>
            </a:r>
            <a:endParaRPr lang="en-US" sz="1450" dirty="0"/>
          </a:p>
        </p:txBody>
      </p:sp>
      <p:sp>
        <p:nvSpPr>
          <p:cNvPr id="30" name="Text 28"/>
          <p:cNvSpPr/>
          <p:nvPr/>
        </p:nvSpPr>
        <p:spPr>
          <a:xfrm>
            <a:off x="9482328" y="2011680"/>
            <a:ext cx="1929384" cy="1243584"/>
          </a:xfrm>
          <a:prstGeom prst="rect">
            <a:avLst/>
          </a:prstGeom>
          <a:noFill/>
          <a:ln/>
        </p:spPr>
        <p:txBody>
          <a:bodyPr wrap="square" lIns="254" tIns="254" rIns="254" bIns="254" rtlCol="0" anchor="t"/>
          <a:lstStyle/>
          <a:p>
            <a:pPr indent="0" marL="0">
              <a:buNone/>
            </a:pPr>
            <a:r>
              <a:rPr lang="en-US" sz="1050" dirty="0">
                <a:solidFill>
                  <a:srgbClr val="41576D"/>
                </a:solidFill>
                <a:latin typeface="Aptos" pitchFamily="34" charset="0"/>
                <a:ea typeface="Aptos" pitchFamily="34" charset="-122"/>
                <a:cs typeface="Aptos" pitchFamily="34" charset="-120"/>
              </a:rPr>
              <a:t>Operator console FastAPI + SQLite, notification worker riêng, deploy bằng systemd + Nginx và runbook same-host cho toàn stack.</a:t>
            </a:r>
            <a:endParaRPr lang="en-US" sz="1050" dirty="0"/>
          </a:p>
        </p:txBody>
      </p:sp>
      <p:sp>
        <p:nvSpPr>
          <p:cNvPr id="31" name="Shape 29"/>
          <p:cNvSpPr/>
          <p:nvPr/>
        </p:nvSpPr>
        <p:spPr>
          <a:xfrm>
            <a:off x="749808" y="3794760"/>
            <a:ext cx="1645920" cy="896112"/>
          </a:xfrm>
          <a:prstGeom prst="rect">
            <a:avLst/>
          </a:prstGeom>
          <a:solidFill>
            <a:srgbClr val="F2E8DC"/>
          </a:solidFill>
          <a:ln w="12700">
            <a:solidFill>
              <a:srgbClr val="F2E8DC"/>
            </a:solidFill>
            <a:prstDash val="solid"/>
          </a:ln>
        </p:spPr>
      </p:sp>
      <p:sp>
        <p:nvSpPr>
          <p:cNvPr id="32" name="Shape 30"/>
          <p:cNvSpPr/>
          <p:nvPr/>
        </p:nvSpPr>
        <p:spPr>
          <a:xfrm>
            <a:off x="749808" y="3794760"/>
            <a:ext cx="1645920" cy="36576"/>
          </a:xfrm>
          <a:prstGeom prst="rect">
            <a:avLst/>
          </a:prstGeom>
          <a:solidFill>
            <a:srgbClr val="0E1B2A"/>
          </a:solidFill>
          <a:ln w="12700">
            <a:solidFill>
              <a:srgbClr val="0E1B2A"/>
            </a:solidFill>
            <a:prstDash val="solid"/>
          </a:ln>
        </p:spPr>
      </p:sp>
      <p:sp>
        <p:nvSpPr>
          <p:cNvPr id="33" name="Text 31"/>
          <p:cNvSpPr/>
          <p:nvPr/>
        </p:nvSpPr>
        <p:spPr>
          <a:xfrm>
            <a:off x="896112" y="3904488"/>
            <a:ext cx="1353312" cy="182880"/>
          </a:xfrm>
          <a:prstGeom prst="rect">
            <a:avLst/>
          </a:prstGeom>
          <a:noFill/>
          <a:ln/>
        </p:spPr>
        <p:txBody>
          <a:bodyPr wrap="square" rtlCol="0" anchor="ctr"/>
          <a:lstStyle/>
          <a:p>
            <a:pPr indent="0" marL="0">
              <a:buNone/>
            </a:pPr>
            <a:r>
              <a:rPr lang="en-US" sz="1030" b="1" dirty="0">
                <a:solidFill>
                  <a:srgbClr val="7A7A76"/>
                </a:solidFill>
                <a:latin typeface="Aptos" pitchFamily="34" charset="0"/>
                <a:ea typeface="Aptos" pitchFamily="34" charset="-122"/>
                <a:cs typeface="Aptos" pitchFamily="34" charset="-120"/>
              </a:rPr>
              <a:t>Tài liệu</a:t>
            </a:r>
            <a:endParaRPr lang="en-US" sz="1030" dirty="0"/>
          </a:p>
        </p:txBody>
      </p:sp>
      <p:sp>
        <p:nvSpPr>
          <p:cNvPr id="34" name="Text 32"/>
          <p:cNvSpPr/>
          <p:nvPr/>
        </p:nvSpPr>
        <p:spPr>
          <a:xfrm>
            <a:off x="896112" y="4105656"/>
            <a:ext cx="1353312" cy="384048"/>
          </a:xfrm>
          <a:prstGeom prst="rect">
            <a:avLst/>
          </a:prstGeom>
          <a:noFill/>
          <a:ln/>
        </p:spPr>
        <p:txBody>
          <a:bodyPr wrap="square" rtlCol="0" anchor="ctr"/>
          <a:lstStyle/>
          <a:p>
            <a:pPr indent="0" marL="0">
              <a:buNone/>
            </a:pPr>
            <a:r>
              <a:rPr lang="en-US" sz="2200" b="1" dirty="0">
                <a:solidFill>
                  <a:srgbClr val="0E1B2A"/>
                </a:solidFill>
                <a:latin typeface="Bahnschrift" pitchFamily="34" charset="0"/>
                <a:ea typeface="Bahnschrift" pitchFamily="34" charset="-122"/>
                <a:cs typeface="Bahnschrift" pitchFamily="34" charset="-120"/>
              </a:rPr>
              <a:t>21</a:t>
            </a:r>
            <a:endParaRPr lang="en-US" sz="2200" dirty="0"/>
          </a:p>
        </p:txBody>
      </p:sp>
      <p:sp>
        <p:nvSpPr>
          <p:cNvPr id="35" name="Text 33"/>
          <p:cNvSpPr/>
          <p:nvPr/>
        </p:nvSpPr>
        <p:spPr>
          <a:xfrm>
            <a:off x="896112" y="4553712"/>
            <a:ext cx="1353312" cy="54864"/>
          </a:xfrm>
          <a:prstGeom prst="rect">
            <a:avLst/>
          </a:prstGeom>
          <a:noFill/>
          <a:ln/>
        </p:spPr>
        <p:txBody>
          <a:bodyPr wrap="square" rtlCol="0" anchor="ctr"/>
          <a:lstStyle/>
          <a:p>
            <a:pPr indent="0" marL="0">
              <a:buNone/>
            </a:pPr>
            <a:r>
              <a:rPr lang="en-US" sz="950" dirty="0">
                <a:solidFill>
                  <a:srgbClr val="41576D"/>
                </a:solidFill>
                <a:latin typeface="Aptos" pitchFamily="34" charset="0"/>
                <a:ea typeface="Aptos" pitchFamily="34" charset="-122"/>
                <a:cs typeface="Aptos" pitchFamily="34" charset="-120"/>
              </a:rPr>
              <a:t>docs/*.md</a:t>
            </a:r>
            <a:endParaRPr lang="en-US" sz="950" dirty="0"/>
          </a:p>
        </p:txBody>
      </p:sp>
      <p:sp>
        <p:nvSpPr>
          <p:cNvPr id="36" name="Shape 34"/>
          <p:cNvSpPr/>
          <p:nvPr/>
        </p:nvSpPr>
        <p:spPr>
          <a:xfrm>
            <a:off x="2578608" y="3794760"/>
            <a:ext cx="1645920" cy="896112"/>
          </a:xfrm>
          <a:prstGeom prst="rect">
            <a:avLst/>
          </a:prstGeom>
          <a:solidFill>
            <a:srgbClr val="E7F0F6"/>
          </a:solidFill>
          <a:ln w="12700">
            <a:solidFill>
              <a:srgbClr val="E7F0F6"/>
            </a:solidFill>
            <a:prstDash val="solid"/>
          </a:ln>
        </p:spPr>
      </p:sp>
      <p:sp>
        <p:nvSpPr>
          <p:cNvPr id="37" name="Shape 35"/>
          <p:cNvSpPr/>
          <p:nvPr/>
        </p:nvSpPr>
        <p:spPr>
          <a:xfrm>
            <a:off x="2578608" y="3794760"/>
            <a:ext cx="1645920" cy="36576"/>
          </a:xfrm>
          <a:prstGeom prst="rect">
            <a:avLst/>
          </a:prstGeom>
          <a:solidFill>
            <a:srgbClr val="3D6C8D"/>
          </a:solidFill>
          <a:ln w="12700">
            <a:solidFill>
              <a:srgbClr val="3D6C8D"/>
            </a:solidFill>
            <a:prstDash val="solid"/>
          </a:ln>
        </p:spPr>
      </p:sp>
      <p:sp>
        <p:nvSpPr>
          <p:cNvPr id="38" name="Text 36"/>
          <p:cNvSpPr/>
          <p:nvPr/>
        </p:nvSpPr>
        <p:spPr>
          <a:xfrm>
            <a:off x="2724912" y="3904488"/>
            <a:ext cx="1353312" cy="182880"/>
          </a:xfrm>
          <a:prstGeom prst="rect">
            <a:avLst/>
          </a:prstGeom>
          <a:noFill/>
          <a:ln/>
        </p:spPr>
        <p:txBody>
          <a:bodyPr wrap="square" rtlCol="0" anchor="ctr"/>
          <a:lstStyle/>
          <a:p>
            <a:pPr indent="0" marL="0">
              <a:buNone/>
            </a:pPr>
            <a:r>
              <a:rPr lang="en-US" sz="1030" b="1" dirty="0">
                <a:solidFill>
                  <a:srgbClr val="7A7A76"/>
                </a:solidFill>
                <a:latin typeface="Aptos" pitchFamily="34" charset="0"/>
                <a:ea typeface="Aptos" pitchFamily="34" charset="-122"/>
                <a:cs typeface="Aptos" pitchFamily="34" charset="-120"/>
              </a:rPr>
              <a:t>Scripts</a:t>
            </a:r>
            <a:endParaRPr lang="en-US" sz="1030" dirty="0"/>
          </a:p>
        </p:txBody>
      </p:sp>
      <p:sp>
        <p:nvSpPr>
          <p:cNvPr id="39" name="Text 37"/>
          <p:cNvSpPr/>
          <p:nvPr/>
        </p:nvSpPr>
        <p:spPr>
          <a:xfrm>
            <a:off x="2724912" y="4105656"/>
            <a:ext cx="1353312" cy="384048"/>
          </a:xfrm>
          <a:prstGeom prst="rect">
            <a:avLst/>
          </a:prstGeom>
          <a:noFill/>
          <a:ln/>
        </p:spPr>
        <p:txBody>
          <a:bodyPr wrap="square" rtlCol="0" anchor="ctr"/>
          <a:lstStyle/>
          <a:p>
            <a:pPr indent="0" marL="0">
              <a:buNone/>
            </a:pPr>
            <a:r>
              <a:rPr lang="en-US" sz="2200" b="1" dirty="0">
                <a:solidFill>
                  <a:srgbClr val="3D6C8D"/>
                </a:solidFill>
                <a:latin typeface="Bahnschrift" pitchFamily="34" charset="0"/>
                <a:ea typeface="Bahnschrift" pitchFamily="34" charset="-122"/>
                <a:cs typeface="Bahnschrift" pitchFamily="34" charset="-120"/>
              </a:rPr>
              <a:t>40</a:t>
            </a:r>
            <a:endParaRPr lang="en-US" sz="2200" dirty="0"/>
          </a:p>
        </p:txBody>
      </p:sp>
      <p:sp>
        <p:nvSpPr>
          <p:cNvPr id="40" name="Text 38"/>
          <p:cNvSpPr/>
          <p:nvPr/>
        </p:nvSpPr>
        <p:spPr>
          <a:xfrm>
            <a:off x="2724912" y="4553712"/>
            <a:ext cx="1353312" cy="54864"/>
          </a:xfrm>
          <a:prstGeom prst="rect">
            <a:avLst/>
          </a:prstGeom>
          <a:noFill/>
          <a:ln/>
        </p:spPr>
        <p:txBody>
          <a:bodyPr wrap="square" rtlCol="0" anchor="ctr"/>
          <a:lstStyle/>
          <a:p>
            <a:pPr indent="0" marL="0">
              <a:buNone/>
            </a:pPr>
            <a:r>
              <a:rPr lang="en-US" sz="950" dirty="0">
                <a:solidFill>
                  <a:srgbClr val="41576D"/>
                </a:solidFill>
                <a:latin typeface="Aptos" pitchFamily="34" charset="0"/>
                <a:ea typeface="Aptos" pitchFamily="34" charset="-122"/>
                <a:cs typeface="Aptos" pitchFamily="34" charset="-120"/>
              </a:rPr>
              <a:t>scripts/**/*.py</a:t>
            </a:r>
            <a:endParaRPr lang="en-US" sz="950" dirty="0"/>
          </a:p>
        </p:txBody>
      </p:sp>
      <p:sp>
        <p:nvSpPr>
          <p:cNvPr id="41" name="Shape 39"/>
          <p:cNvSpPr/>
          <p:nvPr/>
        </p:nvSpPr>
        <p:spPr>
          <a:xfrm>
            <a:off x="4407408" y="3794760"/>
            <a:ext cx="1645920" cy="896112"/>
          </a:xfrm>
          <a:prstGeom prst="rect">
            <a:avLst/>
          </a:prstGeom>
          <a:solidFill>
            <a:srgbClr val="E2F3F1"/>
          </a:solidFill>
          <a:ln w="12700">
            <a:solidFill>
              <a:srgbClr val="E2F3F1"/>
            </a:solidFill>
            <a:prstDash val="solid"/>
          </a:ln>
        </p:spPr>
      </p:sp>
      <p:sp>
        <p:nvSpPr>
          <p:cNvPr id="42" name="Shape 40"/>
          <p:cNvSpPr/>
          <p:nvPr/>
        </p:nvSpPr>
        <p:spPr>
          <a:xfrm>
            <a:off x="4407408" y="3794760"/>
            <a:ext cx="1645920" cy="36576"/>
          </a:xfrm>
          <a:prstGeom prst="rect">
            <a:avLst/>
          </a:prstGeom>
          <a:solidFill>
            <a:srgbClr val="2B7A78"/>
          </a:solidFill>
          <a:ln w="12700">
            <a:solidFill>
              <a:srgbClr val="2B7A78"/>
            </a:solidFill>
            <a:prstDash val="solid"/>
          </a:ln>
        </p:spPr>
      </p:sp>
      <p:sp>
        <p:nvSpPr>
          <p:cNvPr id="43" name="Text 41"/>
          <p:cNvSpPr/>
          <p:nvPr/>
        </p:nvSpPr>
        <p:spPr>
          <a:xfrm>
            <a:off x="4553712" y="3904488"/>
            <a:ext cx="1353312" cy="182880"/>
          </a:xfrm>
          <a:prstGeom prst="rect">
            <a:avLst/>
          </a:prstGeom>
          <a:noFill/>
          <a:ln/>
        </p:spPr>
        <p:txBody>
          <a:bodyPr wrap="square" rtlCol="0" anchor="ctr"/>
          <a:lstStyle/>
          <a:p>
            <a:pPr indent="0" marL="0">
              <a:buNone/>
            </a:pPr>
            <a:r>
              <a:rPr lang="en-US" sz="1030" b="1" dirty="0">
                <a:solidFill>
                  <a:srgbClr val="7A7A76"/>
                </a:solidFill>
                <a:latin typeface="Aptos" pitchFamily="34" charset="0"/>
                <a:ea typeface="Aptos" pitchFamily="34" charset="-122"/>
                <a:cs typeface="Aptos" pitchFamily="34" charset="-120"/>
              </a:rPr>
              <a:t>Test module</a:t>
            </a:r>
            <a:endParaRPr lang="en-US" sz="1030" dirty="0"/>
          </a:p>
        </p:txBody>
      </p:sp>
      <p:sp>
        <p:nvSpPr>
          <p:cNvPr id="44" name="Text 42"/>
          <p:cNvSpPr/>
          <p:nvPr/>
        </p:nvSpPr>
        <p:spPr>
          <a:xfrm>
            <a:off x="4553712" y="4105656"/>
            <a:ext cx="1353312" cy="384048"/>
          </a:xfrm>
          <a:prstGeom prst="rect">
            <a:avLst/>
          </a:prstGeom>
          <a:noFill/>
          <a:ln/>
        </p:spPr>
        <p:txBody>
          <a:bodyPr wrap="square" rtlCol="0" anchor="ctr"/>
          <a:lstStyle/>
          <a:p>
            <a:pPr indent="0" marL="0">
              <a:buNone/>
            </a:pPr>
            <a:r>
              <a:rPr lang="en-US" sz="2200" b="1" dirty="0">
                <a:solidFill>
                  <a:srgbClr val="2B7A78"/>
                </a:solidFill>
                <a:latin typeface="Bahnschrift" pitchFamily="34" charset="0"/>
                <a:ea typeface="Bahnschrift" pitchFamily="34" charset="-122"/>
                <a:cs typeface="Bahnschrift" pitchFamily="34" charset="-120"/>
              </a:rPr>
              <a:t>28</a:t>
            </a:r>
            <a:endParaRPr lang="en-US" sz="2200" dirty="0"/>
          </a:p>
        </p:txBody>
      </p:sp>
      <p:sp>
        <p:nvSpPr>
          <p:cNvPr id="45" name="Text 43"/>
          <p:cNvSpPr/>
          <p:nvPr/>
        </p:nvSpPr>
        <p:spPr>
          <a:xfrm>
            <a:off x="4553712" y="4553712"/>
            <a:ext cx="1353312" cy="54864"/>
          </a:xfrm>
          <a:prstGeom prst="rect">
            <a:avLst/>
          </a:prstGeom>
          <a:noFill/>
          <a:ln/>
        </p:spPr>
        <p:txBody>
          <a:bodyPr wrap="square" rtlCol="0" anchor="ctr"/>
          <a:lstStyle/>
          <a:p>
            <a:pPr indent="0" marL="0">
              <a:buNone/>
            </a:pPr>
            <a:r>
              <a:rPr lang="en-US" sz="950" dirty="0">
                <a:solidFill>
                  <a:srgbClr val="41576D"/>
                </a:solidFill>
                <a:latin typeface="Aptos" pitchFamily="34" charset="0"/>
                <a:ea typeface="Aptos" pitchFamily="34" charset="-122"/>
                <a:cs typeface="Aptos" pitchFamily="34" charset="-120"/>
              </a:rPr>
              <a:t>tests/test_*.py</a:t>
            </a:r>
            <a:endParaRPr lang="en-US" sz="950" dirty="0"/>
          </a:p>
        </p:txBody>
      </p:sp>
      <p:sp>
        <p:nvSpPr>
          <p:cNvPr id="46" name="Shape 44"/>
          <p:cNvSpPr/>
          <p:nvPr/>
        </p:nvSpPr>
        <p:spPr>
          <a:xfrm>
            <a:off x="6236208" y="3794760"/>
            <a:ext cx="1828800" cy="896112"/>
          </a:xfrm>
          <a:prstGeom prst="rect">
            <a:avLst/>
          </a:prstGeom>
          <a:solidFill>
            <a:srgbClr val="F6E7DA"/>
          </a:solidFill>
          <a:ln w="12700">
            <a:solidFill>
              <a:srgbClr val="F6E7DA"/>
            </a:solidFill>
            <a:prstDash val="solid"/>
          </a:ln>
        </p:spPr>
      </p:sp>
      <p:sp>
        <p:nvSpPr>
          <p:cNvPr id="47" name="Shape 45"/>
          <p:cNvSpPr/>
          <p:nvPr/>
        </p:nvSpPr>
        <p:spPr>
          <a:xfrm>
            <a:off x="6236208" y="3794760"/>
            <a:ext cx="1828800" cy="36576"/>
          </a:xfrm>
          <a:prstGeom prst="rect">
            <a:avLst/>
          </a:prstGeom>
          <a:solidFill>
            <a:srgbClr val="C96A2B"/>
          </a:solidFill>
          <a:ln w="12700">
            <a:solidFill>
              <a:srgbClr val="C96A2B"/>
            </a:solidFill>
            <a:prstDash val="solid"/>
          </a:ln>
        </p:spPr>
      </p:sp>
      <p:sp>
        <p:nvSpPr>
          <p:cNvPr id="48" name="Text 46"/>
          <p:cNvSpPr/>
          <p:nvPr/>
        </p:nvSpPr>
        <p:spPr>
          <a:xfrm>
            <a:off x="6382512" y="3904488"/>
            <a:ext cx="1536192" cy="182880"/>
          </a:xfrm>
          <a:prstGeom prst="rect">
            <a:avLst/>
          </a:prstGeom>
          <a:noFill/>
          <a:ln/>
        </p:spPr>
        <p:txBody>
          <a:bodyPr wrap="square" rtlCol="0" anchor="ctr"/>
          <a:lstStyle/>
          <a:p>
            <a:pPr indent="0" marL="0">
              <a:buNone/>
            </a:pPr>
            <a:r>
              <a:rPr lang="en-US" sz="1030" b="1" dirty="0">
                <a:solidFill>
                  <a:srgbClr val="7A7A76"/>
                </a:solidFill>
                <a:latin typeface="Aptos" pitchFamily="34" charset="0"/>
                <a:ea typeface="Aptos" pitchFamily="34" charset="-122"/>
                <a:cs typeface="Aptos" pitchFamily="34" charset="-120"/>
              </a:rPr>
              <a:t>Deploy artifact</a:t>
            </a:r>
            <a:endParaRPr lang="en-US" sz="1030" dirty="0"/>
          </a:p>
        </p:txBody>
      </p:sp>
      <p:sp>
        <p:nvSpPr>
          <p:cNvPr id="49" name="Text 47"/>
          <p:cNvSpPr/>
          <p:nvPr/>
        </p:nvSpPr>
        <p:spPr>
          <a:xfrm>
            <a:off x="6382512" y="4105656"/>
            <a:ext cx="1536192" cy="384048"/>
          </a:xfrm>
          <a:prstGeom prst="rect">
            <a:avLst/>
          </a:prstGeom>
          <a:noFill/>
          <a:ln/>
        </p:spPr>
        <p:txBody>
          <a:bodyPr wrap="square" rtlCol="0" anchor="ctr"/>
          <a:lstStyle/>
          <a:p>
            <a:pPr indent="0" marL="0">
              <a:buNone/>
            </a:pPr>
            <a:r>
              <a:rPr lang="en-US" sz="2200" b="1" dirty="0">
                <a:solidFill>
                  <a:srgbClr val="C96A2B"/>
                </a:solidFill>
                <a:latin typeface="Bahnschrift" pitchFamily="34" charset="0"/>
                <a:ea typeface="Bahnschrift" pitchFamily="34" charset="-122"/>
                <a:cs typeface="Bahnschrift" pitchFamily="34" charset="-120"/>
              </a:rPr>
              <a:t>4</a:t>
            </a:r>
            <a:endParaRPr lang="en-US" sz="2200" dirty="0"/>
          </a:p>
        </p:txBody>
      </p:sp>
      <p:sp>
        <p:nvSpPr>
          <p:cNvPr id="50" name="Text 48"/>
          <p:cNvSpPr/>
          <p:nvPr/>
        </p:nvSpPr>
        <p:spPr>
          <a:xfrm>
            <a:off x="6382512" y="4553712"/>
            <a:ext cx="1536192" cy="54864"/>
          </a:xfrm>
          <a:prstGeom prst="rect">
            <a:avLst/>
          </a:prstGeom>
          <a:noFill/>
          <a:ln/>
        </p:spPr>
        <p:txBody>
          <a:bodyPr wrap="square" rtlCol="0" anchor="ctr"/>
          <a:lstStyle/>
          <a:p>
            <a:pPr indent="0" marL="0">
              <a:buNone/>
            </a:pPr>
            <a:r>
              <a:rPr lang="en-US" sz="950" dirty="0">
                <a:solidFill>
                  <a:srgbClr val="41576D"/>
                </a:solidFill>
                <a:latin typeface="Aptos" pitchFamily="34" charset="0"/>
                <a:ea typeface="Aptos" pitchFamily="34" charset="-122"/>
                <a:cs typeface="Aptos" pitchFamily="34" charset="-120"/>
              </a:rPr>
              <a:t>systemd + nginx</a:t>
            </a:r>
            <a:endParaRPr lang="en-US" sz="950" dirty="0"/>
          </a:p>
        </p:txBody>
      </p:sp>
      <p:sp>
        <p:nvSpPr>
          <p:cNvPr id="51" name="Text 49"/>
          <p:cNvSpPr/>
          <p:nvPr/>
        </p:nvSpPr>
        <p:spPr>
          <a:xfrm>
            <a:off x="786384" y="4956048"/>
            <a:ext cx="10241280" cy="1051560"/>
          </a:xfrm>
          <a:prstGeom prst="rect">
            <a:avLst/>
          </a:prstGeom>
          <a:noFill/>
          <a:ln/>
        </p:spPr>
        <p:txBody>
          <a:bodyPr wrap="square" lIns="635" tIns="635" rIns="635" bIns="635" rtlCol="0" anchor="t"/>
          <a:lstStyle/>
          <a:p>
            <a:pPr marL="342900" indent="-342900">
              <a:buSzPct val="100000"/>
              <a:buChar char="•"/>
            </a:pPr>
            <a:r>
              <a:rPr lang="en-US" sz="1130" dirty="0">
                <a:solidFill>
                  <a:srgbClr val="41576D"/>
                </a:solidFill>
                <a:latin typeface="Aptos" pitchFamily="34" charset="0"/>
                <a:ea typeface="Aptos" pitchFamily="34" charset="-122"/>
                <a:cs typeface="Aptos" pitchFamily="34" charset="-120"/>
              </a:rPr>
              <a:t>Khối lượng repo cho thấy đề tài đã đi qua đầy đủ các giai đoạn: xử lý dữ liệu, thực nghiệm, đóng gói model, runtime realtime, live sensor và công cụ quan sát vận hành.</a:t>
            </a:r>
            <a:endParaRPr lang="en-US" sz="1130" dirty="0"/>
          </a:p>
          <a:p>
            <a:pPr marL="342900" indent="-342900">
              <a:buSzPct val="100000"/>
              <a:buChar char="•"/>
            </a:pPr>
            <a:r>
              <a:rPr lang="en-US" sz="1130" dirty="0">
                <a:solidFill>
                  <a:srgbClr val="41576D"/>
                </a:solidFill>
                <a:latin typeface="Aptos" pitchFamily="34" charset="0"/>
                <a:ea typeface="Aptos" pitchFamily="34" charset="-122"/>
                <a:cs typeface="Aptos" pitchFamily="34" charset="-120"/>
              </a:rPr>
              <a:t>Vì vậy trong bài thuyết trình nên nhấn mạnh đây là một hệ thống IDS hoàn chỉnh dựa trên ML, chứ không phải một bài benchmark đơn lẻ.</a:t>
            </a:r>
            <a:endParaRPr lang="en-US" sz="1130" dirty="0"/>
          </a:p>
        </p:txBody>
      </p:sp>
      <p:sp>
        <p:nvSpPr>
          <p:cNvPr id="52" name="Text 50"/>
          <p:cNvSpPr/>
          <p:nvPr/>
        </p:nvSpPr>
        <p:spPr>
          <a:xfrm>
            <a:off x="548640" y="6473952"/>
            <a:ext cx="9509760" cy="164592"/>
          </a:xfrm>
          <a:prstGeom prst="rect">
            <a:avLst/>
          </a:prstGeom>
          <a:noFill/>
          <a:ln/>
        </p:spPr>
        <p:txBody>
          <a:bodyPr wrap="square" rtlCol="0" anchor="ctr"/>
          <a:lstStyle/>
          <a:p>
            <a:pPr indent="0" marL="0">
              <a:buNone/>
            </a:pPr>
            <a:r>
              <a:rPr lang="en-US" sz="900" dirty="0">
                <a:solidFill>
                  <a:srgbClr val="7A7A76"/>
                </a:solidFill>
                <a:latin typeface="Aptos" pitchFamily="34" charset="0"/>
                <a:ea typeface="Aptos" pitchFamily="34" charset="-122"/>
                <a:cs typeface="Aptos" pitchFamily="34" charset="-120"/>
              </a:rPr>
              <a:t>Cách kể chuyện hiệu quả nhất là nhóm project thành 4 lớp: dữ liệu, thực nghiệm, runtime và vận hành.</a:t>
            </a:r>
            <a:endParaRPr lang="en-US" sz="900" dirty="0"/>
          </a:p>
        </p:txBody>
      </p:sp>
      <p:sp>
        <p:nvSpPr>
          <p:cNvPr id="25" name="Slide Number Placeholder 0"/>
          <p:cNvSpPr>
            <a:spLocks noGrp="1"/>
          </p:cNvSpPr>
          <p:nvPr>
            <p:ph type="sldNum" sz="quarter" idx="4294967295"/>
          </p:nvPr>
        </p:nvSpPr>
        <p:spPr>
          <a:xfrm>
            <a:off x="11475720" y="6446520"/>
            <a:ext cx="32004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7A7A76"/>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CF8F2"/>
        </a:solidFill>
      </p:bgPr>
    </p:bg>
    <p:spTree>
      <p:nvGrpSpPr>
        <p:cNvPr id="1" name=""/>
        <p:cNvGrpSpPr/>
        <p:nvPr/>
      </p:nvGrpSpPr>
      <p:grpSpPr>
        <a:xfrm>
          <a:off x="0" y="0"/>
          <a:ext cx="0" cy="0"/>
          <a:chOff x="0" y="0"/>
          <a:chExt cx="0" cy="0"/>
        </a:xfrm>
      </p:grpSpPr>
      <p:sp>
        <p:nvSpPr>
          <p:cNvPr id="2" name="Shape 0"/>
          <p:cNvSpPr/>
          <p:nvPr/>
        </p:nvSpPr>
        <p:spPr>
          <a:xfrm>
            <a:off x="0" y="0"/>
            <a:ext cx="12191695" cy="219456"/>
          </a:xfrm>
          <a:prstGeom prst="rect">
            <a:avLst/>
          </a:prstGeom>
          <a:solidFill>
            <a:srgbClr val="0E1B2A"/>
          </a:solidFill>
          <a:ln w="12700">
            <a:solidFill>
              <a:srgbClr val="0E1B2A"/>
            </a:solidFill>
            <a:prstDash val="solid"/>
          </a:ln>
        </p:spPr>
      </p:sp>
      <p:sp>
        <p:nvSpPr>
          <p:cNvPr id="3" name="Shape 1"/>
          <p:cNvSpPr/>
          <p:nvPr/>
        </p:nvSpPr>
        <p:spPr>
          <a:xfrm>
            <a:off x="566928" y="713232"/>
            <a:ext cx="54864" cy="859536"/>
          </a:xfrm>
          <a:prstGeom prst="rect">
            <a:avLst/>
          </a:prstGeom>
          <a:solidFill>
            <a:srgbClr val="C96A2B"/>
          </a:solidFill>
          <a:ln w="12700">
            <a:solidFill>
              <a:srgbClr val="C96A2B"/>
            </a:solidFill>
            <a:prstDash val="solid"/>
          </a:ln>
        </p:spPr>
      </p:sp>
      <p:sp>
        <p:nvSpPr>
          <p:cNvPr id="4" name="Shape 2"/>
          <p:cNvSpPr/>
          <p:nvPr/>
        </p:nvSpPr>
        <p:spPr>
          <a:xfrm>
            <a:off x="9555480" y="822960"/>
            <a:ext cx="2011680" cy="36576"/>
          </a:xfrm>
          <a:prstGeom prst="rect">
            <a:avLst/>
          </a:prstGeom>
          <a:solidFill>
            <a:srgbClr val="C96A2B">
              <a:alpha val="72000"/>
            </a:srgbClr>
          </a:solidFill>
          <a:ln w="12700">
            <a:solidFill>
              <a:srgbClr val="C96A2B">
                <a:alpha val="72000"/>
              </a:srgbClr>
            </a:solidFill>
            <a:prstDash val="solid"/>
          </a:ln>
        </p:spPr>
      </p:sp>
      <p:sp>
        <p:nvSpPr>
          <p:cNvPr id="5" name="Shape 3"/>
          <p:cNvSpPr/>
          <p:nvPr/>
        </p:nvSpPr>
        <p:spPr>
          <a:xfrm>
            <a:off x="10469880" y="292608"/>
            <a:ext cx="1078992" cy="1078992"/>
          </a:xfrm>
          <a:prstGeom prst="ellipse">
            <a:avLst/>
          </a:prstGeom>
          <a:solidFill>
            <a:srgbClr val="C96A2B">
              <a:alpha val="0"/>
            </a:srgbClr>
          </a:solidFill>
          <a:ln w="12700">
            <a:solidFill>
              <a:srgbClr val="C96A2B">
                <a:alpha val="18000"/>
              </a:srgbClr>
            </a:solidFill>
            <a:prstDash val="solid"/>
          </a:ln>
        </p:spPr>
      </p:sp>
      <p:sp>
        <p:nvSpPr>
          <p:cNvPr id="6" name="Shape 4"/>
          <p:cNvSpPr/>
          <p:nvPr/>
        </p:nvSpPr>
        <p:spPr>
          <a:xfrm>
            <a:off x="73152" y="5257800"/>
            <a:ext cx="987552" cy="987552"/>
          </a:xfrm>
          <a:prstGeom prst="ellipse">
            <a:avLst/>
          </a:prstGeom>
          <a:solidFill>
            <a:srgbClr val="2B7A78">
              <a:alpha val="0"/>
            </a:srgbClr>
          </a:solidFill>
          <a:ln w="12700">
            <a:solidFill>
              <a:srgbClr val="2B7A78">
                <a:alpha val="14000"/>
              </a:srgbClr>
            </a:solidFill>
            <a:prstDash val="solid"/>
          </a:ln>
        </p:spPr>
      </p:sp>
      <p:sp>
        <p:nvSpPr>
          <p:cNvPr id="7" name="Text 5"/>
          <p:cNvSpPr/>
          <p:nvPr/>
        </p:nvSpPr>
        <p:spPr>
          <a:xfrm>
            <a:off x="768096" y="603504"/>
            <a:ext cx="4023360" cy="237744"/>
          </a:xfrm>
          <a:prstGeom prst="rect">
            <a:avLst/>
          </a:prstGeom>
          <a:noFill/>
          <a:ln/>
        </p:spPr>
        <p:txBody>
          <a:bodyPr wrap="square" rtlCol="0" anchor="ctr"/>
          <a:lstStyle/>
          <a:p>
            <a:pPr indent="0" marL="0">
              <a:buNone/>
            </a:pPr>
            <a:r>
              <a:rPr lang="en-US" sz="1100" b="1" dirty="0">
                <a:solidFill>
                  <a:srgbClr val="C96A2B"/>
                </a:solidFill>
                <a:latin typeface="Bahnschrift" pitchFamily="34" charset="0"/>
                <a:ea typeface="Bahnschrift" pitchFamily="34" charset="-122"/>
                <a:cs typeface="Bahnschrift" pitchFamily="34" charset="-120"/>
              </a:rPr>
              <a:t>03  DATASET</a:t>
            </a:r>
            <a:endParaRPr lang="en-US" sz="1100" dirty="0"/>
          </a:p>
        </p:txBody>
      </p:sp>
      <p:sp>
        <p:nvSpPr>
          <p:cNvPr id="8" name="Text 6"/>
          <p:cNvSpPr/>
          <p:nvPr/>
        </p:nvSpPr>
        <p:spPr>
          <a:xfrm>
            <a:off x="768096" y="859536"/>
            <a:ext cx="8001000" cy="457200"/>
          </a:xfrm>
          <a:prstGeom prst="rect">
            <a:avLst/>
          </a:prstGeom>
          <a:noFill/>
          <a:ln/>
        </p:spPr>
        <p:txBody>
          <a:bodyPr wrap="square" rtlCol="0" anchor="ctr"/>
          <a:lstStyle/>
          <a:p>
            <a:pPr indent="0" marL="0">
              <a:buNone/>
            </a:pPr>
            <a:r>
              <a:rPr lang="en-US" sz="2500" b="1" dirty="0">
                <a:solidFill>
                  <a:srgbClr val="0E1B2A"/>
                </a:solidFill>
                <a:latin typeface="Bahnschrift" pitchFamily="34" charset="0"/>
                <a:ea typeface="Bahnschrift" pitchFamily="34" charset="-122"/>
                <a:cs typeface="Bahnschrift" pitchFamily="34" charset="-120"/>
              </a:rPr>
              <a:t>Dữ liệu và tiền xử lý</a:t>
            </a:r>
            <a:endParaRPr lang="en-US" sz="2500" dirty="0"/>
          </a:p>
        </p:txBody>
      </p:sp>
      <p:sp>
        <p:nvSpPr>
          <p:cNvPr id="9" name="Shape 7"/>
          <p:cNvSpPr/>
          <p:nvPr/>
        </p:nvSpPr>
        <p:spPr>
          <a:xfrm>
            <a:off x="768096" y="1389888"/>
            <a:ext cx="1965960" cy="36576"/>
          </a:xfrm>
          <a:prstGeom prst="rect">
            <a:avLst/>
          </a:prstGeom>
          <a:solidFill>
            <a:srgbClr val="C96A2B"/>
          </a:solidFill>
          <a:ln w="12700">
            <a:solidFill>
              <a:srgbClr val="C96A2B"/>
            </a:solidFill>
            <a:prstDash val="solid"/>
          </a:ln>
        </p:spPr>
      </p:sp>
      <p:sp>
        <p:nvSpPr>
          <p:cNvPr id="10" name="Text 8"/>
          <p:cNvSpPr/>
          <p:nvPr/>
        </p:nvSpPr>
        <p:spPr>
          <a:xfrm>
            <a:off x="10808208" y="566928"/>
            <a:ext cx="502920" cy="237744"/>
          </a:xfrm>
          <a:prstGeom prst="rect">
            <a:avLst/>
          </a:prstGeom>
          <a:noFill/>
          <a:ln/>
        </p:spPr>
        <p:txBody>
          <a:bodyPr wrap="square" rtlCol="0" anchor="ctr"/>
          <a:lstStyle/>
          <a:p>
            <a:pPr algn="r" indent="0" marL="0">
              <a:buNone/>
            </a:pPr>
            <a:r>
              <a:rPr lang="en-US" sz="1200" b="1" dirty="0">
                <a:solidFill>
                  <a:srgbClr val="7A7A76"/>
                </a:solidFill>
                <a:latin typeface="Bahnschrift" pitchFamily="34" charset="0"/>
                <a:ea typeface="Bahnschrift" pitchFamily="34" charset="-122"/>
                <a:cs typeface="Bahnschrift" pitchFamily="34" charset="-120"/>
              </a:rPr>
              <a:t>04</a:t>
            </a:r>
            <a:endParaRPr lang="en-US" sz="1200" dirty="0"/>
          </a:p>
        </p:txBody>
      </p:sp>
      <p:sp>
        <p:nvSpPr>
          <p:cNvPr id="11" name="Shape 9"/>
          <p:cNvSpPr/>
          <p:nvPr/>
        </p:nvSpPr>
        <p:spPr>
          <a:xfrm>
            <a:off x="658368" y="1499616"/>
            <a:ext cx="4389120" cy="1417320"/>
          </a:xfrm>
          <a:prstGeom prst="rect">
            <a:avLst/>
          </a:prstGeom>
          <a:solidFill>
            <a:srgbClr val="F6E7DA"/>
          </a:solidFill>
          <a:ln w="12700">
            <a:solidFill>
              <a:srgbClr val="F6E7DA"/>
            </a:solidFill>
            <a:prstDash val="solid"/>
          </a:ln>
        </p:spPr>
      </p:sp>
      <p:sp>
        <p:nvSpPr>
          <p:cNvPr id="12" name="Shape 10"/>
          <p:cNvSpPr/>
          <p:nvPr/>
        </p:nvSpPr>
        <p:spPr>
          <a:xfrm>
            <a:off x="658368" y="1499616"/>
            <a:ext cx="73152" cy="1417320"/>
          </a:xfrm>
          <a:prstGeom prst="rect">
            <a:avLst/>
          </a:prstGeom>
          <a:solidFill>
            <a:srgbClr val="C96A2B"/>
          </a:solidFill>
          <a:ln w="12700">
            <a:solidFill>
              <a:srgbClr val="C96A2B"/>
            </a:solidFill>
            <a:prstDash val="solid"/>
          </a:ln>
        </p:spPr>
      </p:sp>
      <p:sp>
        <p:nvSpPr>
          <p:cNvPr id="13" name="Shape 11"/>
          <p:cNvSpPr/>
          <p:nvPr/>
        </p:nvSpPr>
        <p:spPr>
          <a:xfrm>
            <a:off x="804672" y="1627632"/>
            <a:ext cx="475488" cy="27432"/>
          </a:xfrm>
          <a:prstGeom prst="rect">
            <a:avLst/>
          </a:prstGeom>
          <a:solidFill>
            <a:srgbClr val="C96A2B"/>
          </a:solidFill>
          <a:ln w="12700">
            <a:solidFill>
              <a:srgbClr val="C96A2B"/>
            </a:solidFill>
            <a:prstDash val="solid"/>
          </a:ln>
        </p:spPr>
      </p:sp>
      <p:sp>
        <p:nvSpPr>
          <p:cNvPr id="14" name="Text 12"/>
          <p:cNvSpPr/>
          <p:nvPr/>
        </p:nvSpPr>
        <p:spPr>
          <a:xfrm>
            <a:off x="859536" y="1719072"/>
            <a:ext cx="4078224" cy="219456"/>
          </a:xfrm>
          <a:prstGeom prst="rect">
            <a:avLst/>
          </a:prstGeom>
          <a:noFill/>
          <a:ln/>
        </p:spPr>
        <p:txBody>
          <a:bodyPr wrap="square" rtlCol="0" anchor="ctr"/>
          <a:lstStyle/>
          <a:p>
            <a:pPr indent="0" marL="0">
              <a:buNone/>
            </a:pPr>
            <a:r>
              <a:rPr lang="en-US" sz="1450" b="1" dirty="0">
                <a:solidFill>
                  <a:srgbClr val="0E1B2A"/>
                </a:solidFill>
                <a:latin typeface="Bahnschrift" pitchFamily="34" charset="0"/>
                <a:ea typeface="Bahnschrift" pitchFamily="34" charset="-122"/>
                <a:cs typeface="Bahnschrift" pitchFamily="34" charset="-120"/>
              </a:rPr>
              <a:t>Dataset chọn cho đề tài</a:t>
            </a:r>
            <a:endParaRPr lang="en-US" sz="1450" dirty="0"/>
          </a:p>
        </p:txBody>
      </p:sp>
      <p:sp>
        <p:nvSpPr>
          <p:cNvPr id="15" name="Text 13"/>
          <p:cNvSpPr/>
          <p:nvPr/>
        </p:nvSpPr>
        <p:spPr>
          <a:xfrm>
            <a:off x="859536" y="2048256"/>
            <a:ext cx="4078224" cy="740664"/>
          </a:xfrm>
          <a:prstGeom prst="rect">
            <a:avLst/>
          </a:prstGeom>
          <a:noFill/>
          <a:ln/>
        </p:spPr>
        <p:txBody>
          <a:bodyPr wrap="square" lIns="254" tIns="254" rIns="254" bIns="254" rtlCol="0" anchor="t"/>
          <a:lstStyle/>
          <a:p>
            <a:pPr indent="0" marL="0">
              <a:buNone/>
            </a:pPr>
            <a:r>
              <a:rPr lang="en-US" sz="1050" dirty="0">
                <a:solidFill>
                  <a:srgbClr val="41576D"/>
                </a:solidFill>
                <a:latin typeface="Aptos" pitchFamily="34" charset="0"/>
                <a:ea typeface="Aptos" pitchFamily="34" charset="-122"/>
                <a:cs typeface="Aptos" pitchFamily="34" charset="-120"/>
              </a:rPr>
              <a:t>CIC IoT-DIAD 2024, nhánh "Anomaly Detection - Flow Based features". Đây là bộ dữ liệu mới, đúng ngữ cảnh IDS và phù hợp trực tiếp với pipeline traffic -&gt; flow features -&gt; model -&gt; alert.</a:t>
            </a:r>
            <a:endParaRPr lang="en-US" sz="1050" dirty="0"/>
          </a:p>
        </p:txBody>
      </p:sp>
      <p:sp>
        <p:nvSpPr>
          <p:cNvPr id="16" name="Shape 14"/>
          <p:cNvSpPr/>
          <p:nvPr/>
        </p:nvSpPr>
        <p:spPr>
          <a:xfrm>
            <a:off x="786384" y="3063240"/>
            <a:ext cx="5257800" cy="658368"/>
          </a:xfrm>
          <a:prstGeom prst="rect">
            <a:avLst/>
          </a:prstGeom>
          <a:solidFill>
            <a:srgbClr val="E7F0F6"/>
          </a:solidFill>
          <a:ln w="12700">
            <a:solidFill>
              <a:srgbClr val="E7F0F6"/>
            </a:solidFill>
            <a:prstDash val="solid"/>
          </a:ln>
        </p:spPr>
      </p:sp>
      <p:sp>
        <p:nvSpPr>
          <p:cNvPr id="17" name="Shape 15"/>
          <p:cNvSpPr/>
          <p:nvPr/>
        </p:nvSpPr>
        <p:spPr>
          <a:xfrm>
            <a:off x="786384" y="3063240"/>
            <a:ext cx="73152" cy="658368"/>
          </a:xfrm>
          <a:prstGeom prst="rect">
            <a:avLst/>
          </a:prstGeom>
          <a:solidFill>
            <a:srgbClr val="3D6C8D"/>
          </a:solidFill>
          <a:ln w="12700">
            <a:solidFill>
              <a:srgbClr val="3D6C8D"/>
            </a:solidFill>
            <a:prstDash val="solid"/>
          </a:ln>
        </p:spPr>
      </p:sp>
      <p:sp>
        <p:nvSpPr>
          <p:cNvPr id="18" name="Shape 16"/>
          <p:cNvSpPr/>
          <p:nvPr/>
        </p:nvSpPr>
        <p:spPr>
          <a:xfrm>
            <a:off x="932688" y="3191256"/>
            <a:ext cx="347472" cy="27432"/>
          </a:xfrm>
          <a:prstGeom prst="rect">
            <a:avLst/>
          </a:prstGeom>
          <a:solidFill>
            <a:srgbClr val="3D6C8D"/>
          </a:solidFill>
          <a:ln w="12700">
            <a:solidFill>
              <a:srgbClr val="3D6C8D"/>
            </a:solidFill>
            <a:prstDash val="solid"/>
          </a:ln>
        </p:spPr>
      </p:sp>
      <p:sp>
        <p:nvSpPr>
          <p:cNvPr id="19" name="Text 17"/>
          <p:cNvSpPr/>
          <p:nvPr/>
        </p:nvSpPr>
        <p:spPr>
          <a:xfrm>
            <a:off x="987552" y="3246120"/>
            <a:ext cx="4946904" cy="219456"/>
          </a:xfrm>
          <a:prstGeom prst="rect">
            <a:avLst/>
          </a:prstGeom>
          <a:noFill/>
          <a:ln/>
        </p:spPr>
        <p:txBody>
          <a:bodyPr wrap="square" rtlCol="0" anchor="ctr"/>
          <a:lstStyle/>
          <a:p>
            <a:pPr indent="0" marL="0">
              <a:buNone/>
            </a:pPr>
            <a:r>
              <a:rPr lang="en-US" sz="1280" b="1" dirty="0">
                <a:solidFill>
                  <a:srgbClr val="0E1B2A"/>
                </a:solidFill>
                <a:latin typeface="Bahnschrift" pitchFamily="34" charset="0"/>
                <a:ea typeface="Bahnschrift" pitchFamily="34" charset="-122"/>
                <a:cs typeface="Bahnschrift" pitchFamily="34" charset="-120"/>
              </a:rPr>
              <a:t>Phân bố split đã freeze</a:t>
            </a:r>
            <a:endParaRPr lang="en-US" sz="1280" dirty="0"/>
          </a:p>
        </p:txBody>
      </p:sp>
      <p:sp>
        <p:nvSpPr>
          <p:cNvPr id="20" name="Text 18"/>
          <p:cNvSpPr/>
          <p:nvPr/>
        </p:nvSpPr>
        <p:spPr>
          <a:xfrm>
            <a:off x="987552" y="3429000"/>
            <a:ext cx="4946904" cy="201168"/>
          </a:xfrm>
          <a:prstGeom prst="rect">
            <a:avLst/>
          </a:prstGeom>
          <a:noFill/>
          <a:ln/>
        </p:spPr>
        <p:txBody>
          <a:bodyPr wrap="square" lIns="254" tIns="254" rIns="254" bIns="254" rtlCol="0" anchor="t"/>
          <a:lstStyle/>
          <a:p>
            <a:pPr indent="0" marL="0">
              <a:buNone/>
            </a:pPr>
            <a:r>
              <a:rPr lang="en-US" sz="960" dirty="0">
                <a:solidFill>
                  <a:srgbClr val="41576D"/>
                </a:solidFill>
                <a:latin typeface="Aptos" pitchFamily="34" charset="0"/>
                <a:ea typeface="Aptos" pitchFamily="34" charset="-122"/>
                <a:cs typeface="Aptos" pitchFamily="34" charset="-120"/>
              </a:rPr>
              <a:t>Toàn bộ benchmark, tuning, scaling và đánh giá OOD đều dùng cùng một protocol dữ liệu đã khóa.</a:t>
            </a:r>
            <a:endParaRPr lang="en-US" sz="960" dirty="0"/>
          </a:p>
        </p:txBody>
      </p:sp>
      <p:sp>
        <p:nvSpPr>
          <p:cNvPr id="21" name="Shape 19"/>
          <p:cNvSpPr/>
          <p:nvPr/>
        </p:nvSpPr>
        <p:spPr>
          <a:xfrm>
            <a:off x="960120" y="3822192"/>
            <a:ext cx="1783080" cy="868680"/>
          </a:xfrm>
          <a:prstGeom prst="rect">
            <a:avLst/>
          </a:prstGeom>
          <a:solidFill>
            <a:srgbClr val="F2E8DC"/>
          </a:solidFill>
          <a:ln w="12700">
            <a:solidFill>
              <a:srgbClr val="F2E8DC"/>
            </a:solidFill>
            <a:prstDash val="solid"/>
          </a:ln>
        </p:spPr>
      </p:sp>
      <p:sp>
        <p:nvSpPr>
          <p:cNvPr id="22" name="Shape 20"/>
          <p:cNvSpPr/>
          <p:nvPr/>
        </p:nvSpPr>
        <p:spPr>
          <a:xfrm>
            <a:off x="960120" y="3822192"/>
            <a:ext cx="1783080" cy="36576"/>
          </a:xfrm>
          <a:prstGeom prst="rect">
            <a:avLst/>
          </a:prstGeom>
          <a:solidFill>
            <a:srgbClr val="0E1B2A"/>
          </a:solidFill>
          <a:ln w="12700">
            <a:solidFill>
              <a:srgbClr val="0E1B2A"/>
            </a:solidFill>
            <a:prstDash val="solid"/>
          </a:ln>
        </p:spPr>
      </p:sp>
      <p:sp>
        <p:nvSpPr>
          <p:cNvPr id="23" name="Text 21"/>
          <p:cNvSpPr/>
          <p:nvPr/>
        </p:nvSpPr>
        <p:spPr>
          <a:xfrm>
            <a:off x="1106424" y="3931920"/>
            <a:ext cx="1490472" cy="182880"/>
          </a:xfrm>
          <a:prstGeom prst="rect">
            <a:avLst/>
          </a:prstGeom>
          <a:noFill/>
          <a:ln/>
        </p:spPr>
        <p:txBody>
          <a:bodyPr wrap="square" rtlCol="0" anchor="ctr"/>
          <a:lstStyle/>
          <a:p>
            <a:pPr indent="0" marL="0">
              <a:buNone/>
            </a:pPr>
            <a:r>
              <a:rPr lang="en-US" sz="1030" b="1" dirty="0">
                <a:solidFill>
                  <a:srgbClr val="7A7A76"/>
                </a:solidFill>
                <a:latin typeface="Aptos" pitchFamily="34" charset="0"/>
                <a:ea typeface="Aptos" pitchFamily="34" charset="-122"/>
                <a:cs typeface="Aptos" pitchFamily="34" charset="-120"/>
              </a:rPr>
              <a:t>Train</a:t>
            </a:r>
            <a:endParaRPr lang="en-US" sz="1030" dirty="0"/>
          </a:p>
        </p:txBody>
      </p:sp>
      <p:sp>
        <p:nvSpPr>
          <p:cNvPr id="24" name="Text 22"/>
          <p:cNvSpPr/>
          <p:nvPr/>
        </p:nvSpPr>
        <p:spPr>
          <a:xfrm>
            <a:off x="1106424" y="4133088"/>
            <a:ext cx="1490472" cy="384048"/>
          </a:xfrm>
          <a:prstGeom prst="rect">
            <a:avLst/>
          </a:prstGeom>
          <a:noFill/>
          <a:ln/>
        </p:spPr>
        <p:txBody>
          <a:bodyPr wrap="square" rtlCol="0" anchor="ctr"/>
          <a:lstStyle/>
          <a:p>
            <a:pPr indent="0" marL="0">
              <a:buNone/>
            </a:pPr>
            <a:r>
              <a:rPr lang="en-US" sz="2200" b="1" dirty="0">
                <a:solidFill>
                  <a:srgbClr val="0E1B2A"/>
                </a:solidFill>
                <a:latin typeface="Bahnschrift" pitchFamily="34" charset="0"/>
                <a:ea typeface="Bahnschrift" pitchFamily="34" charset="-122"/>
                <a:cs typeface="Bahnschrift" pitchFamily="34" charset="-120"/>
              </a:rPr>
              <a:t>18.68M</a:t>
            </a:r>
            <a:endParaRPr lang="en-US" sz="2200" dirty="0"/>
          </a:p>
        </p:txBody>
      </p:sp>
      <p:sp>
        <p:nvSpPr>
          <p:cNvPr id="25" name="Text 23"/>
          <p:cNvSpPr/>
          <p:nvPr/>
        </p:nvSpPr>
        <p:spPr>
          <a:xfrm>
            <a:off x="1106424" y="4581144"/>
            <a:ext cx="1490472" cy="27432"/>
          </a:xfrm>
          <a:prstGeom prst="rect">
            <a:avLst/>
          </a:prstGeom>
          <a:noFill/>
          <a:ln/>
        </p:spPr>
        <p:txBody>
          <a:bodyPr wrap="square" rtlCol="0" anchor="ctr"/>
          <a:lstStyle/>
          <a:p>
            <a:pPr indent="0" marL="0">
              <a:buNone/>
            </a:pPr>
            <a:r>
              <a:rPr lang="en-US" sz="950" dirty="0">
                <a:solidFill>
                  <a:srgbClr val="41576D"/>
                </a:solidFill>
                <a:latin typeface="Aptos" pitchFamily="34" charset="0"/>
                <a:ea typeface="Aptos" pitchFamily="34" charset="-122"/>
                <a:cs typeface="Aptos" pitchFamily="34" charset="-120"/>
              </a:rPr>
              <a:t>Tập học chính</a:t>
            </a:r>
            <a:endParaRPr lang="en-US" sz="950" dirty="0"/>
          </a:p>
        </p:txBody>
      </p:sp>
      <p:sp>
        <p:nvSpPr>
          <p:cNvPr id="26" name="Shape 24"/>
          <p:cNvSpPr/>
          <p:nvPr/>
        </p:nvSpPr>
        <p:spPr>
          <a:xfrm>
            <a:off x="2880360" y="3822192"/>
            <a:ext cx="1783080" cy="868680"/>
          </a:xfrm>
          <a:prstGeom prst="rect">
            <a:avLst/>
          </a:prstGeom>
          <a:solidFill>
            <a:srgbClr val="E7F0F6"/>
          </a:solidFill>
          <a:ln w="12700">
            <a:solidFill>
              <a:srgbClr val="E7F0F6"/>
            </a:solidFill>
            <a:prstDash val="solid"/>
          </a:ln>
        </p:spPr>
      </p:sp>
      <p:sp>
        <p:nvSpPr>
          <p:cNvPr id="27" name="Shape 25"/>
          <p:cNvSpPr/>
          <p:nvPr/>
        </p:nvSpPr>
        <p:spPr>
          <a:xfrm>
            <a:off x="2880360" y="3822192"/>
            <a:ext cx="1783080" cy="36576"/>
          </a:xfrm>
          <a:prstGeom prst="rect">
            <a:avLst/>
          </a:prstGeom>
          <a:solidFill>
            <a:srgbClr val="3D6C8D"/>
          </a:solidFill>
          <a:ln w="12700">
            <a:solidFill>
              <a:srgbClr val="3D6C8D"/>
            </a:solidFill>
            <a:prstDash val="solid"/>
          </a:ln>
        </p:spPr>
      </p:sp>
      <p:sp>
        <p:nvSpPr>
          <p:cNvPr id="28" name="Text 26"/>
          <p:cNvSpPr/>
          <p:nvPr/>
        </p:nvSpPr>
        <p:spPr>
          <a:xfrm>
            <a:off x="3026664" y="3931920"/>
            <a:ext cx="1490472" cy="182880"/>
          </a:xfrm>
          <a:prstGeom prst="rect">
            <a:avLst/>
          </a:prstGeom>
          <a:noFill/>
          <a:ln/>
        </p:spPr>
        <p:txBody>
          <a:bodyPr wrap="square" rtlCol="0" anchor="ctr"/>
          <a:lstStyle/>
          <a:p>
            <a:pPr indent="0" marL="0">
              <a:buNone/>
            </a:pPr>
            <a:r>
              <a:rPr lang="en-US" sz="1030" b="1" dirty="0">
                <a:solidFill>
                  <a:srgbClr val="7A7A76"/>
                </a:solidFill>
                <a:latin typeface="Aptos" pitchFamily="34" charset="0"/>
                <a:ea typeface="Aptos" pitchFamily="34" charset="-122"/>
                <a:cs typeface="Aptos" pitchFamily="34" charset="-120"/>
              </a:rPr>
              <a:t>Validation</a:t>
            </a:r>
            <a:endParaRPr lang="en-US" sz="1030" dirty="0"/>
          </a:p>
        </p:txBody>
      </p:sp>
      <p:sp>
        <p:nvSpPr>
          <p:cNvPr id="29" name="Text 27"/>
          <p:cNvSpPr/>
          <p:nvPr/>
        </p:nvSpPr>
        <p:spPr>
          <a:xfrm>
            <a:off x="3026664" y="4133088"/>
            <a:ext cx="1490472" cy="384048"/>
          </a:xfrm>
          <a:prstGeom prst="rect">
            <a:avLst/>
          </a:prstGeom>
          <a:noFill/>
          <a:ln/>
        </p:spPr>
        <p:txBody>
          <a:bodyPr wrap="square" rtlCol="0" anchor="ctr"/>
          <a:lstStyle/>
          <a:p>
            <a:pPr indent="0" marL="0">
              <a:buNone/>
            </a:pPr>
            <a:r>
              <a:rPr lang="en-US" sz="2200" b="1" dirty="0">
                <a:solidFill>
                  <a:srgbClr val="3D6C8D"/>
                </a:solidFill>
                <a:latin typeface="Bahnschrift" pitchFamily="34" charset="0"/>
                <a:ea typeface="Bahnschrift" pitchFamily="34" charset="-122"/>
                <a:cs typeface="Bahnschrift" pitchFamily="34" charset="-120"/>
              </a:rPr>
              <a:t>4.41M</a:t>
            </a:r>
            <a:endParaRPr lang="en-US" sz="2200" dirty="0"/>
          </a:p>
        </p:txBody>
      </p:sp>
      <p:sp>
        <p:nvSpPr>
          <p:cNvPr id="30" name="Text 28"/>
          <p:cNvSpPr/>
          <p:nvPr/>
        </p:nvSpPr>
        <p:spPr>
          <a:xfrm>
            <a:off x="3026664" y="4581144"/>
            <a:ext cx="1490472" cy="27432"/>
          </a:xfrm>
          <a:prstGeom prst="rect">
            <a:avLst/>
          </a:prstGeom>
          <a:noFill/>
          <a:ln/>
        </p:spPr>
        <p:txBody>
          <a:bodyPr wrap="square" rtlCol="0" anchor="ctr"/>
          <a:lstStyle/>
          <a:p>
            <a:pPr indent="0" marL="0">
              <a:buNone/>
            </a:pPr>
            <a:r>
              <a:rPr lang="en-US" sz="950" dirty="0">
                <a:solidFill>
                  <a:srgbClr val="41576D"/>
                </a:solidFill>
                <a:latin typeface="Aptos" pitchFamily="34" charset="0"/>
                <a:ea typeface="Aptos" pitchFamily="34" charset="-122"/>
                <a:cs typeface="Aptos" pitchFamily="34" charset="-120"/>
              </a:rPr>
              <a:t>Chọn threshold / tuning</a:t>
            </a:r>
            <a:endParaRPr lang="en-US" sz="950" dirty="0"/>
          </a:p>
        </p:txBody>
      </p:sp>
      <p:sp>
        <p:nvSpPr>
          <p:cNvPr id="31" name="Shape 29"/>
          <p:cNvSpPr/>
          <p:nvPr/>
        </p:nvSpPr>
        <p:spPr>
          <a:xfrm>
            <a:off x="960120" y="4828032"/>
            <a:ext cx="1783080" cy="868680"/>
          </a:xfrm>
          <a:prstGeom prst="rect">
            <a:avLst/>
          </a:prstGeom>
          <a:solidFill>
            <a:srgbClr val="E2F3F1"/>
          </a:solidFill>
          <a:ln w="12700">
            <a:solidFill>
              <a:srgbClr val="E2F3F1"/>
            </a:solidFill>
            <a:prstDash val="solid"/>
          </a:ln>
        </p:spPr>
      </p:sp>
      <p:sp>
        <p:nvSpPr>
          <p:cNvPr id="32" name="Shape 30"/>
          <p:cNvSpPr/>
          <p:nvPr/>
        </p:nvSpPr>
        <p:spPr>
          <a:xfrm>
            <a:off x="960120" y="4828032"/>
            <a:ext cx="1783080" cy="36576"/>
          </a:xfrm>
          <a:prstGeom prst="rect">
            <a:avLst/>
          </a:prstGeom>
          <a:solidFill>
            <a:srgbClr val="2B7A78"/>
          </a:solidFill>
          <a:ln w="12700">
            <a:solidFill>
              <a:srgbClr val="2B7A78"/>
            </a:solidFill>
            <a:prstDash val="solid"/>
          </a:ln>
        </p:spPr>
      </p:sp>
      <p:sp>
        <p:nvSpPr>
          <p:cNvPr id="33" name="Text 31"/>
          <p:cNvSpPr/>
          <p:nvPr/>
        </p:nvSpPr>
        <p:spPr>
          <a:xfrm>
            <a:off x="1106424" y="4937760"/>
            <a:ext cx="1490472" cy="182880"/>
          </a:xfrm>
          <a:prstGeom prst="rect">
            <a:avLst/>
          </a:prstGeom>
          <a:noFill/>
          <a:ln/>
        </p:spPr>
        <p:txBody>
          <a:bodyPr wrap="square" rtlCol="0" anchor="ctr"/>
          <a:lstStyle/>
          <a:p>
            <a:pPr indent="0" marL="0">
              <a:buNone/>
            </a:pPr>
            <a:r>
              <a:rPr lang="en-US" sz="1030" b="1" dirty="0">
                <a:solidFill>
                  <a:srgbClr val="7A7A76"/>
                </a:solidFill>
                <a:latin typeface="Aptos" pitchFamily="34" charset="0"/>
                <a:ea typeface="Aptos" pitchFamily="34" charset="-122"/>
                <a:cs typeface="Aptos" pitchFamily="34" charset="-120"/>
              </a:rPr>
              <a:t>Test</a:t>
            </a:r>
            <a:endParaRPr lang="en-US" sz="1030" dirty="0"/>
          </a:p>
        </p:txBody>
      </p:sp>
      <p:sp>
        <p:nvSpPr>
          <p:cNvPr id="34" name="Text 32"/>
          <p:cNvSpPr/>
          <p:nvPr/>
        </p:nvSpPr>
        <p:spPr>
          <a:xfrm>
            <a:off x="1106424" y="5138928"/>
            <a:ext cx="1490472" cy="384048"/>
          </a:xfrm>
          <a:prstGeom prst="rect">
            <a:avLst/>
          </a:prstGeom>
          <a:noFill/>
          <a:ln/>
        </p:spPr>
        <p:txBody>
          <a:bodyPr wrap="square" rtlCol="0" anchor="ctr"/>
          <a:lstStyle/>
          <a:p>
            <a:pPr indent="0" marL="0">
              <a:buNone/>
            </a:pPr>
            <a:r>
              <a:rPr lang="en-US" sz="2200" b="1" dirty="0">
                <a:solidFill>
                  <a:srgbClr val="2B7A78"/>
                </a:solidFill>
                <a:latin typeface="Bahnschrift" pitchFamily="34" charset="0"/>
                <a:ea typeface="Bahnschrift" pitchFamily="34" charset="-122"/>
                <a:cs typeface="Bahnschrift" pitchFamily="34" charset="-120"/>
              </a:rPr>
              <a:t>4.15M</a:t>
            </a:r>
            <a:endParaRPr lang="en-US" sz="2200" dirty="0"/>
          </a:p>
        </p:txBody>
      </p:sp>
      <p:sp>
        <p:nvSpPr>
          <p:cNvPr id="35" name="Text 33"/>
          <p:cNvSpPr/>
          <p:nvPr/>
        </p:nvSpPr>
        <p:spPr>
          <a:xfrm>
            <a:off x="1106424" y="5586984"/>
            <a:ext cx="1490472" cy="27432"/>
          </a:xfrm>
          <a:prstGeom prst="rect">
            <a:avLst/>
          </a:prstGeom>
          <a:noFill/>
          <a:ln/>
        </p:spPr>
        <p:txBody>
          <a:bodyPr wrap="square" rtlCol="0" anchor="ctr"/>
          <a:lstStyle/>
          <a:p>
            <a:pPr indent="0" marL="0">
              <a:buNone/>
            </a:pPr>
            <a:r>
              <a:rPr lang="en-US" sz="950" dirty="0">
                <a:solidFill>
                  <a:srgbClr val="41576D"/>
                </a:solidFill>
                <a:latin typeface="Aptos" pitchFamily="34" charset="0"/>
                <a:ea typeface="Aptos" pitchFamily="34" charset="-122"/>
                <a:cs typeface="Aptos" pitchFamily="34" charset="-120"/>
              </a:rPr>
              <a:t>Đánh giá cuối</a:t>
            </a:r>
            <a:endParaRPr lang="en-US" sz="950" dirty="0"/>
          </a:p>
        </p:txBody>
      </p:sp>
      <p:sp>
        <p:nvSpPr>
          <p:cNvPr id="36" name="Shape 34"/>
          <p:cNvSpPr/>
          <p:nvPr/>
        </p:nvSpPr>
        <p:spPr>
          <a:xfrm>
            <a:off x="2880360" y="4828032"/>
            <a:ext cx="1783080" cy="868680"/>
          </a:xfrm>
          <a:prstGeom prst="rect">
            <a:avLst/>
          </a:prstGeom>
          <a:solidFill>
            <a:srgbClr val="F6E7DA"/>
          </a:solidFill>
          <a:ln w="12700">
            <a:solidFill>
              <a:srgbClr val="F6E7DA"/>
            </a:solidFill>
            <a:prstDash val="solid"/>
          </a:ln>
        </p:spPr>
      </p:sp>
      <p:sp>
        <p:nvSpPr>
          <p:cNvPr id="37" name="Shape 35"/>
          <p:cNvSpPr/>
          <p:nvPr/>
        </p:nvSpPr>
        <p:spPr>
          <a:xfrm>
            <a:off x="2880360" y="4828032"/>
            <a:ext cx="1783080" cy="36576"/>
          </a:xfrm>
          <a:prstGeom prst="rect">
            <a:avLst/>
          </a:prstGeom>
          <a:solidFill>
            <a:srgbClr val="C96A2B"/>
          </a:solidFill>
          <a:ln w="12700">
            <a:solidFill>
              <a:srgbClr val="C96A2B"/>
            </a:solidFill>
            <a:prstDash val="solid"/>
          </a:ln>
        </p:spPr>
      </p:sp>
      <p:sp>
        <p:nvSpPr>
          <p:cNvPr id="38" name="Text 36"/>
          <p:cNvSpPr/>
          <p:nvPr/>
        </p:nvSpPr>
        <p:spPr>
          <a:xfrm>
            <a:off x="3026664" y="4937760"/>
            <a:ext cx="1490472" cy="182880"/>
          </a:xfrm>
          <a:prstGeom prst="rect">
            <a:avLst/>
          </a:prstGeom>
          <a:noFill/>
          <a:ln/>
        </p:spPr>
        <p:txBody>
          <a:bodyPr wrap="square" rtlCol="0" anchor="ctr"/>
          <a:lstStyle/>
          <a:p>
            <a:pPr indent="0" marL="0">
              <a:buNone/>
            </a:pPr>
            <a:r>
              <a:rPr lang="en-US" sz="1030" b="1" dirty="0">
                <a:solidFill>
                  <a:srgbClr val="7A7A76"/>
                </a:solidFill>
                <a:latin typeface="Aptos" pitchFamily="34" charset="0"/>
                <a:ea typeface="Aptos" pitchFamily="34" charset="-122"/>
                <a:cs typeface="Aptos" pitchFamily="34" charset="-120"/>
              </a:rPr>
              <a:t>OOD Holdout</a:t>
            </a:r>
            <a:endParaRPr lang="en-US" sz="1030" dirty="0"/>
          </a:p>
        </p:txBody>
      </p:sp>
      <p:sp>
        <p:nvSpPr>
          <p:cNvPr id="39" name="Text 37"/>
          <p:cNvSpPr/>
          <p:nvPr/>
        </p:nvSpPr>
        <p:spPr>
          <a:xfrm>
            <a:off x="3026664" y="5138928"/>
            <a:ext cx="1490472" cy="384048"/>
          </a:xfrm>
          <a:prstGeom prst="rect">
            <a:avLst/>
          </a:prstGeom>
          <a:noFill/>
          <a:ln/>
        </p:spPr>
        <p:txBody>
          <a:bodyPr wrap="square" rtlCol="0" anchor="ctr"/>
          <a:lstStyle/>
          <a:p>
            <a:pPr indent="0" marL="0">
              <a:buNone/>
            </a:pPr>
            <a:r>
              <a:rPr lang="en-US" sz="2200" b="1" dirty="0">
                <a:solidFill>
                  <a:srgbClr val="C96A2B"/>
                </a:solidFill>
                <a:latin typeface="Bahnschrift" pitchFamily="34" charset="0"/>
                <a:ea typeface="Bahnschrift" pitchFamily="34" charset="-122"/>
                <a:cs typeface="Bahnschrift" pitchFamily="34" charset="-120"/>
              </a:rPr>
              <a:t>0.44M</a:t>
            </a:r>
            <a:endParaRPr lang="en-US" sz="2200" dirty="0"/>
          </a:p>
        </p:txBody>
      </p:sp>
      <p:sp>
        <p:nvSpPr>
          <p:cNvPr id="40" name="Text 38"/>
          <p:cNvSpPr/>
          <p:nvPr/>
        </p:nvSpPr>
        <p:spPr>
          <a:xfrm>
            <a:off x="3026664" y="5586984"/>
            <a:ext cx="1490472" cy="27432"/>
          </a:xfrm>
          <a:prstGeom prst="rect">
            <a:avLst/>
          </a:prstGeom>
          <a:noFill/>
          <a:ln/>
        </p:spPr>
        <p:txBody>
          <a:bodyPr wrap="square" rtlCol="0" anchor="ctr"/>
          <a:lstStyle/>
          <a:p>
            <a:pPr indent="0" marL="0">
              <a:buNone/>
            </a:pPr>
            <a:r>
              <a:rPr lang="en-US" sz="950" dirty="0">
                <a:solidFill>
                  <a:srgbClr val="41576D"/>
                </a:solidFill>
                <a:latin typeface="Aptos" pitchFamily="34" charset="0"/>
                <a:ea typeface="Aptos" pitchFamily="34" charset="-122"/>
                <a:cs typeface="Aptos" pitchFamily="34" charset="-120"/>
              </a:rPr>
              <a:t>Attack khác phân bố</a:t>
            </a:r>
            <a:endParaRPr lang="en-US" sz="950" dirty="0"/>
          </a:p>
        </p:txBody>
      </p:sp>
      <p:sp>
        <p:nvSpPr>
          <p:cNvPr id="41" name="Shape 39"/>
          <p:cNvSpPr/>
          <p:nvPr/>
        </p:nvSpPr>
        <p:spPr>
          <a:xfrm>
            <a:off x="6583680" y="1517904"/>
            <a:ext cx="1554480" cy="868680"/>
          </a:xfrm>
          <a:prstGeom prst="rect">
            <a:avLst/>
          </a:prstGeom>
          <a:solidFill>
            <a:srgbClr val="F2E8DC"/>
          </a:solidFill>
          <a:ln w="12700">
            <a:solidFill>
              <a:srgbClr val="F2E8DC"/>
            </a:solidFill>
            <a:prstDash val="solid"/>
          </a:ln>
        </p:spPr>
      </p:sp>
      <p:sp>
        <p:nvSpPr>
          <p:cNvPr id="42" name="Shape 40"/>
          <p:cNvSpPr/>
          <p:nvPr/>
        </p:nvSpPr>
        <p:spPr>
          <a:xfrm>
            <a:off x="6583680" y="1517904"/>
            <a:ext cx="1554480" cy="36576"/>
          </a:xfrm>
          <a:prstGeom prst="rect">
            <a:avLst/>
          </a:prstGeom>
          <a:solidFill>
            <a:srgbClr val="0E1B2A"/>
          </a:solidFill>
          <a:ln w="12700">
            <a:solidFill>
              <a:srgbClr val="0E1B2A"/>
            </a:solidFill>
            <a:prstDash val="solid"/>
          </a:ln>
        </p:spPr>
      </p:sp>
      <p:sp>
        <p:nvSpPr>
          <p:cNvPr id="43" name="Text 41"/>
          <p:cNvSpPr/>
          <p:nvPr/>
        </p:nvSpPr>
        <p:spPr>
          <a:xfrm>
            <a:off x="6729984" y="1627632"/>
            <a:ext cx="1261872" cy="182880"/>
          </a:xfrm>
          <a:prstGeom prst="rect">
            <a:avLst/>
          </a:prstGeom>
          <a:noFill/>
          <a:ln/>
        </p:spPr>
        <p:txBody>
          <a:bodyPr wrap="square" rtlCol="0" anchor="ctr"/>
          <a:lstStyle/>
          <a:p>
            <a:pPr indent="0" marL="0">
              <a:buNone/>
            </a:pPr>
            <a:r>
              <a:rPr lang="en-US" sz="1030" b="1" dirty="0">
                <a:solidFill>
                  <a:srgbClr val="7A7A76"/>
                </a:solidFill>
                <a:latin typeface="Aptos" pitchFamily="34" charset="0"/>
                <a:ea typeface="Aptos" pitchFamily="34" charset="-122"/>
                <a:cs typeface="Aptos" pitchFamily="34" charset="-120"/>
              </a:rPr>
              <a:t>Nguồn file</a:t>
            </a:r>
            <a:endParaRPr lang="en-US" sz="1030" dirty="0"/>
          </a:p>
        </p:txBody>
      </p:sp>
      <p:sp>
        <p:nvSpPr>
          <p:cNvPr id="44" name="Text 42"/>
          <p:cNvSpPr/>
          <p:nvPr/>
        </p:nvSpPr>
        <p:spPr>
          <a:xfrm>
            <a:off x="6729984" y="1828800"/>
            <a:ext cx="1261872" cy="384048"/>
          </a:xfrm>
          <a:prstGeom prst="rect">
            <a:avLst/>
          </a:prstGeom>
          <a:noFill/>
          <a:ln/>
        </p:spPr>
        <p:txBody>
          <a:bodyPr wrap="square" rtlCol="0" anchor="ctr"/>
          <a:lstStyle/>
          <a:p>
            <a:pPr indent="0" marL="0">
              <a:buNone/>
            </a:pPr>
            <a:r>
              <a:rPr lang="en-US" sz="2200" b="1" dirty="0">
                <a:solidFill>
                  <a:srgbClr val="0E1B2A"/>
                </a:solidFill>
                <a:latin typeface="Bahnschrift" pitchFamily="34" charset="0"/>
                <a:ea typeface="Bahnschrift" pitchFamily="34" charset="-122"/>
                <a:cs typeface="Bahnschrift" pitchFamily="34" charset="-120"/>
              </a:rPr>
              <a:t>133</a:t>
            </a:r>
            <a:endParaRPr lang="en-US" sz="2200" dirty="0"/>
          </a:p>
        </p:txBody>
      </p:sp>
      <p:sp>
        <p:nvSpPr>
          <p:cNvPr id="45" name="Text 43"/>
          <p:cNvSpPr/>
          <p:nvPr/>
        </p:nvSpPr>
        <p:spPr>
          <a:xfrm>
            <a:off x="6729984" y="2276856"/>
            <a:ext cx="1261872" cy="27432"/>
          </a:xfrm>
          <a:prstGeom prst="rect">
            <a:avLst/>
          </a:prstGeom>
          <a:noFill/>
          <a:ln/>
        </p:spPr>
        <p:txBody>
          <a:bodyPr wrap="square" rtlCol="0" anchor="ctr"/>
          <a:lstStyle/>
          <a:p>
            <a:pPr indent="0" marL="0">
              <a:buNone/>
            </a:pPr>
            <a:r>
              <a:rPr lang="en-US" sz="950" dirty="0">
                <a:solidFill>
                  <a:srgbClr val="41576D"/>
                </a:solidFill>
                <a:latin typeface="Aptos" pitchFamily="34" charset="0"/>
                <a:ea typeface="Aptos" pitchFamily="34" charset="-122"/>
                <a:cs typeface="Aptos" pitchFamily="34" charset="-120"/>
              </a:rPr>
              <a:t>CSV gốc</a:t>
            </a:r>
            <a:endParaRPr lang="en-US" sz="950" dirty="0"/>
          </a:p>
        </p:txBody>
      </p:sp>
      <p:sp>
        <p:nvSpPr>
          <p:cNvPr id="46" name="Shape 44"/>
          <p:cNvSpPr/>
          <p:nvPr/>
        </p:nvSpPr>
        <p:spPr>
          <a:xfrm>
            <a:off x="8229600" y="1517904"/>
            <a:ext cx="1554480" cy="868680"/>
          </a:xfrm>
          <a:prstGeom prst="rect">
            <a:avLst/>
          </a:prstGeom>
          <a:solidFill>
            <a:srgbClr val="E2F3F1"/>
          </a:solidFill>
          <a:ln w="12700">
            <a:solidFill>
              <a:srgbClr val="E2F3F1"/>
            </a:solidFill>
            <a:prstDash val="solid"/>
          </a:ln>
        </p:spPr>
      </p:sp>
      <p:sp>
        <p:nvSpPr>
          <p:cNvPr id="47" name="Shape 45"/>
          <p:cNvSpPr/>
          <p:nvPr/>
        </p:nvSpPr>
        <p:spPr>
          <a:xfrm>
            <a:off x="8229600" y="1517904"/>
            <a:ext cx="1554480" cy="36576"/>
          </a:xfrm>
          <a:prstGeom prst="rect">
            <a:avLst/>
          </a:prstGeom>
          <a:solidFill>
            <a:srgbClr val="2B7A78"/>
          </a:solidFill>
          <a:ln w="12700">
            <a:solidFill>
              <a:srgbClr val="2B7A78"/>
            </a:solidFill>
            <a:prstDash val="solid"/>
          </a:ln>
        </p:spPr>
      </p:sp>
      <p:sp>
        <p:nvSpPr>
          <p:cNvPr id="48" name="Text 46"/>
          <p:cNvSpPr/>
          <p:nvPr/>
        </p:nvSpPr>
        <p:spPr>
          <a:xfrm>
            <a:off x="8375904" y="1627632"/>
            <a:ext cx="1261872" cy="182880"/>
          </a:xfrm>
          <a:prstGeom prst="rect">
            <a:avLst/>
          </a:prstGeom>
          <a:noFill/>
          <a:ln/>
        </p:spPr>
        <p:txBody>
          <a:bodyPr wrap="square" rtlCol="0" anchor="ctr"/>
          <a:lstStyle/>
          <a:p>
            <a:pPr indent="0" marL="0">
              <a:buNone/>
            </a:pPr>
            <a:r>
              <a:rPr lang="en-US" sz="1030" b="1" dirty="0">
                <a:solidFill>
                  <a:srgbClr val="7A7A76"/>
                </a:solidFill>
                <a:latin typeface="Aptos" pitchFamily="34" charset="0"/>
                <a:ea typeface="Aptos" pitchFamily="34" charset="-122"/>
                <a:cs typeface="Aptos" pitchFamily="34" charset="-120"/>
              </a:rPr>
              <a:t>Dung lượng</a:t>
            </a:r>
            <a:endParaRPr lang="en-US" sz="1030" dirty="0"/>
          </a:p>
        </p:txBody>
      </p:sp>
      <p:sp>
        <p:nvSpPr>
          <p:cNvPr id="49" name="Text 47"/>
          <p:cNvSpPr/>
          <p:nvPr/>
        </p:nvSpPr>
        <p:spPr>
          <a:xfrm>
            <a:off x="8375904" y="1828800"/>
            <a:ext cx="1261872" cy="384048"/>
          </a:xfrm>
          <a:prstGeom prst="rect">
            <a:avLst/>
          </a:prstGeom>
          <a:noFill/>
          <a:ln/>
        </p:spPr>
        <p:txBody>
          <a:bodyPr wrap="square" rtlCol="0" anchor="ctr"/>
          <a:lstStyle/>
          <a:p>
            <a:pPr indent="0" marL="0">
              <a:buNone/>
            </a:pPr>
            <a:r>
              <a:rPr lang="en-US" sz="2200" b="1" dirty="0">
                <a:solidFill>
                  <a:srgbClr val="2B7A78"/>
                </a:solidFill>
                <a:latin typeface="Bahnschrift" pitchFamily="34" charset="0"/>
                <a:ea typeface="Bahnschrift" pitchFamily="34" charset="-122"/>
                <a:cs typeface="Bahnschrift" pitchFamily="34" charset="-120"/>
              </a:rPr>
              <a:t>13.65 GB</a:t>
            </a:r>
            <a:endParaRPr lang="en-US" sz="2200" dirty="0"/>
          </a:p>
        </p:txBody>
      </p:sp>
      <p:sp>
        <p:nvSpPr>
          <p:cNvPr id="50" name="Text 48"/>
          <p:cNvSpPr/>
          <p:nvPr/>
        </p:nvSpPr>
        <p:spPr>
          <a:xfrm>
            <a:off x="8375904" y="2276856"/>
            <a:ext cx="1261872" cy="27432"/>
          </a:xfrm>
          <a:prstGeom prst="rect">
            <a:avLst/>
          </a:prstGeom>
          <a:noFill/>
          <a:ln/>
        </p:spPr>
        <p:txBody>
          <a:bodyPr wrap="square" rtlCol="0" anchor="ctr"/>
          <a:lstStyle/>
          <a:p>
            <a:pPr indent="0" marL="0">
              <a:buNone/>
            </a:pPr>
            <a:r>
              <a:rPr lang="en-US" sz="950" dirty="0">
                <a:solidFill>
                  <a:srgbClr val="41576D"/>
                </a:solidFill>
                <a:latin typeface="Aptos" pitchFamily="34" charset="0"/>
                <a:ea typeface="Aptos" pitchFamily="34" charset="-122"/>
                <a:cs typeface="Aptos" pitchFamily="34" charset="-120"/>
              </a:rPr>
              <a:t>Nhánh đã tải</a:t>
            </a:r>
            <a:endParaRPr lang="en-US" sz="950" dirty="0"/>
          </a:p>
        </p:txBody>
      </p:sp>
      <p:sp>
        <p:nvSpPr>
          <p:cNvPr id="51" name="Shape 49"/>
          <p:cNvSpPr/>
          <p:nvPr/>
        </p:nvSpPr>
        <p:spPr>
          <a:xfrm>
            <a:off x="9875520" y="1517904"/>
            <a:ext cx="1554480" cy="868680"/>
          </a:xfrm>
          <a:prstGeom prst="rect">
            <a:avLst/>
          </a:prstGeom>
          <a:solidFill>
            <a:srgbClr val="F6E7DA"/>
          </a:solidFill>
          <a:ln w="12700">
            <a:solidFill>
              <a:srgbClr val="F6E7DA"/>
            </a:solidFill>
            <a:prstDash val="solid"/>
          </a:ln>
        </p:spPr>
      </p:sp>
      <p:sp>
        <p:nvSpPr>
          <p:cNvPr id="52" name="Shape 50"/>
          <p:cNvSpPr/>
          <p:nvPr/>
        </p:nvSpPr>
        <p:spPr>
          <a:xfrm>
            <a:off x="9875520" y="1517904"/>
            <a:ext cx="1554480" cy="36576"/>
          </a:xfrm>
          <a:prstGeom prst="rect">
            <a:avLst/>
          </a:prstGeom>
          <a:solidFill>
            <a:srgbClr val="C96A2B"/>
          </a:solidFill>
          <a:ln w="12700">
            <a:solidFill>
              <a:srgbClr val="C96A2B"/>
            </a:solidFill>
            <a:prstDash val="solid"/>
          </a:ln>
        </p:spPr>
      </p:sp>
      <p:sp>
        <p:nvSpPr>
          <p:cNvPr id="53" name="Text 51"/>
          <p:cNvSpPr/>
          <p:nvPr/>
        </p:nvSpPr>
        <p:spPr>
          <a:xfrm>
            <a:off x="10021824" y="1627632"/>
            <a:ext cx="1261872" cy="182880"/>
          </a:xfrm>
          <a:prstGeom prst="rect">
            <a:avLst/>
          </a:prstGeom>
          <a:noFill/>
          <a:ln/>
        </p:spPr>
        <p:txBody>
          <a:bodyPr wrap="square" rtlCol="0" anchor="ctr"/>
          <a:lstStyle/>
          <a:p>
            <a:pPr indent="0" marL="0">
              <a:buNone/>
            </a:pPr>
            <a:r>
              <a:rPr lang="en-US" sz="1030" b="1" dirty="0">
                <a:solidFill>
                  <a:srgbClr val="7A7A76"/>
                </a:solidFill>
                <a:latin typeface="Aptos" pitchFamily="34" charset="0"/>
                <a:ea typeface="Aptos" pitchFamily="34" charset="-122"/>
                <a:cs typeface="Aptos" pitchFamily="34" charset="-120"/>
              </a:rPr>
              <a:t>Feature</a:t>
            </a:r>
            <a:endParaRPr lang="en-US" sz="1030" dirty="0"/>
          </a:p>
        </p:txBody>
      </p:sp>
      <p:sp>
        <p:nvSpPr>
          <p:cNvPr id="54" name="Text 52"/>
          <p:cNvSpPr/>
          <p:nvPr/>
        </p:nvSpPr>
        <p:spPr>
          <a:xfrm>
            <a:off x="10021824" y="1828800"/>
            <a:ext cx="1261872" cy="384048"/>
          </a:xfrm>
          <a:prstGeom prst="rect">
            <a:avLst/>
          </a:prstGeom>
          <a:noFill/>
          <a:ln/>
        </p:spPr>
        <p:txBody>
          <a:bodyPr wrap="square" rtlCol="0" anchor="ctr"/>
          <a:lstStyle/>
          <a:p>
            <a:pPr indent="0" marL="0">
              <a:buNone/>
            </a:pPr>
            <a:r>
              <a:rPr lang="en-US" sz="2200" b="1" dirty="0">
                <a:solidFill>
                  <a:srgbClr val="C96A2B"/>
                </a:solidFill>
                <a:latin typeface="Bahnschrift" pitchFamily="34" charset="0"/>
                <a:ea typeface="Bahnschrift" pitchFamily="34" charset="-122"/>
                <a:cs typeface="Bahnschrift" pitchFamily="34" charset="-120"/>
              </a:rPr>
              <a:t>72</a:t>
            </a:r>
            <a:endParaRPr lang="en-US" sz="2200" dirty="0"/>
          </a:p>
        </p:txBody>
      </p:sp>
      <p:sp>
        <p:nvSpPr>
          <p:cNvPr id="55" name="Text 53"/>
          <p:cNvSpPr/>
          <p:nvPr/>
        </p:nvSpPr>
        <p:spPr>
          <a:xfrm>
            <a:off x="10021824" y="2276856"/>
            <a:ext cx="1261872" cy="27432"/>
          </a:xfrm>
          <a:prstGeom prst="rect">
            <a:avLst/>
          </a:prstGeom>
          <a:noFill/>
          <a:ln/>
        </p:spPr>
        <p:txBody>
          <a:bodyPr wrap="square" rtlCol="0" anchor="ctr"/>
          <a:lstStyle/>
          <a:p>
            <a:pPr indent="0" marL="0">
              <a:buNone/>
            </a:pPr>
            <a:r>
              <a:rPr lang="en-US" sz="950" dirty="0">
                <a:solidFill>
                  <a:srgbClr val="41576D"/>
                </a:solidFill>
                <a:latin typeface="Aptos" pitchFamily="34" charset="0"/>
                <a:ea typeface="Aptos" pitchFamily="34" charset="-122"/>
                <a:cs typeface="Aptos" pitchFamily="34" charset="-120"/>
              </a:rPr>
              <a:t>Schema canonical</a:t>
            </a:r>
            <a:endParaRPr lang="en-US" sz="950" dirty="0"/>
          </a:p>
        </p:txBody>
      </p:sp>
      <p:sp>
        <p:nvSpPr>
          <p:cNvPr id="56" name="Text 54"/>
          <p:cNvSpPr/>
          <p:nvPr/>
        </p:nvSpPr>
        <p:spPr>
          <a:xfrm>
            <a:off x="6537960" y="2651760"/>
            <a:ext cx="4572000" cy="2377440"/>
          </a:xfrm>
          <a:prstGeom prst="rect">
            <a:avLst/>
          </a:prstGeom>
          <a:noFill/>
          <a:ln/>
        </p:spPr>
        <p:txBody>
          <a:bodyPr wrap="square" lIns="635" tIns="635" rIns="635" bIns="635" rtlCol="0" anchor="t"/>
          <a:lstStyle/>
          <a:p>
            <a:pPr marL="342900" indent="-342900">
              <a:buSzPct val="100000"/>
              <a:buChar char="•"/>
            </a:pPr>
            <a:r>
              <a:rPr lang="en-US" sz="1100" dirty="0">
                <a:solidFill>
                  <a:srgbClr val="41576D"/>
                </a:solidFill>
                <a:latin typeface="Aptos" pitchFamily="34" charset="0"/>
                <a:ea typeface="Aptos" pitchFamily="34" charset="-122"/>
                <a:cs typeface="Aptos" pitchFamily="34" charset="-120"/>
              </a:rPr>
              <a:t>Gán lại nhãn từ cấu trúc thư mục thành bài toán Benign/Attack để phục vụ IDS nhị phân.</a:t>
            </a:r>
            <a:endParaRPr lang="en-US" sz="1100" dirty="0"/>
          </a:p>
          <a:p>
            <a:pPr marL="342900" indent="-342900">
              <a:buSzPct val="100000"/>
              <a:buChar char="•"/>
            </a:pPr>
            <a:r>
              <a:rPr lang="en-US" sz="1100" dirty="0">
                <a:solidFill>
                  <a:srgbClr val="41576D"/>
                </a:solidFill>
                <a:latin typeface="Aptos" pitchFamily="34" charset="0"/>
                <a:ea typeface="Aptos" pitchFamily="34" charset="-122"/>
                <a:cs typeface="Aptos" pitchFamily="34" charset="-120"/>
              </a:rPr>
              <a:t>Loại bỏ leakage columns như Flow ID, Src IP, Dst IP, Timestamp và Label.</a:t>
            </a:r>
            <a:endParaRPr lang="en-US" sz="1100" dirty="0"/>
          </a:p>
          <a:p>
            <a:pPr marL="342900" indent="-342900">
              <a:buSzPct val="100000"/>
              <a:buChar char="•"/>
            </a:pPr>
            <a:r>
              <a:rPr lang="en-US" sz="1100" dirty="0">
                <a:solidFill>
                  <a:srgbClr val="41576D"/>
                </a:solidFill>
                <a:latin typeface="Aptos" pitchFamily="34" charset="0"/>
                <a:ea typeface="Aptos" pitchFamily="34" charset="-122"/>
                <a:cs typeface="Aptos" pitchFamily="34" charset="-120"/>
              </a:rPr>
              <a:t>Ép toàn bộ feature về numeric, loại NaN/inf, exact duplicates và đưa file lỗi vào quarantine.</a:t>
            </a:r>
            <a:endParaRPr lang="en-US" sz="1100" dirty="0"/>
          </a:p>
          <a:p>
            <a:pPr marL="342900" indent="-342900">
              <a:buSzPct val="100000"/>
              <a:buChar char="•"/>
            </a:pPr>
            <a:r>
              <a:rPr lang="en-US" sz="1100" dirty="0">
                <a:solidFill>
                  <a:srgbClr val="41576D"/>
                </a:solidFill>
                <a:latin typeface="Aptos" pitchFamily="34" charset="0"/>
                <a:ea typeface="Aptos" pitchFamily="34" charset="-122"/>
                <a:cs typeface="Aptos" pitchFamily="34" charset="-120"/>
              </a:rPr>
              <a:t>Đóng băng bộ split train/val/test/OOD holdout để mọi thực nghiệm về sau dùng chung một chuẩn đánh giá.</a:t>
            </a:r>
            <a:endParaRPr lang="en-US" sz="1100" dirty="0"/>
          </a:p>
        </p:txBody>
      </p:sp>
      <p:sp>
        <p:nvSpPr>
          <p:cNvPr id="57" name="Text 55"/>
          <p:cNvSpPr/>
          <p:nvPr/>
        </p:nvSpPr>
        <p:spPr>
          <a:xfrm>
            <a:off x="548640" y="6473952"/>
            <a:ext cx="9509760" cy="164592"/>
          </a:xfrm>
          <a:prstGeom prst="rect">
            <a:avLst/>
          </a:prstGeom>
          <a:noFill/>
          <a:ln/>
        </p:spPr>
        <p:txBody>
          <a:bodyPr wrap="square" rtlCol="0" anchor="ctr"/>
          <a:lstStyle/>
          <a:p>
            <a:pPr indent="0" marL="0">
              <a:buNone/>
            </a:pPr>
            <a:r>
              <a:rPr lang="en-US" sz="900" dirty="0">
                <a:solidFill>
                  <a:srgbClr val="7A7A76"/>
                </a:solidFill>
                <a:latin typeface="Aptos" pitchFamily="34" charset="0"/>
                <a:ea typeface="Aptos" pitchFamily="34" charset="-122"/>
                <a:cs typeface="Aptos" pitchFamily="34" charset="-120"/>
              </a:rPr>
              <a:t>Tập train cuối cùng có 18.679.445 dòng, cung cấp một nền dữ liệu rất dày cho scaling experiment và full-data training.</a:t>
            </a:r>
            <a:endParaRPr lang="en-US" sz="900" dirty="0"/>
          </a:p>
        </p:txBody>
      </p:sp>
      <p:sp>
        <p:nvSpPr>
          <p:cNvPr id="25" name="Slide Number Placeholder 0"/>
          <p:cNvSpPr>
            <a:spLocks noGrp="1"/>
          </p:cNvSpPr>
          <p:nvPr>
            <p:ph type="sldNum" sz="quarter" idx="4294967295"/>
          </p:nvPr>
        </p:nvSpPr>
        <p:spPr>
          <a:xfrm>
            <a:off x="11475720" y="6446520"/>
            <a:ext cx="32004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7A7A76"/>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CF8F2"/>
        </a:solidFill>
      </p:bgPr>
    </p:bg>
    <p:spTree>
      <p:nvGrpSpPr>
        <p:cNvPr id="1" name=""/>
        <p:cNvGrpSpPr/>
        <p:nvPr/>
      </p:nvGrpSpPr>
      <p:grpSpPr>
        <a:xfrm>
          <a:off x="0" y="0"/>
          <a:ext cx="0" cy="0"/>
          <a:chOff x="0" y="0"/>
          <a:chExt cx="0" cy="0"/>
        </a:xfrm>
      </p:grpSpPr>
      <p:sp>
        <p:nvSpPr>
          <p:cNvPr id="2" name="Shape 0"/>
          <p:cNvSpPr/>
          <p:nvPr/>
        </p:nvSpPr>
        <p:spPr>
          <a:xfrm>
            <a:off x="0" y="0"/>
            <a:ext cx="12191695" cy="219456"/>
          </a:xfrm>
          <a:prstGeom prst="rect">
            <a:avLst/>
          </a:prstGeom>
          <a:solidFill>
            <a:srgbClr val="0E1B2A"/>
          </a:solidFill>
          <a:ln w="12700">
            <a:solidFill>
              <a:srgbClr val="0E1B2A"/>
            </a:solidFill>
            <a:prstDash val="solid"/>
          </a:ln>
        </p:spPr>
      </p:sp>
      <p:sp>
        <p:nvSpPr>
          <p:cNvPr id="3" name="Shape 1"/>
          <p:cNvSpPr/>
          <p:nvPr/>
        </p:nvSpPr>
        <p:spPr>
          <a:xfrm>
            <a:off x="566928" y="713232"/>
            <a:ext cx="54864" cy="859536"/>
          </a:xfrm>
          <a:prstGeom prst="rect">
            <a:avLst/>
          </a:prstGeom>
          <a:solidFill>
            <a:srgbClr val="C96A2B"/>
          </a:solidFill>
          <a:ln w="12700">
            <a:solidFill>
              <a:srgbClr val="C96A2B"/>
            </a:solidFill>
            <a:prstDash val="solid"/>
          </a:ln>
        </p:spPr>
      </p:sp>
      <p:sp>
        <p:nvSpPr>
          <p:cNvPr id="4" name="Shape 2"/>
          <p:cNvSpPr/>
          <p:nvPr/>
        </p:nvSpPr>
        <p:spPr>
          <a:xfrm>
            <a:off x="9555480" y="822960"/>
            <a:ext cx="2011680" cy="36576"/>
          </a:xfrm>
          <a:prstGeom prst="rect">
            <a:avLst/>
          </a:prstGeom>
          <a:solidFill>
            <a:srgbClr val="C96A2B">
              <a:alpha val="72000"/>
            </a:srgbClr>
          </a:solidFill>
          <a:ln w="12700">
            <a:solidFill>
              <a:srgbClr val="C96A2B">
                <a:alpha val="72000"/>
              </a:srgbClr>
            </a:solidFill>
            <a:prstDash val="solid"/>
          </a:ln>
        </p:spPr>
      </p:sp>
      <p:sp>
        <p:nvSpPr>
          <p:cNvPr id="5" name="Shape 3"/>
          <p:cNvSpPr/>
          <p:nvPr/>
        </p:nvSpPr>
        <p:spPr>
          <a:xfrm>
            <a:off x="10469880" y="292608"/>
            <a:ext cx="1078992" cy="1078992"/>
          </a:xfrm>
          <a:prstGeom prst="ellipse">
            <a:avLst/>
          </a:prstGeom>
          <a:solidFill>
            <a:srgbClr val="C96A2B">
              <a:alpha val="0"/>
            </a:srgbClr>
          </a:solidFill>
          <a:ln w="12700">
            <a:solidFill>
              <a:srgbClr val="C96A2B">
                <a:alpha val="18000"/>
              </a:srgbClr>
            </a:solidFill>
            <a:prstDash val="solid"/>
          </a:ln>
        </p:spPr>
      </p:sp>
      <p:sp>
        <p:nvSpPr>
          <p:cNvPr id="6" name="Shape 4"/>
          <p:cNvSpPr/>
          <p:nvPr/>
        </p:nvSpPr>
        <p:spPr>
          <a:xfrm>
            <a:off x="73152" y="5257800"/>
            <a:ext cx="987552" cy="987552"/>
          </a:xfrm>
          <a:prstGeom prst="ellipse">
            <a:avLst/>
          </a:prstGeom>
          <a:solidFill>
            <a:srgbClr val="2B7A78">
              <a:alpha val="0"/>
            </a:srgbClr>
          </a:solidFill>
          <a:ln w="12700">
            <a:solidFill>
              <a:srgbClr val="2B7A78">
                <a:alpha val="14000"/>
              </a:srgbClr>
            </a:solidFill>
            <a:prstDash val="solid"/>
          </a:ln>
        </p:spPr>
      </p:sp>
      <p:sp>
        <p:nvSpPr>
          <p:cNvPr id="7" name="Text 5"/>
          <p:cNvSpPr/>
          <p:nvPr/>
        </p:nvSpPr>
        <p:spPr>
          <a:xfrm>
            <a:off x="768096" y="603504"/>
            <a:ext cx="4023360" cy="237744"/>
          </a:xfrm>
          <a:prstGeom prst="rect">
            <a:avLst/>
          </a:prstGeom>
          <a:noFill/>
          <a:ln/>
        </p:spPr>
        <p:txBody>
          <a:bodyPr wrap="square" rtlCol="0" anchor="ctr"/>
          <a:lstStyle/>
          <a:p>
            <a:pPr indent="0" marL="0">
              <a:buNone/>
            </a:pPr>
            <a:r>
              <a:rPr lang="en-US" sz="1100" b="1" dirty="0">
                <a:solidFill>
                  <a:srgbClr val="C96A2B"/>
                </a:solidFill>
                <a:latin typeface="Bahnschrift" pitchFamily="34" charset="0"/>
                <a:ea typeface="Bahnschrift" pitchFamily="34" charset="-122"/>
                <a:cs typeface="Bahnschrift" pitchFamily="34" charset="-120"/>
              </a:rPr>
              <a:t>04  EXPERIMENT DESIGN</a:t>
            </a:r>
            <a:endParaRPr lang="en-US" sz="1100" dirty="0"/>
          </a:p>
        </p:txBody>
      </p:sp>
      <p:sp>
        <p:nvSpPr>
          <p:cNvPr id="8" name="Text 6"/>
          <p:cNvSpPr/>
          <p:nvPr/>
        </p:nvSpPr>
        <p:spPr>
          <a:xfrm>
            <a:off x="768096" y="859536"/>
            <a:ext cx="8001000" cy="457200"/>
          </a:xfrm>
          <a:prstGeom prst="rect">
            <a:avLst/>
          </a:prstGeom>
          <a:noFill/>
          <a:ln/>
        </p:spPr>
        <p:txBody>
          <a:bodyPr wrap="square" rtlCol="0" anchor="ctr"/>
          <a:lstStyle/>
          <a:p>
            <a:pPr indent="0" marL="0">
              <a:buNone/>
            </a:pPr>
            <a:r>
              <a:rPr lang="en-US" sz="2500" b="1" dirty="0">
                <a:solidFill>
                  <a:srgbClr val="0E1B2A"/>
                </a:solidFill>
                <a:latin typeface="Bahnschrift" pitchFamily="34" charset="0"/>
                <a:ea typeface="Bahnschrift" pitchFamily="34" charset="-122"/>
                <a:cs typeface="Bahnschrift" pitchFamily="34" charset="-120"/>
              </a:rPr>
              <a:t>Protocol thực nghiệm và cách chọn model</a:t>
            </a:r>
            <a:endParaRPr lang="en-US" sz="2500" dirty="0"/>
          </a:p>
        </p:txBody>
      </p:sp>
      <p:sp>
        <p:nvSpPr>
          <p:cNvPr id="9" name="Shape 7"/>
          <p:cNvSpPr/>
          <p:nvPr/>
        </p:nvSpPr>
        <p:spPr>
          <a:xfrm>
            <a:off x="768096" y="1389888"/>
            <a:ext cx="1965960" cy="36576"/>
          </a:xfrm>
          <a:prstGeom prst="rect">
            <a:avLst/>
          </a:prstGeom>
          <a:solidFill>
            <a:srgbClr val="C96A2B"/>
          </a:solidFill>
          <a:ln w="12700">
            <a:solidFill>
              <a:srgbClr val="C96A2B"/>
            </a:solidFill>
            <a:prstDash val="solid"/>
          </a:ln>
        </p:spPr>
      </p:sp>
      <p:sp>
        <p:nvSpPr>
          <p:cNvPr id="10" name="Text 8"/>
          <p:cNvSpPr/>
          <p:nvPr/>
        </p:nvSpPr>
        <p:spPr>
          <a:xfrm>
            <a:off x="10808208" y="566928"/>
            <a:ext cx="502920" cy="237744"/>
          </a:xfrm>
          <a:prstGeom prst="rect">
            <a:avLst/>
          </a:prstGeom>
          <a:noFill/>
          <a:ln/>
        </p:spPr>
        <p:txBody>
          <a:bodyPr wrap="square" rtlCol="0" anchor="ctr"/>
          <a:lstStyle/>
          <a:p>
            <a:pPr algn="r" indent="0" marL="0">
              <a:buNone/>
            </a:pPr>
            <a:r>
              <a:rPr lang="en-US" sz="1200" b="1" dirty="0">
                <a:solidFill>
                  <a:srgbClr val="7A7A76"/>
                </a:solidFill>
                <a:latin typeface="Bahnschrift" pitchFamily="34" charset="0"/>
                <a:ea typeface="Bahnschrift" pitchFamily="34" charset="-122"/>
                <a:cs typeface="Bahnschrift" pitchFamily="34" charset="-120"/>
              </a:rPr>
              <a:t>05</a:t>
            </a:r>
            <a:endParaRPr lang="en-US" sz="1200" dirty="0"/>
          </a:p>
        </p:txBody>
      </p:sp>
      <p:sp>
        <p:nvSpPr>
          <p:cNvPr id="11" name="Shape 9"/>
          <p:cNvSpPr/>
          <p:nvPr/>
        </p:nvSpPr>
        <p:spPr>
          <a:xfrm>
            <a:off x="822960" y="1874520"/>
            <a:ext cx="1783080" cy="749808"/>
          </a:xfrm>
          <a:prstGeom prst="rect">
            <a:avLst/>
          </a:prstGeom>
          <a:solidFill>
            <a:srgbClr val="0E1B2A"/>
          </a:solidFill>
          <a:ln w="12700">
            <a:solidFill>
              <a:srgbClr val="0E1B2A"/>
            </a:solidFill>
            <a:prstDash val="solid"/>
          </a:ln>
        </p:spPr>
      </p:sp>
      <p:sp>
        <p:nvSpPr>
          <p:cNvPr id="12" name="Text 10"/>
          <p:cNvSpPr/>
          <p:nvPr/>
        </p:nvSpPr>
        <p:spPr>
          <a:xfrm>
            <a:off x="896112" y="2002536"/>
            <a:ext cx="1600200" cy="566928"/>
          </a:xfrm>
          <a:prstGeom prst="rect">
            <a:avLst/>
          </a:prstGeom>
          <a:noFill/>
          <a:ln/>
        </p:spPr>
        <p:txBody>
          <a:bodyPr wrap="square" rtlCol="0" anchor="ctr"/>
          <a:lstStyle/>
          <a:p>
            <a:pPr algn="ctr" indent="0" marL="0">
              <a:buNone/>
            </a:pPr>
            <a:r>
              <a:rPr lang="en-US" sz="1100" b="1" dirty="0">
                <a:solidFill>
                  <a:srgbClr val="FFFFFF"/>
                </a:solidFill>
                <a:latin typeface="Bahnschrift" pitchFamily="34" charset="0"/>
                <a:ea typeface="Bahnschrift" pitchFamily="34" charset="-122"/>
                <a:cs typeface="Bahnschrift" pitchFamily="34" charset="-120"/>
              </a:rPr>
              <a:t>Benchmark 5 mô hình</a:t>
            </a:r>
            <a:endParaRPr lang="en-US" sz="1100" dirty="0"/>
          </a:p>
        </p:txBody>
      </p:sp>
      <p:sp>
        <p:nvSpPr>
          <p:cNvPr id="13" name="Shape 11"/>
          <p:cNvSpPr/>
          <p:nvPr/>
        </p:nvSpPr>
        <p:spPr>
          <a:xfrm>
            <a:off x="2743200" y="1874520"/>
            <a:ext cx="1783080" cy="749808"/>
          </a:xfrm>
          <a:prstGeom prst="rect">
            <a:avLst/>
          </a:prstGeom>
          <a:solidFill>
            <a:srgbClr val="3D6C8D"/>
          </a:solidFill>
          <a:ln w="12700">
            <a:solidFill>
              <a:srgbClr val="3D6C8D"/>
            </a:solidFill>
            <a:prstDash val="solid"/>
          </a:ln>
        </p:spPr>
      </p:sp>
      <p:sp>
        <p:nvSpPr>
          <p:cNvPr id="14" name="Text 12"/>
          <p:cNvSpPr/>
          <p:nvPr/>
        </p:nvSpPr>
        <p:spPr>
          <a:xfrm>
            <a:off x="2816352" y="2002536"/>
            <a:ext cx="1600200" cy="566928"/>
          </a:xfrm>
          <a:prstGeom prst="rect">
            <a:avLst/>
          </a:prstGeom>
          <a:noFill/>
          <a:ln/>
        </p:spPr>
        <p:txBody>
          <a:bodyPr wrap="square" rtlCol="0" anchor="ctr"/>
          <a:lstStyle/>
          <a:p>
            <a:pPr algn="ctr" indent="0" marL="0">
              <a:buNone/>
            </a:pPr>
            <a:r>
              <a:rPr lang="en-US" sz="1100" b="1" dirty="0">
                <a:solidFill>
                  <a:srgbClr val="FFFFFF"/>
                </a:solidFill>
                <a:latin typeface="Bahnschrift" pitchFamily="34" charset="0"/>
                <a:ea typeface="Bahnschrift" pitchFamily="34" charset="-122"/>
                <a:cs typeface="Bahnschrift" pitchFamily="34" charset="-120"/>
              </a:rPr>
              <a:t>Tuning + promotion</a:t>
            </a:r>
            <a:endParaRPr lang="en-US" sz="1100" dirty="0"/>
          </a:p>
        </p:txBody>
      </p:sp>
      <p:sp>
        <p:nvSpPr>
          <p:cNvPr id="15" name="Shape 13"/>
          <p:cNvSpPr/>
          <p:nvPr/>
        </p:nvSpPr>
        <p:spPr>
          <a:xfrm>
            <a:off x="4663440" y="1874520"/>
            <a:ext cx="1920240" cy="749808"/>
          </a:xfrm>
          <a:prstGeom prst="rect">
            <a:avLst/>
          </a:prstGeom>
          <a:solidFill>
            <a:srgbClr val="C96A2B"/>
          </a:solidFill>
          <a:ln w="12700">
            <a:solidFill>
              <a:srgbClr val="C96A2B"/>
            </a:solidFill>
            <a:prstDash val="solid"/>
          </a:ln>
        </p:spPr>
      </p:sp>
      <p:sp>
        <p:nvSpPr>
          <p:cNvPr id="16" name="Text 14"/>
          <p:cNvSpPr/>
          <p:nvPr/>
        </p:nvSpPr>
        <p:spPr>
          <a:xfrm>
            <a:off x="4736592" y="2002536"/>
            <a:ext cx="1737360" cy="566928"/>
          </a:xfrm>
          <a:prstGeom prst="rect">
            <a:avLst/>
          </a:prstGeom>
          <a:noFill/>
          <a:ln/>
        </p:spPr>
        <p:txBody>
          <a:bodyPr wrap="square" rtlCol="0" anchor="ctr"/>
          <a:lstStyle/>
          <a:p>
            <a:pPr algn="ctr" indent="0" marL="0">
              <a:buNone/>
            </a:pPr>
            <a:r>
              <a:rPr lang="en-US" sz="1100" b="1" dirty="0">
                <a:solidFill>
                  <a:srgbClr val="FFFFFF"/>
                </a:solidFill>
                <a:latin typeface="Bahnschrift" pitchFamily="34" charset="0"/>
                <a:ea typeface="Bahnschrift" pitchFamily="34" charset="-122"/>
                <a:cs typeface="Bahnschrift" pitchFamily="34" charset="-120"/>
              </a:rPr>
              <a:t>Scaling 2M / 4M / 8M</a:t>
            </a:r>
            <a:endParaRPr lang="en-US" sz="1100" dirty="0"/>
          </a:p>
        </p:txBody>
      </p:sp>
      <p:sp>
        <p:nvSpPr>
          <p:cNvPr id="17" name="Shape 15"/>
          <p:cNvSpPr/>
          <p:nvPr/>
        </p:nvSpPr>
        <p:spPr>
          <a:xfrm>
            <a:off x="6720840" y="1874520"/>
            <a:ext cx="1783080" cy="749808"/>
          </a:xfrm>
          <a:prstGeom prst="rect">
            <a:avLst/>
          </a:prstGeom>
          <a:solidFill>
            <a:srgbClr val="4E8B61"/>
          </a:solidFill>
          <a:ln w="12700">
            <a:solidFill>
              <a:srgbClr val="4E8B61"/>
            </a:solidFill>
            <a:prstDash val="solid"/>
          </a:ln>
        </p:spPr>
      </p:sp>
      <p:sp>
        <p:nvSpPr>
          <p:cNvPr id="18" name="Text 16"/>
          <p:cNvSpPr/>
          <p:nvPr/>
        </p:nvSpPr>
        <p:spPr>
          <a:xfrm>
            <a:off x="6793992" y="2002536"/>
            <a:ext cx="1600200" cy="566928"/>
          </a:xfrm>
          <a:prstGeom prst="rect">
            <a:avLst/>
          </a:prstGeom>
          <a:noFill/>
          <a:ln/>
        </p:spPr>
        <p:txBody>
          <a:bodyPr wrap="square" rtlCol="0" anchor="ctr"/>
          <a:lstStyle/>
          <a:p>
            <a:pPr algn="ctr" indent="0" marL="0">
              <a:buNone/>
            </a:pPr>
            <a:r>
              <a:rPr lang="en-US" sz="1100" b="1" dirty="0">
                <a:solidFill>
                  <a:srgbClr val="FFFFFF"/>
                </a:solidFill>
                <a:latin typeface="Bahnschrift" pitchFamily="34" charset="0"/>
                <a:ea typeface="Bahnschrift" pitchFamily="34" charset="-122"/>
                <a:cs typeface="Bahnschrift" pitchFamily="34" charset="-120"/>
              </a:rPr>
              <a:t>CatBoost full-data</a:t>
            </a:r>
            <a:endParaRPr lang="en-US" sz="1100" dirty="0"/>
          </a:p>
        </p:txBody>
      </p:sp>
      <p:sp>
        <p:nvSpPr>
          <p:cNvPr id="19" name="Shape 17"/>
          <p:cNvSpPr/>
          <p:nvPr/>
        </p:nvSpPr>
        <p:spPr>
          <a:xfrm>
            <a:off x="8641080" y="1874520"/>
            <a:ext cx="2011680" cy="749808"/>
          </a:xfrm>
          <a:prstGeom prst="rect">
            <a:avLst/>
          </a:prstGeom>
          <a:solidFill>
            <a:srgbClr val="2B7A78"/>
          </a:solidFill>
          <a:ln w="12700">
            <a:solidFill>
              <a:srgbClr val="2B7A78"/>
            </a:solidFill>
            <a:prstDash val="solid"/>
          </a:ln>
        </p:spPr>
      </p:sp>
      <p:sp>
        <p:nvSpPr>
          <p:cNvPr id="20" name="Text 18"/>
          <p:cNvSpPr/>
          <p:nvPr/>
        </p:nvSpPr>
        <p:spPr>
          <a:xfrm>
            <a:off x="8714232" y="2002536"/>
            <a:ext cx="1828800" cy="566928"/>
          </a:xfrm>
          <a:prstGeom prst="rect">
            <a:avLst/>
          </a:prstGeom>
          <a:noFill/>
          <a:ln/>
        </p:spPr>
        <p:txBody>
          <a:bodyPr wrap="square" rtlCol="0" anchor="ctr"/>
          <a:lstStyle/>
          <a:p>
            <a:pPr algn="ctr" indent="0" marL="0">
              <a:buNone/>
            </a:pPr>
            <a:r>
              <a:rPr lang="en-US" sz="1100" b="1" dirty="0">
                <a:solidFill>
                  <a:srgbClr val="FFFFFF"/>
                </a:solidFill>
                <a:latin typeface="Bahnschrift" pitchFamily="34" charset="0"/>
                <a:ea typeface="Bahnschrift" pitchFamily="34" charset="-122"/>
                <a:cs typeface="Bahnschrift" pitchFamily="34" charset="-120"/>
              </a:rPr>
              <a:t>Threshold + chốt model</a:t>
            </a:r>
            <a:endParaRPr lang="en-US" sz="1100" dirty="0"/>
          </a:p>
        </p:txBody>
      </p:sp>
      <p:sp>
        <p:nvSpPr>
          <p:cNvPr id="21" name="Shape 19"/>
          <p:cNvSpPr/>
          <p:nvPr/>
        </p:nvSpPr>
        <p:spPr>
          <a:xfrm>
            <a:off x="804672" y="3063240"/>
            <a:ext cx="3383280" cy="2331720"/>
          </a:xfrm>
          <a:prstGeom prst="rect">
            <a:avLst/>
          </a:prstGeom>
          <a:solidFill>
            <a:srgbClr val="F6E7DA"/>
          </a:solidFill>
          <a:ln w="12700">
            <a:solidFill>
              <a:srgbClr val="F6E7DA"/>
            </a:solidFill>
            <a:prstDash val="solid"/>
          </a:ln>
        </p:spPr>
      </p:sp>
      <p:sp>
        <p:nvSpPr>
          <p:cNvPr id="22" name="Shape 20"/>
          <p:cNvSpPr/>
          <p:nvPr/>
        </p:nvSpPr>
        <p:spPr>
          <a:xfrm>
            <a:off x="804672" y="3063240"/>
            <a:ext cx="73152" cy="2331720"/>
          </a:xfrm>
          <a:prstGeom prst="rect">
            <a:avLst/>
          </a:prstGeom>
          <a:solidFill>
            <a:srgbClr val="C96A2B"/>
          </a:solidFill>
          <a:ln w="12700">
            <a:solidFill>
              <a:srgbClr val="C96A2B"/>
            </a:solidFill>
            <a:prstDash val="solid"/>
          </a:ln>
        </p:spPr>
      </p:sp>
      <p:sp>
        <p:nvSpPr>
          <p:cNvPr id="23" name="Shape 21"/>
          <p:cNvSpPr/>
          <p:nvPr/>
        </p:nvSpPr>
        <p:spPr>
          <a:xfrm>
            <a:off x="950976" y="3191256"/>
            <a:ext cx="475488" cy="27432"/>
          </a:xfrm>
          <a:prstGeom prst="rect">
            <a:avLst/>
          </a:prstGeom>
          <a:solidFill>
            <a:srgbClr val="C96A2B"/>
          </a:solidFill>
          <a:ln w="12700">
            <a:solidFill>
              <a:srgbClr val="C96A2B"/>
            </a:solidFill>
            <a:prstDash val="solid"/>
          </a:ln>
        </p:spPr>
      </p:sp>
      <p:sp>
        <p:nvSpPr>
          <p:cNvPr id="24" name="Text 22"/>
          <p:cNvSpPr/>
          <p:nvPr/>
        </p:nvSpPr>
        <p:spPr>
          <a:xfrm>
            <a:off x="1005840" y="3282696"/>
            <a:ext cx="3072384" cy="219456"/>
          </a:xfrm>
          <a:prstGeom prst="rect">
            <a:avLst/>
          </a:prstGeom>
          <a:noFill/>
          <a:ln/>
        </p:spPr>
        <p:txBody>
          <a:bodyPr wrap="square" rtlCol="0" anchor="ctr"/>
          <a:lstStyle/>
          <a:p>
            <a:pPr indent="0" marL="0">
              <a:buNone/>
            </a:pPr>
            <a:r>
              <a:rPr lang="en-US" sz="1450" b="1" dirty="0">
                <a:solidFill>
                  <a:srgbClr val="0E1B2A"/>
                </a:solidFill>
                <a:latin typeface="Bahnschrift" pitchFamily="34" charset="0"/>
                <a:ea typeface="Bahnschrift" pitchFamily="34" charset="-122"/>
                <a:cs typeface="Bahnschrift" pitchFamily="34" charset="-120"/>
              </a:rPr>
              <a:t>Nguyên tắc đánh giá</a:t>
            </a:r>
            <a:endParaRPr lang="en-US" sz="1450" dirty="0"/>
          </a:p>
        </p:txBody>
      </p:sp>
      <p:sp>
        <p:nvSpPr>
          <p:cNvPr id="25" name="Text 23"/>
          <p:cNvSpPr/>
          <p:nvPr/>
        </p:nvSpPr>
        <p:spPr>
          <a:xfrm>
            <a:off x="1005840" y="3611880"/>
            <a:ext cx="3072384" cy="1655064"/>
          </a:xfrm>
          <a:prstGeom prst="rect">
            <a:avLst/>
          </a:prstGeom>
          <a:noFill/>
          <a:ln/>
        </p:spPr>
        <p:txBody>
          <a:bodyPr wrap="square" lIns="254" tIns="254" rIns="254" bIns="254" rtlCol="0" anchor="t"/>
          <a:lstStyle/>
          <a:p>
            <a:pPr indent="0" marL="0">
              <a:buNone/>
            </a:pPr>
            <a:r>
              <a:rPr lang="en-US" sz="1050" dirty="0">
                <a:solidFill>
                  <a:srgbClr val="41576D"/>
                </a:solidFill>
                <a:latin typeface="Aptos" pitchFamily="34" charset="0"/>
                <a:ea typeface="Aptos" pitchFamily="34" charset="-122"/>
                <a:cs typeface="Aptos" pitchFamily="34" charset="-120"/>
              </a:rPr>
              <a:t>Tất cả model dùng chung bộ split đã freeze. Test không được phép dùng để chọn hyperparameter, còn OOD holdout được giữ riêng để đo khả năng tổng quát hóa trước các attack khác phân bố.</a:t>
            </a:r>
            <a:endParaRPr lang="en-US" sz="1050" dirty="0"/>
          </a:p>
        </p:txBody>
      </p:sp>
      <p:sp>
        <p:nvSpPr>
          <p:cNvPr id="26" name="Shape 24"/>
          <p:cNvSpPr/>
          <p:nvPr/>
        </p:nvSpPr>
        <p:spPr>
          <a:xfrm>
            <a:off x="4370832" y="3063240"/>
            <a:ext cx="3611880" cy="2331720"/>
          </a:xfrm>
          <a:prstGeom prst="rect">
            <a:avLst/>
          </a:prstGeom>
          <a:solidFill>
            <a:srgbClr val="E7F0F6"/>
          </a:solidFill>
          <a:ln w="12700">
            <a:solidFill>
              <a:srgbClr val="E7F0F6"/>
            </a:solidFill>
            <a:prstDash val="solid"/>
          </a:ln>
        </p:spPr>
      </p:sp>
      <p:sp>
        <p:nvSpPr>
          <p:cNvPr id="27" name="Shape 25"/>
          <p:cNvSpPr/>
          <p:nvPr/>
        </p:nvSpPr>
        <p:spPr>
          <a:xfrm>
            <a:off x="4370832" y="3063240"/>
            <a:ext cx="73152" cy="2331720"/>
          </a:xfrm>
          <a:prstGeom prst="rect">
            <a:avLst/>
          </a:prstGeom>
          <a:solidFill>
            <a:srgbClr val="3D6C8D"/>
          </a:solidFill>
          <a:ln w="12700">
            <a:solidFill>
              <a:srgbClr val="3D6C8D"/>
            </a:solidFill>
            <a:prstDash val="solid"/>
          </a:ln>
        </p:spPr>
      </p:sp>
      <p:sp>
        <p:nvSpPr>
          <p:cNvPr id="28" name="Shape 26"/>
          <p:cNvSpPr/>
          <p:nvPr/>
        </p:nvSpPr>
        <p:spPr>
          <a:xfrm>
            <a:off x="4517136" y="3191256"/>
            <a:ext cx="475488" cy="27432"/>
          </a:xfrm>
          <a:prstGeom prst="rect">
            <a:avLst/>
          </a:prstGeom>
          <a:solidFill>
            <a:srgbClr val="3D6C8D"/>
          </a:solidFill>
          <a:ln w="12700">
            <a:solidFill>
              <a:srgbClr val="3D6C8D"/>
            </a:solidFill>
            <a:prstDash val="solid"/>
          </a:ln>
        </p:spPr>
      </p:sp>
      <p:sp>
        <p:nvSpPr>
          <p:cNvPr id="29" name="Text 27"/>
          <p:cNvSpPr/>
          <p:nvPr/>
        </p:nvSpPr>
        <p:spPr>
          <a:xfrm>
            <a:off x="4572000" y="3282696"/>
            <a:ext cx="3300984" cy="219456"/>
          </a:xfrm>
          <a:prstGeom prst="rect">
            <a:avLst/>
          </a:prstGeom>
          <a:noFill/>
          <a:ln/>
        </p:spPr>
        <p:txBody>
          <a:bodyPr wrap="square" rtlCol="0" anchor="ctr"/>
          <a:lstStyle/>
          <a:p>
            <a:pPr indent="0" marL="0">
              <a:buNone/>
            </a:pPr>
            <a:r>
              <a:rPr lang="en-US" sz="1450" b="1" dirty="0">
                <a:solidFill>
                  <a:srgbClr val="0E1B2A"/>
                </a:solidFill>
                <a:latin typeface="Bahnschrift" pitchFamily="34" charset="0"/>
                <a:ea typeface="Bahnschrift" pitchFamily="34" charset="-122"/>
                <a:cs typeface="Bahnschrift" pitchFamily="34" charset="-120"/>
              </a:rPr>
              <a:t>Selection rule</a:t>
            </a:r>
            <a:endParaRPr lang="en-US" sz="1450" dirty="0"/>
          </a:p>
        </p:txBody>
      </p:sp>
      <p:sp>
        <p:nvSpPr>
          <p:cNvPr id="30" name="Text 28"/>
          <p:cNvSpPr/>
          <p:nvPr/>
        </p:nvSpPr>
        <p:spPr>
          <a:xfrm>
            <a:off x="4572000" y="3611880"/>
            <a:ext cx="3300984" cy="1655064"/>
          </a:xfrm>
          <a:prstGeom prst="rect">
            <a:avLst/>
          </a:prstGeom>
          <a:noFill/>
          <a:ln/>
        </p:spPr>
        <p:txBody>
          <a:bodyPr wrap="square" lIns="254" tIns="254" rIns="254" bIns="254" rtlCol="0" anchor="t"/>
          <a:lstStyle/>
          <a:p>
            <a:pPr indent="0" marL="0">
              <a:buNone/>
            </a:pPr>
            <a:r>
              <a:rPr lang="en-US" sz="1050" dirty="0">
                <a:solidFill>
                  <a:srgbClr val="41576D"/>
                </a:solidFill>
                <a:latin typeface="Aptos" pitchFamily="34" charset="0"/>
                <a:ea typeface="Aptos" pitchFamily="34" charset="-122"/>
                <a:cs typeface="Aptos" pitchFamily="34" charset="-120"/>
              </a:rPr>
              <a:t>Hard gate cho tuning là val_fpr_at_default_0.5 &lt;= 0.02. Sau đó xếp hạng theo F1 ở operating point đã tune, rồi tie-break bằng FPR, OOD recall và train time.</a:t>
            </a:r>
            <a:endParaRPr lang="en-US" sz="1050" dirty="0"/>
          </a:p>
        </p:txBody>
      </p:sp>
      <p:sp>
        <p:nvSpPr>
          <p:cNvPr id="31" name="Shape 29"/>
          <p:cNvSpPr/>
          <p:nvPr/>
        </p:nvSpPr>
        <p:spPr>
          <a:xfrm>
            <a:off x="8165592" y="3063240"/>
            <a:ext cx="3246120" cy="2331720"/>
          </a:xfrm>
          <a:prstGeom prst="rect">
            <a:avLst/>
          </a:prstGeom>
          <a:solidFill>
            <a:srgbClr val="E8F2EA"/>
          </a:solidFill>
          <a:ln w="12700">
            <a:solidFill>
              <a:srgbClr val="E8F2EA"/>
            </a:solidFill>
            <a:prstDash val="solid"/>
          </a:ln>
        </p:spPr>
      </p:sp>
      <p:sp>
        <p:nvSpPr>
          <p:cNvPr id="32" name="Shape 30"/>
          <p:cNvSpPr/>
          <p:nvPr/>
        </p:nvSpPr>
        <p:spPr>
          <a:xfrm>
            <a:off x="8165592" y="3063240"/>
            <a:ext cx="73152" cy="2331720"/>
          </a:xfrm>
          <a:prstGeom prst="rect">
            <a:avLst/>
          </a:prstGeom>
          <a:solidFill>
            <a:srgbClr val="4E8B61"/>
          </a:solidFill>
          <a:ln w="12700">
            <a:solidFill>
              <a:srgbClr val="4E8B61"/>
            </a:solidFill>
            <a:prstDash val="solid"/>
          </a:ln>
        </p:spPr>
      </p:sp>
      <p:sp>
        <p:nvSpPr>
          <p:cNvPr id="33" name="Shape 31"/>
          <p:cNvSpPr/>
          <p:nvPr/>
        </p:nvSpPr>
        <p:spPr>
          <a:xfrm>
            <a:off x="8311896" y="3191256"/>
            <a:ext cx="475488" cy="27432"/>
          </a:xfrm>
          <a:prstGeom prst="rect">
            <a:avLst/>
          </a:prstGeom>
          <a:solidFill>
            <a:srgbClr val="4E8B61"/>
          </a:solidFill>
          <a:ln w="12700">
            <a:solidFill>
              <a:srgbClr val="4E8B61"/>
            </a:solidFill>
            <a:prstDash val="solid"/>
          </a:ln>
        </p:spPr>
      </p:sp>
      <p:sp>
        <p:nvSpPr>
          <p:cNvPr id="34" name="Text 32"/>
          <p:cNvSpPr/>
          <p:nvPr/>
        </p:nvSpPr>
        <p:spPr>
          <a:xfrm>
            <a:off x="8366760" y="3282696"/>
            <a:ext cx="2935224" cy="219456"/>
          </a:xfrm>
          <a:prstGeom prst="rect">
            <a:avLst/>
          </a:prstGeom>
          <a:noFill/>
          <a:ln/>
        </p:spPr>
        <p:txBody>
          <a:bodyPr wrap="square" rtlCol="0" anchor="ctr"/>
          <a:lstStyle/>
          <a:p>
            <a:pPr indent="0" marL="0">
              <a:buNone/>
            </a:pPr>
            <a:r>
              <a:rPr lang="en-US" sz="1450" b="1" dirty="0">
                <a:solidFill>
                  <a:srgbClr val="0E1B2A"/>
                </a:solidFill>
                <a:latin typeface="Bahnschrift" pitchFamily="34" charset="0"/>
                <a:ea typeface="Bahnschrift" pitchFamily="34" charset="-122"/>
                <a:cs typeface="Bahnschrift" pitchFamily="34" charset="-120"/>
              </a:rPr>
              <a:t>Thông điệp quan trọng</a:t>
            </a:r>
            <a:endParaRPr lang="en-US" sz="1450" dirty="0"/>
          </a:p>
        </p:txBody>
      </p:sp>
      <p:sp>
        <p:nvSpPr>
          <p:cNvPr id="35" name="Text 33"/>
          <p:cNvSpPr/>
          <p:nvPr/>
        </p:nvSpPr>
        <p:spPr>
          <a:xfrm>
            <a:off x="8366760" y="3611880"/>
            <a:ext cx="2935224" cy="1655064"/>
          </a:xfrm>
          <a:prstGeom prst="rect">
            <a:avLst/>
          </a:prstGeom>
          <a:noFill/>
          <a:ln/>
        </p:spPr>
        <p:txBody>
          <a:bodyPr wrap="square" lIns="254" tIns="254" rIns="254" bIns="254" rtlCol="0" anchor="t"/>
          <a:lstStyle/>
          <a:p>
            <a:pPr indent="0" marL="0">
              <a:buNone/>
            </a:pPr>
            <a:r>
              <a:rPr lang="en-US" sz="1050" dirty="0">
                <a:solidFill>
                  <a:srgbClr val="41576D"/>
                </a:solidFill>
                <a:latin typeface="Aptos" pitchFamily="34" charset="0"/>
                <a:ea typeface="Aptos" pitchFamily="34" charset="-122"/>
                <a:cs typeface="Aptos" pitchFamily="34" charset="-120"/>
              </a:rPr>
              <a:t>Scaling công bằng giúp tránh kết luận vội từ promotion run. Chỉ sau khi có 2M/4M/8M và full-data mới có đủ cơ sở chắc để chốt model cuối cùng.</a:t>
            </a:r>
            <a:endParaRPr lang="en-US" sz="1050" dirty="0"/>
          </a:p>
        </p:txBody>
      </p:sp>
      <p:sp>
        <p:nvSpPr>
          <p:cNvPr id="36" name="Text 34"/>
          <p:cNvSpPr/>
          <p:nvPr/>
        </p:nvSpPr>
        <p:spPr>
          <a:xfrm>
            <a:off x="548640" y="6473952"/>
            <a:ext cx="9509760" cy="164592"/>
          </a:xfrm>
          <a:prstGeom prst="rect">
            <a:avLst/>
          </a:prstGeom>
          <a:noFill/>
          <a:ln/>
        </p:spPr>
        <p:txBody>
          <a:bodyPr wrap="square" rtlCol="0" anchor="ctr"/>
          <a:lstStyle/>
          <a:p>
            <a:pPr indent="0" marL="0">
              <a:buNone/>
            </a:pPr>
            <a:r>
              <a:rPr lang="en-US" sz="900" dirty="0">
                <a:solidFill>
                  <a:srgbClr val="7A7A76"/>
                </a:solidFill>
                <a:latin typeface="Aptos" pitchFamily="34" charset="0"/>
                <a:ea typeface="Aptos" pitchFamily="34" charset="-122"/>
                <a:cs typeface="Aptos" pitchFamily="34" charset="-120"/>
              </a:rPr>
              <a:t>Protocol của repo khá chặt: benchmark -&gt; tuning -&gt; scaling -&gt; threshold -&gt; final decision, nhờ đó lập luận học thuật khi bảo vệ sẽ vững hơn.</a:t>
            </a:r>
            <a:endParaRPr lang="en-US" sz="900" dirty="0"/>
          </a:p>
        </p:txBody>
      </p:sp>
      <p:sp>
        <p:nvSpPr>
          <p:cNvPr id="25" name="Slide Number Placeholder 0"/>
          <p:cNvSpPr>
            <a:spLocks noGrp="1"/>
          </p:cNvSpPr>
          <p:nvPr>
            <p:ph type="sldNum" sz="quarter" idx="4294967295"/>
          </p:nvPr>
        </p:nvSpPr>
        <p:spPr>
          <a:xfrm>
            <a:off x="11475720" y="6446520"/>
            <a:ext cx="32004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7A7A76"/>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CF8F2"/>
        </a:solidFill>
      </p:bgPr>
    </p:bg>
    <p:spTree>
      <p:nvGrpSpPr>
        <p:cNvPr id="1" name=""/>
        <p:cNvGrpSpPr/>
        <p:nvPr/>
      </p:nvGrpSpPr>
      <p:grpSpPr>
        <a:xfrm>
          <a:off x="0" y="0"/>
          <a:ext cx="0" cy="0"/>
          <a:chOff x="0" y="0"/>
          <a:chExt cx="0" cy="0"/>
        </a:xfrm>
      </p:grpSpPr>
      <p:sp>
        <p:nvSpPr>
          <p:cNvPr id="2" name="Shape 0"/>
          <p:cNvSpPr/>
          <p:nvPr/>
        </p:nvSpPr>
        <p:spPr>
          <a:xfrm>
            <a:off x="0" y="0"/>
            <a:ext cx="12191695" cy="219456"/>
          </a:xfrm>
          <a:prstGeom prst="rect">
            <a:avLst/>
          </a:prstGeom>
          <a:solidFill>
            <a:srgbClr val="0E1B2A"/>
          </a:solidFill>
          <a:ln w="12700">
            <a:solidFill>
              <a:srgbClr val="0E1B2A"/>
            </a:solidFill>
            <a:prstDash val="solid"/>
          </a:ln>
        </p:spPr>
      </p:sp>
      <p:sp>
        <p:nvSpPr>
          <p:cNvPr id="3" name="Shape 1"/>
          <p:cNvSpPr/>
          <p:nvPr/>
        </p:nvSpPr>
        <p:spPr>
          <a:xfrm>
            <a:off x="566928" y="713232"/>
            <a:ext cx="54864" cy="859536"/>
          </a:xfrm>
          <a:prstGeom prst="rect">
            <a:avLst/>
          </a:prstGeom>
          <a:solidFill>
            <a:srgbClr val="C96A2B"/>
          </a:solidFill>
          <a:ln w="12700">
            <a:solidFill>
              <a:srgbClr val="C96A2B"/>
            </a:solidFill>
            <a:prstDash val="solid"/>
          </a:ln>
        </p:spPr>
      </p:sp>
      <p:sp>
        <p:nvSpPr>
          <p:cNvPr id="4" name="Shape 2"/>
          <p:cNvSpPr/>
          <p:nvPr/>
        </p:nvSpPr>
        <p:spPr>
          <a:xfrm>
            <a:off x="9555480" y="822960"/>
            <a:ext cx="2011680" cy="36576"/>
          </a:xfrm>
          <a:prstGeom prst="rect">
            <a:avLst/>
          </a:prstGeom>
          <a:solidFill>
            <a:srgbClr val="C96A2B">
              <a:alpha val="72000"/>
            </a:srgbClr>
          </a:solidFill>
          <a:ln w="12700">
            <a:solidFill>
              <a:srgbClr val="C96A2B">
                <a:alpha val="72000"/>
              </a:srgbClr>
            </a:solidFill>
            <a:prstDash val="solid"/>
          </a:ln>
        </p:spPr>
      </p:sp>
      <p:sp>
        <p:nvSpPr>
          <p:cNvPr id="5" name="Shape 3"/>
          <p:cNvSpPr/>
          <p:nvPr/>
        </p:nvSpPr>
        <p:spPr>
          <a:xfrm>
            <a:off x="10469880" y="292608"/>
            <a:ext cx="1078992" cy="1078992"/>
          </a:xfrm>
          <a:prstGeom prst="ellipse">
            <a:avLst/>
          </a:prstGeom>
          <a:solidFill>
            <a:srgbClr val="C96A2B">
              <a:alpha val="0"/>
            </a:srgbClr>
          </a:solidFill>
          <a:ln w="12700">
            <a:solidFill>
              <a:srgbClr val="C96A2B">
                <a:alpha val="18000"/>
              </a:srgbClr>
            </a:solidFill>
            <a:prstDash val="solid"/>
          </a:ln>
        </p:spPr>
      </p:sp>
      <p:sp>
        <p:nvSpPr>
          <p:cNvPr id="6" name="Shape 4"/>
          <p:cNvSpPr/>
          <p:nvPr/>
        </p:nvSpPr>
        <p:spPr>
          <a:xfrm>
            <a:off x="73152" y="5257800"/>
            <a:ext cx="987552" cy="987552"/>
          </a:xfrm>
          <a:prstGeom prst="ellipse">
            <a:avLst/>
          </a:prstGeom>
          <a:solidFill>
            <a:srgbClr val="2B7A78">
              <a:alpha val="0"/>
            </a:srgbClr>
          </a:solidFill>
          <a:ln w="12700">
            <a:solidFill>
              <a:srgbClr val="2B7A78">
                <a:alpha val="14000"/>
              </a:srgbClr>
            </a:solidFill>
            <a:prstDash val="solid"/>
          </a:ln>
        </p:spPr>
      </p:sp>
      <p:sp>
        <p:nvSpPr>
          <p:cNvPr id="7" name="Text 5"/>
          <p:cNvSpPr/>
          <p:nvPr/>
        </p:nvSpPr>
        <p:spPr>
          <a:xfrm>
            <a:off x="768096" y="603504"/>
            <a:ext cx="4023360" cy="237744"/>
          </a:xfrm>
          <a:prstGeom prst="rect">
            <a:avLst/>
          </a:prstGeom>
          <a:noFill/>
          <a:ln/>
        </p:spPr>
        <p:txBody>
          <a:bodyPr wrap="square" rtlCol="0" anchor="ctr"/>
          <a:lstStyle/>
          <a:p>
            <a:pPr indent="0" marL="0">
              <a:buNone/>
            </a:pPr>
            <a:r>
              <a:rPr lang="en-US" sz="1100" b="1" dirty="0">
                <a:solidFill>
                  <a:srgbClr val="C96A2B"/>
                </a:solidFill>
                <a:latin typeface="Bahnschrift" pitchFamily="34" charset="0"/>
                <a:ea typeface="Bahnschrift" pitchFamily="34" charset="-122"/>
                <a:cs typeface="Bahnschrift" pitchFamily="34" charset="-120"/>
              </a:rPr>
              <a:t>05  INITIAL MODEL SCREENING</a:t>
            </a:r>
            <a:endParaRPr lang="en-US" sz="1100" dirty="0"/>
          </a:p>
        </p:txBody>
      </p:sp>
      <p:sp>
        <p:nvSpPr>
          <p:cNvPr id="8" name="Text 6"/>
          <p:cNvSpPr/>
          <p:nvPr/>
        </p:nvSpPr>
        <p:spPr>
          <a:xfrm>
            <a:off x="768096" y="859536"/>
            <a:ext cx="8001000" cy="457200"/>
          </a:xfrm>
          <a:prstGeom prst="rect">
            <a:avLst/>
          </a:prstGeom>
          <a:noFill/>
          <a:ln/>
        </p:spPr>
        <p:txBody>
          <a:bodyPr wrap="square" rtlCol="0" anchor="ctr"/>
          <a:lstStyle/>
          <a:p>
            <a:pPr indent="0" marL="0">
              <a:buNone/>
            </a:pPr>
            <a:r>
              <a:rPr lang="en-US" sz="2500" b="1" dirty="0">
                <a:solidFill>
                  <a:srgbClr val="0E1B2A"/>
                </a:solidFill>
                <a:latin typeface="Bahnschrift" pitchFamily="34" charset="0"/>
                <a:ea typeface="Bahnschrift" pitchFamily="34" charset="-122"/>
                <a:cs typeface="Bahnschrift" pitchFamily="34" charset="-120"/>
              </a:rPr>
              <a:t>Kết quả benchmark vòng đầu</a:t>
            </a:r>
            <a:endParaRPr lang="en-US" sz="2500" dirty="0"/>
          </a:p>
        </p:txBody>
      </p:sp>
      <p:sp>
        <p:nvSpPr>
          <p:cNvPr id="9" name="Shape 7"/>
          <p:cNvSpPr/>
          <p:nvPr/>
        </p:nvSpPr>
        <p:spPr>
          <a:xfrm>
            <a:off x="768096" y="1389888"/>
            <a:ext cx="1965960" cy="36576"/>
          </a:xfrm>
          <a:prstGeom prst="rect">
            <a:avLst/>
          </a:prstGeom>
          <a:solidFill>
            <a:srgbClr val="C96A2B"/>
          </a:solidFill>
          <a:ln w="12700">
            <a:solidFill>
              <a:srgbClr val="C96A2B"/>
            </a:solidFill>
            <a:prstDash val="solid"/>
          </a:ln>
        </p:spPr>
      </p:sp>
      <p:sp>
        <p:nvSpPr>
          <p:cNvPr id="10" name="Text 8"/>
          <p:cNvSpPr/>
          <p:nvPr/>
        </p:nvSpPr>
        <p:spPr>
          <a:xfrm>
            <a:off x="10808208" y="566928"/>
            <a:ext cx="502920" cy="237744"/>
          </a:xfrm>
          <a:prstGeom prst="rect">
            <a:avLst/>
          </a:prstGeom>
          <a:noFill/>
          <a:ln/>
        </p:spPr>
        <p:txBody>
          <a:bodyPr wrap="square" rtlCol="0" anchor="ctr"/>
          <a:lstStyle/>
          <a:p>
            <a:pPr algn="r" indent="0" marL="0">
              <a:buNone/>
            </a:pPr>
            <a:r>
              <a:rPr lang="en-US" sz="1200" b="1" dirty="0">
                <a:solidFill>
                  <a:srgbClr val="7A7A76"/>
                </a:solidFill>
                <a:latin typeface="Bahnschrift" pitchFamily="34" charset="0"/>
                <a:ea typeface="Bahnschrift" pitchFamily="34" charset="-122"/>
                <a:cs typeface="Bahnschrift" pitchFamily="34" charset="-120"/>
              </a:rPr>
              <a:t>06</a:t>
            </a:r>
            <a:endParaRPr lang="en-US" sz="1200" dirty="0"/>
          </a:p>
        </p:txBody>
      </p:sp>
      <p:pic>
        <p:nvPicPr>
          <p:cNvPr id="11" name="Image 0" descr="F:\Work\IDS_ML_New\docs\figures\kaggle_metric_overview.png">    </p:cNvPr>
          <p:cNvPicPr>
            <a:picLocks noChangeAspect="1"/>
          </p:cNvPicPr>
          <p:nvPr/>
        </p:nvPicPr>
        <p:blipFill>
          <a:blip r:embed="rId1"/>
          <a:stretch>
            <a:fillRect/>
          </a:stretch>
        </p:blipFill>
        <p:spPr>
          <a:xfrm>
            <a:off x="640080" y="2432136"/>
            <a:ext cx="5989320" cy="2268049"/>
          </a:xfrm>
          <a:prstGeom prst="rect">
            <a:avLst/>
          </a:prstGeom>
        </p:spPr>
      </p:pic>
      <p:sp>
        <p:nvSpPr>
          <p:cNvPr id="12" name="Shape 9"/>
          <p:cNvSpPr/>
          <p:nvPr/>
        </p:nvSpPr>
        <p:spPr>
          <a:xfrm>
            <a:off x="6903720" y="1481328"/>
            <a:ext cx="4297680" cy="1097280"/>
          </a:xfrm>
          <a:prstGeom prst="rect">
            <a:avLst/>
          </a:prstGeom>
          <a:solidFill>
            <a:srgbClr val="F6E7DA"/>
          </a:solidFill>
          <a:ln w="12700">
            <a:solidFill>
              <a:srgbClr val="F6E7DA"/>
            </a:solidFill>
            <a:prstDash val="solid"/>
          </a:ln>
        </p:spPr>
      </p:sp>
      <p:sp>
        <p:nvSpPr>
          <p:cNvPr id="13" name="Shape 10"/>
          <p:cNvSpPr/>
          <p:nvPr/>
        </p:nvSpPr>
        <p:spPr>
          <a:xfrm>
            <a:off x="6903720" y="1481328"/>
            <a:ext cx="73152" cy="1097280"/>
          </a:xfrm>
          <a:prstGeom prst="rect">
            <a:avLst/>
          </a:prstGeom>
          <a:solidFill>
            <a:srgbClr val="C96A2B"/>
          </a:solidFill>
          <a:ln w="12700">
            <a:solidFill>
              <a:srgbClr val="C96A2B"/>
            </a:solidFill>
            <a:prstDash val="solid"/>
          </a:ln>
        </p:spPr>
      </p:sp>
      <p:sp>
        <p:nvSpPr>
          <p:cNvPr id="14" name="Shape 11"/>
          <p:cNvSpPr/>
          <p:nvPr/>
        </p:nvSpPr>
        <p:spPr>
          <a:xfrm>
            <a:off x="7050024" y="1609344"/>
            <a:ext cx="475488" cy="27432"/>
          </a:xfrm>
          <a:prstGeom prst="rect">
            <a:avLst/>
          </a:prstGeom>
          <a:solidFill>
            <a:srgbClr val="C96A2B"/>
          </a:solidFill>
          <a:ln w="12700">
            <a:solidFill>
              <a:srgbClr val="C96A2B"/>
            </a:solidFill>
            <a:prstDash val="solid"/>
          </a:ln>
        </p:spPr>
      </p:sp>
      <p:sp>
        <p:nvSpPr>
          <p:cNvPr id="15" name="Text 12"/>
          <p:cNvSpPr/>
          <p:nvPr/>
        </p:nvSpPr>
        <p:spPr>
          <a:xfrm>
            <a:off x="7104888" y="1700784"/>
            <a:ext cx="3986784" cy="219456"/>
          </a:xfrm>
          <a:prstGeom prst="rect">
            <a:avLst/>
          </a:prstGeom>
          <a:noFill/>
          <a:ln/>
        </p:spPr>
        <p:txBody>
          <a:bodyPr wrap="square" rtlCol="0" anchor="ctr"/>
          <a:lstStyle/>
          <a:p>
            <a:pPr indent="0" marL="0">
              <a:buNone/>
            </a:pPr>
            <a:r>
              <a:rPr lang="en-US" sz="1450" b="1" dirty="0">
                <a:solidFill>
                  <a:srgbClr val="0E1B2A"/>
                </a:solidFill>
                <a:latin typeface="Bahnschrift" pitchFamily="34" charset="0"/>
                <a:ea typeface="Bahnschrift" pitchFamily="34" charset="-122"/>
                <a:cs typeface="Bahnschrift" pitchFamily="34" charset="-120"/>
              </a:rPr>
              <a:t>Nhận xét tổng quát</a:t>
            </a:r>
            <a:endParaRPr lang="en-US" sz="1450" dirty="0"/>
          </a:p>
        </p:txBody>
      </p:sp>
      <p:sp>
        <p:nvSpPr>
          <p:cNvPr id="16" name="Text 13"/>
          <p:cNvSpPr/>
          <p:nvPr/>
        </p:nvSpPr>
        <p:spPr>
          <a:xfrm>
            <a:off x="7104888" y="2029968"/>
            <a:ext cx="3986784" cy="420624"/>
          </a:xfrm>
          <a:prstGeom prst="rect">
            <a:avLst/>
          </a:prstGeom>
          <a:noFill/>
          <a:ln/>
        </p:spPr>
        <p:txBody>
          <a:bodyPr wrap="square" lIns="254" tIns="254" rIns="254" bIns="254" rtlCol="0" anchor="t"/>
          <a:lstStyle/>
          <a:p>
            <a:pPr indent="0" marL="0">
              <a:buNone/>
            </a:pPr>
            <a:r>
              <a:rPr lang="en-US" sz="1050" dirty="0">
                <a:solidFill>
                  <a:srgbClr val="41576D"/>
                </a:solidFill>
                <a:latin typeface="Aptos" pitchFamily="34" charset="0"/>
                <a:ea typeface="Aptos" pitchFamily="34" charset="-122"/>
                <a:cs typeface="Aptos" pitchFamily="34" charset="-120"/>
              </a:rPr>
              <a:t>Cả 5 mô hình đều cho F1 cao, nhưng IDS không thể chỉ nhìn F1. FPR mới là metric quyết định khả năng vận hành thực tế và mức độ nhiễu cảnh báo.</a:t>
            </a:r>
            <a:endParaRPr lang="en-US" sz="1050" dirty="0"/>
          </a:p>
        </p:txBody>
      </p:sp>
      <p:sp>
        <p:nvSpPr>
          <p:cNvPr id="17" name="Text 14"/>
          <p:cNvSpPr/>
          <p:nvPr/>
        </p:nvSpPr>
        <p:spPr>
          <a:xfrm>
            <a:off x="7059168" y="2743200"/>
            <a:ext cx="4023360" cy="2240280"/>
          </a:xfrm>
          <a:prstGeom prst="rect">
            <a:avLst/>
          </a:prstGeom>
          <a:noFill/>
          <a:ln/>
        </p:spPr>
        <p:txBody>
          <a:bodyPr wrap="square" lIns="635" tIns="635" rIns="635" bIns="635" rtlCol="0" anchor="t"/>
          <a:lstStyle/>
          <a:p>
            <a:pPr marL="342900" indent="-342900">
              <a:buSzPct val="100000"/>
              <a:buChar char="•"/>
            </a:pPr>
            <a:r>
              <a:rPr lang="en-US" sz="1100" dirty="0">
                <a:solidFill>
                  <a:srgbClr val="41576D"/>
                </a:solidFill>
                <a:latin typeface="Aptos" pitchFamily="34" charset="0"/>
                <a:ea typeface="Aptos" pitchFamily="34" charset="-122"/>
                <a:cs typeface="Aptos" pitchFamily="34" charset="-120"/>
              </a:rPr>
              <a:t>CatBoost có FPR thấp nhất trong nhóm hợp lệ: 1.26%.</a:t>
            </a:r>
            <a:endParaRPr lang="en-US" sz="1100" dirty="0"/>
          </a:p>
          <a:p>
            <a:pPr marL="342900" indent="-342900">
              <a:buSzPct val="100000"/>
              <a:buChar char="•"/>
            </a:pPr>
            <a:r>
              <a:rPr lang="en-US" sz="1100" dirty="0">
                <a:solidFill>
                  <a:srgbClr val="41576D"/>
                </a:solidFill>
                <a:latin typeface="Aptos" pitchFamily="34" charset="0"/>
                <a:ea typeface="Aptos" pitchFamily="34" charset="-122"/>
                <a:cs typeface="Aptos" pitchFamily="34" charset="-120"/>
              </a:rPr>
              <a:t>Random Forest có Test F1 cao nhất nhưng FPR vẫn nhỉnh hơn CatBoost.</a:t>
            </a:r>
            <a:endParaRPr lang="en-US" sz="1100" dirty="0"/>
          </a:p>
          <a:p>
            <a:pPr marL="342900" indent="-342900">
              <a:buSzPct val="100000"/>
              <a:buChar char="•"/>
            </a:pPr>
            <a:r>
              <a:rPr lang="en-US" sz="1100" dirty="0">
                <a:solidFill>
                  <a:srgbClr val="41576D"/>
                </a:solidFill>
                <a:latin typeface="Aptos" pitchFamily="34" charset="0"/>
                <a:ea typeface="Aptos" pitchFamily="34" charset="-122"/>
                <a:cs typeface="Aptos" pitchFamily="34" charset="-120"/>
              </a:rPr>
              <a:t>HistGB bám rất sát hai đối thủ trên và đóng vai trò baseline CPU-only đáng tin cậy.</a:t>
            </a:r>
            <a:endParaRPr lang="en-US" sz="1100" dirty="0"/>
          </a:p>
          <a:p>
            <a:pPr marL="342900" indent="-342900">
              <a:buSzPct val="100000"/>
              <a:buChar char="•"/>
            </a:pPr>
            <a:r>
              <a:rPr lang="en-US" sz="1100" dirty="0">
                <a:solidFill>
                  <a:srgbClr val="41576D"/>
                </a:solidFill>
                <a:latin typeface="Aptos" pitchFamily="34" charset="0"/>
                <a:ea typeface="Aptos" pitchFamily="34" charset="-122"/>
                <a:cs typeface="Aptos" pitchFamily="34" charset="-120"/>
              </a:rPr>
              <a:t>LogReg và MLP bị loại khỏi hướng deploy vì FPR quá cao (77.06% và 97.81%), dù một số metric khác nhìn có vẻ hấp dẫn.</a:t>
            </a:r>
            <a:endParaRPr lang="en-US" sz="1100" dirty="0"/>
          </a:p>
        </p:txBody>
      </p:sp>
      <p:sp>
        <p:nvSpPr>
          <p:cNvPr id="18" name="Shape 15"/>
          <p:cNvSpPr/>
          <p:nvPr/>
        </p:nvSpPr>
        <p:spPr>
          <a:xfrm>
            <a:off x="6903720" y="5102352"/>
            <a:ext cx="4297680" cy="658368"/>
          </a:xfrm>
          <a:prstGeom prst="rect">
            <a:avLst/>
          </a:prstGeom>
          <a:solidFill>
            <a:srgbClr val="E8F2EA"/>
          </a:solidFill>
          <a:ln w="12700">
            <a:solidFill>
              <a:srgbClr val="E8F2EA"/>
            </a:solidFill>
            <a:prstDash val="solid"/>
          </a:ln>
        </p:spPr>
      </p:sp>
      <p:sp>
        <p:nvSpPr>
          <p:cNvPr id="19" name="Shape 16"/>
          <p:cNvSpPr/>
          <p:nvPr/>
        </p:nvSpPr>
        <p:spPr>
          <a:xfrm>
            <a:off x="6903720" y="5102352"/>
            <a:ext cx="73152" cy="658368"/>
          </a:xfrm>
          <a:prstGeom prst="rect">
            <a:avLst/>
          </a:prstGeom>
          <a:solidFill>
            <a:srgbClr val="4E8B61"/>
          </a:solidFill>
          <a:ln w="12700">
            <a:solidFill>
              <a:srgbClr val="4E8B61"/>
            </a:solidFill>
            <a:prstDash val="solid"/>
          </a:ln>
        </p:spPr>
      </p:sp>
      <p:sp>
        <p:nvSpPr>
          <p:cNvPr id="20" name="Shape 17"/>
          <p:cNvSpPr/>
          <p:nvPr/>
        </p:nvSpPr>
        <p:spPr>
          <a:xfrm>
            <a:off x="7050024" y="5230368"/>
            <a:ext cx="347472" cy="27432"/>
          </a:xfrm>
          <a:prstGeom prst="rect">
            <a:avLst/>
          </a:prstGeom>
          <a:solidFill>
            <a:srgbClr val="4E8B61"/>
          </a:solidFill>
          <a:ln w="12700">
            <a:solidFill>
              <a:srgbClr val="4E8B61"/>
            </a:solidFill>
            <a:prstDash val="solid"/>
          </a:ln>
        </p:spPr>
      </p:sp>
      <p:sp>
        <p:nvSpPr>
          <p:cNvPr id="21" name="Text 18"/>
          <p:cNvSpPr/>
          <p:nvPr/>
        </p:nvSpPr>
        <p:spPr>
          <a:xfrm>
            <a:off x="7104888" y="5285232"/>
            <a:ext cx="3986784" cy="219456"/>
          </a:xfrm>
          <a:prstGeom prst="rect">
            <a:avLst/>
          </a:prstGeom>
          <a:noFill/>
          <a:ln/>
        </p:spPr>
        <p:txBody>
          <a:bodyPr wrap="square" rtlCol="0" anchor="ctr"/>
          <a:lstStyle/>
          <a:p>
            <a:pPr indent="0" marL="0">
              <a:buNone/>
            </a:pPr>
            <a:r>
              <a:rPr lang="en-US" sz="1280" b="1" dirty="0">
                <a:solidFill>
                  <a:srgbClr val="0E1B2A"/>
                </a:solidFill>
                <a:latin typeface="Bahnschrift" pitchFamily="34" charset="0"/>
                <a:ea typeface="Bahnschrift" pitchFamily="34" charset="-122"/>
                <a:cs typeface="Bahnschrift" pitchFamily="34" charset="-120"/>
              </a:rPr>
              <a:t>Kết luận vòng 1</a:t>
            </a:r>
            <a:endParaRPr lang="en-US" sz="1280" dirty="0"/>
          </a:p>
        </p:txBody>
      </p:sp>
      <p:sp>
        <p:nvSpPr>
          <p:cNvPr id="22" name="Text 19"/>
          <p:cNvSpPr/>
          <p:nvPr/>
        </p:nvSpPr>
        <p:spPr>
          <a:xfrm>
            <a:off x="7104888" y="5468112"/>
            <a:ext cx="3986784" cy="201168"/>
          </a:xfrm>
          <a:prstGeom prst="rect">
            <a:avLst/>
          </a:prstGeom>
          <a:noFill/>
          <a:ln/>
        </p:spPr>
        <p:txBody>
          <a:bodyPr wrap="square" lIns="254" tIns="254" rIns="254" bIns="254" rtlCol="0" anchor="t"/>
          <a:lstStyle/>
          <a:p>
            <a:pPr indent="0" marL="0">
              <a:buNone/>
            </a:pPr>
            <a:r>
              <a:rPr lang="en-US" sz="960" dirty="0">
                <a:solidFill>
                  <a:srgbClr val="41576D"/>
                </a:solidFill>
                <a:latin typeface="Aptos" pitchFamily="34" charset="0"/>
                <a:ea typeface="Aptos" pitchFamily="34" charset="-122"/>
                <a:cs typeface="Aptos" pitchFamily="34" charset="-120"/>
              </a:rPr>
              <a:t>Ba ứng viên đi tiếp là CatBoost, Random Forest và HistGradientBoosting.</a:t>
            </a:r>
            <a:endParaRPr lang="en-US" sz="960" dirty="0"/>
          </a:p>
        </p:txBody>
      </p:sp>
      <p:sp>
        <p:nvSpPr>
          <p:cNvPr id="23" name="Text 20"/>
          <p:cNvSpPr/>
          <p:nvPr/>
        </p:nvSpPr>
        <p:spPr>
          <a:xfrm>
            <a:off x="548640" y="6473952"/>
            <a:ext cx="9509760" cy="164592"/>
          </a:xfrm>
          <a:prstGeom prst="rect">
            <a:avLst/>
          </a:prstGeom>
          <a:noFill/>
          <a:ln/>
        </p:spPr>
        <p:txBody>
          <a:bodyPr wrap="square" rtlCol="0" anchor="ctr"/>
          <a:lstStyle/>
          <a:p>
            <a:pPr indent="0" marL="0">
              <a:buNone/>
            </a:pPr>
            <a:r>
              <a:rPr lang="en-US" sz="900" dirty="0">
                <a:solidFill>
                  <a:srgbClr val="7A7A76"/>
                </a:solidFill>
                <a:latin typeface="Aptos" pitchFamily="34" charset="0"/>
                <a:ea typeface="Aptos" pitchFamily="34" charset="-122"/>
                <a:cs typeface="Aptos" pitchFamily="34" charset="-120"/>
              </a:rPr>
              <a:t>Vòng benchmark có vai trò sàng lọc: loại mô hình gây báo động giả lớn và giữ lại nhóm mô hình cây để đào sâu.</a:t>
            </a:r>
            <a:endParaRPr lang="en-US" sz="900" dirty="0"/>
          </a:p>
        </p:txBody>
      </p:sp>
      <p:sp>
        <p:nvSpPr>
          <p:cNvPr id="25" name="Slide Number Placeholder 0"/>
          <p:cNvSpPr>
            <a:spLocks noGrp="1"/>
          </p:cNvSpPr>
          <p:nvPr>
            <p:ph type="sldNum" sz="quarter" idx="4294967295"/>
          </p:nvPr>
        </p:nvSpPr>
        <p:spPr>
          <a:xfrm>
            <a:off x="11475720" y="6446520"/>
            <a:ext cx="32004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7A7A76"/>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CF8F2"/>
        </a:solidFill>
      </p:bgPr>
    </p:bg>
    <p:spTree>
      <p:nvGrpSpPr>
        <p:cNvPr id="1" name=""/>
        <p:cNvGrpSpPr/>
        <p:nvPr/>
      </p:nvGrpSpPr>
      <p:grpSpPr>
        <a:xfrm>
          <a:off x="0" y="0"/>
          <a:ext cx="0" cy="0"/>
          <a:chOff x="0" y="0"/>
          <a:chExt cx="0" cy="0"/>
        </a:xfrm>
      </p:grpSpPr>
      <p:sp>
        <p:nvSpPr>
          <p:cNvPr id="2" name="Shape 0"/>
          <p:cNvSpPr/>
          <p:nvPr/>
        </p:nvSpPr>
        <p:spPr>
          <a:xfrm>
            <a:off x="0" y="0"/>
            <a:ext cx="12191695" cy="219456"/>
          </a:xfrm>
          <a:prstGeom prst="rect">
            <a:avLst/>
          </a:prstGeom>
          <a:solidFill>
            <a:srgbClr val="0E1B2A"/>
          </a:solidFill>
          <a:ln w="12700">
            <a:solidFill>
              <a:srgbClr val="0E1B2A"/>
            </a:solidFill>
            <a:prstDash val="solid"/>
          </a:ln>
        </p:spPr>
      </p:sp>
      <p:sp>
        <p:nvSpPr>
          <p:cNvPr id="3" name="Shape 1"/>
          <p:cNvSpPr/>
          <p:nvPr/>
        </p:nvSpPr>
        <p:spPr>
          <a:xfrm>
            <a:off x="566928" y="713232"/>
            <a:ext cx="54864" cy="859536"/>
          </a:xfrm>
          <a:prstGeom prst="rect">
            <a:avLst/>
          </a:prstGeom>
          <a:solidFill>
            <a:srgbClr val="C96A2B"/>
          </a:solidFill>
          <a:ln w="12700">
            <a:solidFill>
              <a:srgbClr val="C96A2B"/>
            </a:solidFill>
            <a:prstDash val="solid"/>
          </a:ln>
        </p:spPr>
      </p:sp>
      <p:sp>
        <p:nvSpPr>
          <p:cNvPr id="4" name="Shape 2"/>
          <p:cNvSpPr/>
          <p:nvPr/>
        </p:nvSpPr>
        <p:spPr>
          <a:xfrm>
            <a:off x="9555480" y="822960"/>
            <a:ext cx="2011680" cy="36576"/>
          </a:xfrm>
          <a:prstGeom prst="rect">
            <a:avLst/>
          </a:prstGeom>
          <a:solidFill>
            <a:srgbClr val="C96A2B">
              <a:alpha val="72000"/>
            </a:srgbClr>
          </a:solidFill>
          <a:ln w="12700">
            <a:solidFill>
              <a:srgbClr val="C96A2B">
                <a:alpha val="72000"/>
              </a:srgbClr>
            </a:solidFill>
            <a:prstDash val="solid"/>
          </a:ln>
        </p:spPr>
      </p:sp>
      <p:sp>
        <p:nvSpPr>
          <p:cNvPr id="5" name="Shape 3"/>
          <p:cNvSpPr/>
          <p:nvPr/>
        </p:nvSpPr>
        <p:spPr>
          <a:xfrm>
            <a:off x="10469880" y="292608"/>
            <a:ext cx="1078992" cy="1078992"/>
          </a:xfrm>
          <a:prstGeom prst="ellipse">
            <a:avLst/>
          </a:prstGeom>
          <a:solidFill>
            <a:srgbClr val="C96A2B">
              <a:alpha val="0"/>
            </a:srgbClr>
          </a:solidFill>
          <a:ln w="12700">
            <a:solidFill>
              <a:srgbClr val="C96A2B">
                <a:alpha val="18000"/>
              </a:srgbClr>
            </a:solidFill>
            <a:prstDash val="solid"/>
          </a:ln>
        </p:spPr>
      </p:sp>
      <p:sp>
        <p:nvSpPr>
          <p:cNvPr id="6" name="Shape 4"/>
          <p:cNvSpPr/>
          <p:nvPr/>
        </p:nvSpPr>
        <p:spPr>
          <a:xfrm>
            <a:off x="73152" y="5257800"/>
            <a:ext cx="987552" cy="987552"/>
          </a:xfrm>
          <a:prstGeom prst="ellipse">
            <a:avLst/>
          </a:prstGeom>
          <a:solidFill>
            <a:srgbClr val="2B7A78">
              <a:alpha val="0"/>
            </a:srgbClr>
          </a:solidFill>
          <a:ln w="12700">
            <a:solidFill>
              <a:srgbClr val="2B7A78">
                <a:alpha val="14000"/>
              </a:srgbClr>
            </a:solidFill>
            <a:prstDash val="solid"/>
          </a:ln>
        </p:spPr>
      </p:sp>
      <p:sp>
        <p:nvSpPr>
          <p:cNvPr id="7" name="Text 5"/>
          <p:cNvSpPr/>
          <p:nvPr/>
        </p:nvSpPr>
        <p:spPr>
          <a:xfrm>
            <a:off x="768096" y="603504"/>
            <a:ext cx="4023360" cy="237744"/>
          </a:xfrm>
          <a:prstGeom prst="rect">
            <a:avLst/>
          </a:prstGeom>
          <a:noFill/>
          <a:ln/>
        </p:spPr>
        <p:txBody>
          <a:bodyPr wrap="square" rtlCol="0" anchor="ctr"/>
          <a:lstStyle/>
          <a:p>
            <a:pPr indent="0" marL="0">
              <a:buNone/>
            </a:pPr>
            <a:r>
              <a:rPr lang="en-US" sz="1100" b="1" dirty="0">
                <a:solidFill>
                  <a:srgbClr val="C96A2B"/>
                </a:solidFill>
                <a:latin typeface="Bahnschrift" pitchFamily="34" charset="0"/>
                <a:ea typeface="Bahnschrift" pitchFamily="34" charset="-122"/>
                <a:cs typeface="Bahnschrift" pitchFamily="34" charset="-120"/>
              </a:rPr>
              <a:t>06  FINAL MODEL SELECTION</a:t>
            </a:r>
            <a:endParaRPr lang="en-US" sz="1100" dirty="0"/>
          </a:p>
        </p:txBody>
      </p:sp>
      <p:sp>
        <p:nvSpPr>
          <p:cNvPr id="8" name="Text 6"/>
          <p:cNvSpPr/>
          <p:nvPr/>
        </p:nvSpPr>
        <p:spPr>
          <a:xfrm>
            <a:off x="768096" y="859536"/>
            <a:ext cx="8001000" cy="457200"/>
          </a:xfrm>
          <a:prstGeom prst="rect">
            <a:avLst/>
          </a:prstGeom>
          <a:noFill/>
          <a:ln/>
        </p:spPr>
        <p:txBody>
          <a:bodyPr wrap="square" rtlCol="0" anchor="ctr"/>
          <a:lstStyle/>
          <a:p>
            <a:pPr indent="0" marL="0">
              <a:buNone/>
            </a:pPr>
            <a:r>
              <a:rPr lang="en-US" sz="2500" b="1" dirty="0">
                <a:solidFill>
                  <a:srgbClr val="0E1B2A"/>
                </a:solidFill>
                <a:latin typeface="Bahnschrift" pitchFamily="34" charset="0"/>
                <a:ea typeface="Bahnschrift" pitchFamily="34" charset="-122"/>
                <a:cs typeface="Bahnschrift" pitchFamily="34" charset="-120"/>
              </a:rPr>
              <a:t>Scaling experiment và quyết định chốt model</a:t>
            </a:r>
            <a:endParaRPr lang="en-US" sz="2500" dirty="0"/>
          </a:p>
        </p:txBody>
      </p:sp>
      <p:sp>
        <p:nvSpPr>
          <p:cNvPr id="9" name="Shape 7"/>
          <p:cNvSpPr/>
          <p:nvPr/>
        </p:nvSpPr>
        <p:spPr>
          <a:xfrm>
            <a:off x="768096" y="1389888"/>
            <a:ext cx="1965960" cy="36576"/>
          </a:xfrm>
          <a:prstGeom prst="rect">
            <a:avLst/>
          </a:prstGeom>
          <a:solidFill>
            <a:srgbClr val="C96A2B"/>
          </a:solidFill>
          <a:ln w="12700">
            <a:solidFill>
              <a:srgbClr val="C96A2B"/>
            </a:solidFill>
            <a:prstDash val="solid"/>
          </a:ln>
        </p:spPr>
      </p:sp>
      <p:sp>
        <p:nvSpPr>
          <p:cNvPr id="10" name="Text 8"/>
          <p:cNvSpPr/>
          <p:nvPr/>
        </p:nvSpPr>
        <p:spPr>
          <a:xfrm>
            <a:off x="10808208" y="566928"/>
            <a:ext cx="502920" cy="237744"/>
          </a:xfrm>
          <a:prstGeom prst="rect">
            <a:avLst/>
          </a:prstGeom>
          <a:noFill/>
          <a:ln/>
        </p:spPr>
        <p:txBody>
          <a:bodyPr wrap="square" rtlCol="0" anchor="ctr"/>
          <a:lstStyle/>
          <a:p>
            <a:pPr algn="r" indent="0" marL="0">
              <a:buNone/>
            </a:pPr>
            <a:r>
              <a:rPr lang="en-US" sz="1200" b="1" dirty="0">
                <a:solidFill>
                  <a:srgbClr val="7A7A76"/>
                </a:solidFill>
                <a:latin typeface="Bahnschrift" pitchFamily="34" charset="0"/>
                <a:ea typeface="Bahnschrift" pitchFamily="34" charset="-122"/>
                <a:cs typeface="Bahnschrift" pitchFamily="34" charset="-120"/>
              </a:rPr>
              <a:t>07</a:t>
            </a:r>
            <a:endParaRPr lang="en-US" sz="1200" dirty="0"/>
          </a:p>
        </p:txBody>
      </p:sp>
      <p:sp>
        <p:nvSpPr>
          <p:cNvPr id="11" name="Shape 9"/>
          <p:cNvSpPr/>
          <p:nvPr/>
        </p:nvSpPr>
        <p:spPr>
          <a:xfrm>
            <a:off x="749808" y="1572768"/>
            <a:ext cx="5257800" cy="1234440"/>
          </a:xfrm>
          <a:prstGeom prst="rect">
            <a:avLst/>
          </a:prstGeom>
          <a:solidFill>
            <a:srgbClr val="E2F3F1"/>
          </a:solidFill>
          <a:ln w="12700">
            <a:solidFill>
              <a:srgbClr val="E2F3F1"/>
            </a:solidFill>
            <a:prstDash val="solid"/>
          </a:ln>
        </p:spPr>
      </p:sp>
      <p:sp>
        <p:nvSpPr>
          <p:cNvPr id="12" name="Shape 10"/>
          <p:cNvSpPr/>
          <p:nvPr/>
        </p:nvSpPr>
        <p:spPr>
          <a:xfrm>
            <a:off x="749808" y="1572768"/>
            <a:ext cx="73152" cy="1234440"/>
          </a:xfrm>
          <a:prstGeom prst="rect">
            <a:avLst/>
          </a:prstGeom>
          <a:solidFill>
            <a:srgbClr val="2B7A78"/>
          </a:solidFill>
          <a:ln w="12700">
            <a:solidFill>
              <a:srgbClr val="2B7A78"/>
            </a:solidFill>
            <a:prstDash val="solid"/>
          </a:ln>
        </p:spPr>
      </p:sp>
      <p:sp>
        <p:nvSpPr>
          <p:cNvPr id="13" name="Shape 11"/>
          <p:cNvSpPr/>
          <p:nvPr/>
        </p:nvSpPr>
        <p:spPr>
          <a:xfrm>
            <a:off x="896112" y="1700784"/>
            <a:ext cx="475488" cy="27432"/>
          </a:xfrm>
          <a:prstGeom prst="rect">
            <a:avLst/>
          </a:prstGeom>
          <a:solidFill>
            <a:srgbClr val="2B7A78"/>
          </a:solidFill>
          <a:ln w="12700">
            <a:solidFill>
              <a:srgbClr val="2B7A78"/>
            </a:solidFill>
            <a:prstDash val="solid"/>
          </a:ln>
        </p:spPr>
      </p:sp>
      <p:sp>
        <p:nvSpPr>
          <p:cNvPr id="14" name="Text 12"/>
          <p:cNvSpPr/>
          <p:nvPr/>
        </p:nvSpPr>
        <p:spPr>
          <a:xfrm>
            <a:off x="950976" y="1792224"/>
            <a:ext cx="4946904" cy="219456"/>
          </a:xfrm>
          <a:prstGeom prst="rect">
            <a:avLst/>
          </a:prstGeom>
          <a:noFill/>
          <a:ln/>
        </p:spPr>
        <p:txBody>
          <a:bodyPr wrap="square" rtlCol="0" anchor="ctr"/>
          <a:lstStyle/>
          <a:p>
            <a:pPr indent="0" marL="0">
              <a:buNone/>
            </a:pPr>
            <a:r>
              <a:rPr lang="en-US" sz="1450" b="1" dirty="0">
                <a:solidFill>
                  <a:srgbClr val="0E1B2A"/>
                </a:solidFill>
                <a:latin typeface="Bahnschrift" pitchFamily="34" charset="0"/>
                <a:ea typeface="Bahnschrift" pitchFamily="34" charset="-122"/>
                <a:cs typeface="Bahnschrift" pitchFamily="34" charset="-120"/>
              </a:rPr>
              <a:t>CatBoost full-data</a:t>
            </a:r>
            <a:endParaRPr lang="en-US" sz="1450" dirty="0"/>
          </a:p>
        </p:txBody>
      </p:sp>
      <p:sp>
        <p:nvSpPr>
          <p:cNvPr id="15" name="Text 13"/>
          <p:cNvSpPr/>
          <p:nvPr/>
        </p:nvSpPr>
        <p:spPr>
          <a:xfrm>
            <a:off x="950976" y="2121408"/>
            <a:ext cx="4946904" cy="557784"/>
          </a:xfrm>
          <a:prstGeom prst="rect">
            <a:avLst/>
          </a:prstGeom>
          <a:noFill/>
          <a:ln/>
        </p:spPr>
        <p:txBody>
          <a:bodyPr wrap="square" lIns="254" tIns="254" rIns="254" bIns="254" rtlCol="0" anchor="t"/>
          <a:lstStyle/>
          <a:p>
            <a:pPr indent="0" marL="0">
              <a:buNone/>
            </a:pPr>
            <a:r>
              <a:rPr lang="en-US" sz="1050" dirty="0">
                <a:solidFill>
                  <a:srgbClr val="41576D"/>
                </a:solidFill>
                <a:latin typeface="Aptos" pitchFamily="34" charset="0"/>
                <a:ea typeface="Aptos" pitchFamily="34" charset="-122"/>
                <a:cs typeface="Aptos" pitchFamily="34" charset="-120"/>
              </a:rPr>
              <a:t>Test F1 = 0.993358, Test FPR = 2.74%, OOD Recall = 49.96%. Khi tăng dữ liệu lên full train, CatBoost vẫn giữ được sự cân bằng giữa hiệu năng phát hiện, chi phí huấn luyện và khả năng vận hành.</a:t>
            </a:r>
            <a:endParaRPr lang="en-US" sz="1050" dirty="0"/>
          </a:p>
        </p:txBody>
      </p:sp>
      <p:sp>
        <p:nvSpPr>
          <p:cNvPr id="16" name="Shape 14"/>
          <p:cNvSpPr/>
          <p:nvPr/>
        </p:nvSpPr>
        <p:spPr>
          <a:xfrm>
            <a:off x="749808" y="3063240"/>
            <a:ext cx="5257800" cy="1234440"/>
          </a:xfrm>
          <a:prstGeom prst="rect">
            <a:avLst/>
          </a:prstGeom>
          <a:solidFill>
            <a:srgbClr val="F6E7DA"/>
          </a:solidFill>
          <a:ln w="12700">
            <a:solidFill>
              <a:srgbClr val="F6E7DA"/>
            </a:solidFill>
            <a:prstDash val="solid"/>
          </a:ln>
        </p:spPr>
      </p:sp>
      <p:sp>
        <p:nvSpPr>
          <p:cNvPr id="17" name="Shape 15"/>
          <p:cNvSpPr/>
          <p:nvPr/>
        </p:nvSpPr>
        <p:spPr>
          <a:xfrm>
            <a:off x="749808" y="3063240"/>
            <a:ext cx="73152" cy="1234440"/>
          </a:xfrm>
          <a:prstGeom prst="rect">
            <a:avLst/>
          </a:prstGeom>
          <a:solidFill>
            <a:srgbClr val="C96A2B"/>
          </a:solidFill>
          <a:ln w="12700">
            <a:solidFill>
              <a:srgbClr val="C96A2B"/>
            </a:solidFill>
            <a:prstDash val="solid"/>
          </a:ln>
        </p:spPr>
      </p:sp>
      <p:sp>
        <p:nvSpPr>
          <p:cNvPr id="18" name="Shape 16"/>
          <p:cNvSpPr/>
          <p:nvPr/>
        </p:nvSpPr>
        <p:spPr>
          <a:xfrm>
            <a:off x="896112" y="3191256"/>
            <a:ext cx="475488" cy="27432"/>
          </a:xfrm>
          <a:prstGeom prst="rect">
            <a:avLst/>
          </a:prstGeom>
          <a:solidFill>
            <a:srgbClr val="C96A2B"/>
          </a:solidFill>
          <a:ln w="12700">
            <a:solidFill>
              <a:srgbClr val="C96A2B"/>
            </a:solidFill>
            <a:prstDash val="solid"/>
          </a:ln>
        </p:spPr>
      </p:sp>
      <p:sp>
        <p:nvSpPr>
          <p:cNvPr id="19" name="Text 17"/>
          <p:cNvSpPr/>
          <p:nvPr/>
        </p:nvSpPr>
        <p:spPr>
          <a:xfrm>
            <a:off x="950976" y="3282696"/>
            <a:ext cx="4946904" cy="219456"/>
          </a:xfrm>
          <a:prstGeom prst="rect">
            <a:avLst/>
          </a:prstGeom>
          <a:noFill/>
          <a:ln/>
        </p:spPr>
        <p:txBody>
          <a:bodyPr wrap="square" rtlCol="0" anchor="ctr"/>
          <a:lstStyle/>
          <a:p>
            <a:pPr indent="0" marL="0">
              <a:buNone/>
            </a:pPr>
            <a:r>
              <a:rPr lang="en-US" sz="1450" b="1" dirty="0">
                <a:solidFill>
                  <a:srgbClr val="0E1B2A"/>
                </a:solidFill>
                <a:latin typeface="Bahnschrift" pitchFamily="34" charset="0"/>
                <a:ea typeface="Bahnschrift" pitchFamily="34" charset="-122"/>
                <a:cs typeface="Bahnschrift" pitchFamily="34" charset="-120"/>
              </a:rPr>
              <a:t>RandomForest 8M</a:t>
            </a:r>
            <a:endParaRPr lang="en-US" sz="1450" dirty="0"/>
          </a:p>
        </p:txBody>
      </p:sp>
      <p:sp>
        <p:nvSpPr>
          <p:cNvPr id="20" name="Text 18"/>
          <p:cNvSpPr/>
          <p:nvPr/>
        </p:nvSpPr>
        <p:spPr>
          <a:xfrm>
            <a:off x="950976" y="3611880"/>
            <a:ext cx="4946904" cy="557784"/>
          </a:xfrm>
          <a:prstGeom prst="rect">
            <a:avLst/>
          </a:prstGeom>
          <a:noFill/>
          <a:ln/>
        </p:spPr>
        <p:txBody>
          <a:bodyPr wrap="square" lIns="254" tIns="254" rIns="254" bIns="254" rtlCol="0" anchor="t"/>
          <a:lstStyle/>
          <a:p>
            <a:pPr indent="0" marL="0">
              <a:buNone/>
            </a:pPr>
            <a:r>
              <a:rPr lang="en-US" sz="1050" dirty="0">
                <a:solidFill>
                  <a:srgbClr val="41576D"/>
                </a:solidFill>
                <a:latin typeface="Aptos" pitchFamily="34" charset="0"/>
                <a:ea typeface="Aptos" pitchFamily="34" charset="-122"/>
                <a:cs typeface="Aptos" pitchFamily="34" charset="-120"/>
              </a:rPr>
              <a:t>Đạt F1 và OOD recall cao nhất trong scaling, nhưng FPR tăng lên 4.03%. Điều đó đồng nghĩa hệ thống sẽ nhiễu hơn đáng kể nếu đưa trực tiếp vào vận hành thật.</a:t>
            </a:r>
            <a:endParaRPr lang="en-US" sz="1050" dirty="0"/>
          </a:p>
        </p:txBody>
      </p:sp>
      <p:sp>
        <p:nvSpPr>
          <p:cNvPr id="21" name="Shape 19"/>
          <p:cNvSpPr/>
          <p:nvPr/>
        </p:nvSpPr>
        <p:spPr>
          <a:xfrm>
            <a:off x="749808" y="4553712"/>
            <a:ext cx="5257800" cy="1234440"/>
          </a:xfrm>
          <a:prstGeom prst="rect">
            <a:avLst/>
          </a:prstGeom>
          <a:solidFill>
            <a:srgbClr val="E7F0F6"/>
          </a:solidFill>
          <a:ln w="12700">
            <a:solidFill>
              <a:srgbClr val="E7F0F6"/>
            </a:solidFill>
            <a:prstDash val="solid"/>
          </a:ln>
        </p:spPr>
      </p:sp>
      <p:sp>
        <p:nvSpPr>
          <p:cNvPr id="22" name="Shape 20"/>
          <p:cNvSpPr/>
          <p:nvPr/>
        </p:nvSpPr>
        <p:spPr>
          <a:xfrm>
            <a:off x="749808" y="4553712"/>
            <a:ext cx="73152" cy="1234440"/>
          </a:xfrm>
          <a:prstGeom prst="rect">
            <a:avLst/>
          </a:prstGeom>
          <a:solidFill>
            <a:srgbClr val="3D6C8D"/>
          </a:solidFill>
          <a:ln w="12700">
            <a:solidFill>
              <a:srgbClr val="3D6C8D"/>
            </a:solidFill>
            <a:prstDash val="solid"/>
          </a:ln>
        </p:spPr>
      </p:sp>
      <p:sp>
        <p:nvSpPr>
          <p:cNvPr id="23" name="Shape 21"/>
          <p:cNvSpPr/>
          <p:nvPr/>
        </p:nvSpPr>
        <p:spPr>
          <a:xfrm>
            <a:off x="896112" y="4681728"/>
            <a:ext cx="475488" cy="27432"/>
          </a:xfrm>
          <a:prstGeom prst="rect">
            <a:avLst/>
          </a:prstGeom>
          <a:solidFill>
            <a:srgbClr val="3D6C8D"/>
          </a:solidFill>
          <a:ln w="12700">
            <a:solidFill>
              <a:srgbClr val="3D6C8D"/>
            </a:solidFill>
            <a:prstDash val="solid"/>
          </a:ln>
        </p:spPr>
      </p:sp>
      <p:sp>
        <p:nvSpPr>
          <p:cNvPr id="24" name="Text 22"/>
          <p:cNvSpPr/>
          <p:nvPr/>
        </p:nvSpPr>
        <p:spPr>
          <a:xfrm>
            <a:off x="950976" y="4773168"/>
            <a:ext cx="4946904" cy="219456"/>
          </a:xfrm>
          <a:prstGeom prst="rect">
            <a:avLst/>
          </a:prstGeom>
          <a:noFill/>
          <a:ln/>
        </p:spPr>
        <p:txBody>
          <a:bodyPr wrap="square" rtlCol="0" anchor="ctr"/>
          <a:lstStyle/>
          <a:p>
            <a:pPr indent="0" marL="0">
              <a:buNone/>
            </a:pPr>
            <a:r>
              <a:rPr lang="en-US" sz="1450" b="1" dirty="0">
                <a:solidFill>
                  <a:srgbClr val="0E1B2A"/>
                </a:solidFill>
                <a:latin typeface="Bahnschrift" pitchFamily="34" charset="0"/>
                <a:ea typeface="Bahnschrift" pitchFamily="34" charset="-122"/>
                <a:cs typeface="Bahnschrift" pitchFamily="34" charset="-120"/>
              </a:rPr>
              <a:t>HistGB 8M</a:t>
            </a:r>
            <a:endParaRPr lang="en-US" sz="1450" dirty="0"/>
          </a:p>
        </p:txBody>
      </p:sp>
      <p:sp>
        <p:nvSpPr>
          <p:cNvPr id="25" name="Text 23"/>
          <p:cNvSpPr/>
          <p:nvPr/>
        </p:nvSpPr>
        <p:spPr>
          <a:xfrm>
            <a:off x="950976" y="5102352"/>
            <a:ext cx="4946904" cy="557784"/>
          </a:xfrm>
          <a:prstGeom prst="rect">
            <a:avLst/>
          </a:prstGeom>
          <a:noFill/>
          <a:ln/>
        </p:spPr>
        <p:txBody>
          <a:bodyPr wrap="square" lIns="254" tIns="254" rIns="254" bIns="254" rtlCol="0" anchor="t"/>
          <a:lstStyle/>
          <a:p>
            <a:pPr indent="0" marL="0">
              <a:buNone/>
            </a:pPr>
            <a:r>
              <a:rPr lang="en-US" sz="1050" dirty="0">
                <a:solidFill>
                  <a:srgbClr val="41576D"/>
                </a:solidFill>
                <a:latin typeface="Aptos" pitchFamily="34" charset="0"/>
                <a:ea typeface="Aptos" pitchFamily="34" charset="-122"/>
                <a:cs typeface="Aptos" pitchFamily="34" charset="-120"/>
              </a:rPr>
              <a:t>Bảo thủ hơn về FPR so với RandomForest, nhưng không dẫn đầu về F1/OOD và train chậm hơn. Đây là baseline CPU-only mạnh nhưng chưa phải lựa chọn cân bằng nhất.</a:t>
            </a:r>
            <a:endParaRPr lang="en-US" sz="1050" dirty="0"/>
          </a:p>
        </p:txBody>
      </p:sp>
      <p:pic>
        <p:nvPicPr>
          <p:cNvPr id="26" name="Image 0" descr="F:\Work\IDS_ML_New\docs\figures\model_selection_tradeoff.png">    </p:cNvPr>
          <p:cNvPicPr>
            <a:picLocks noChangeAspect="1"/>
          </p:cNvPicPr>
          <p:nvPr/>
        </p:nvPicPr>
        <p:blipFill>
          <a:blip r:embed="rId1"/>
          <a:stretch>
            <a:fillRect/>
          </a:stretch>
        </p:blipFill>
        <p:spPr>
          <a:xfrm>
            <a:off x="6492240" y="1753999"/>
            <a:ext cx="4663440" cy="2883659"/>
          </a:xfrm>
          <a:prstGeom prst="rect">
            <a:avLst/>
          </a:prstGeom>
        </p:spPr>
      </p:pic>
      <p:sp>
        <p:nvSpPr>
          <p:cNvPr id="27" name="Shape 24"/>
          <p:cNvSpPr/>
          <p:nvPr/>
        </p:nvSpPr>
        <p:spPr>
          <a:xfrm>
            <a:off x="6492240" y="5010912"/>
            <a:ext cx="4709160" cy="777240"/>
          </a:xfrm>
          <a:prstGeom prst="rect">
            <a:avLst/>
          </a:prstGeom>
          <a:solidFill>
            <a:srgbClr val="E8F2EA"/>
          </a:solidFill>
          <a:ln w="12700">
            <a:solidFill>
              <a:srgbClr val="E8F2EA"/>
            </a:solidFill>
            <a:prstDash val="solid"/>
          </a:ln>
        </p:spPr>
      </p:sp>
      <p:sp>
        <p:nvSpPr>
          <p:cNvPr id="28" name="Shape 25"/>
          <p:cNvSpPr/>
          <p:nvPr/>
        </p:nvSpPr>
        <p:spPr>
          <a:xfrm>
            <a:off x="6492240" y="5010912"/>
            <a:ext cx="73152" cy="777240"/>
          </a:xfrm>
          <a:prstGeom prst="rect">
            <a:avLst/>
          </a:prstGeom>
          <a:solidFill>
            <a:srgbClr val="4E8B61"/>
          </a:solidFill>
          <a:ln w="12700">
            <a:solidFill>
              <a:srgbClr val="4E8B61"/>
            </a:solidFill>
            <a:prstDash val="solid"/>
          </a:ln>
        </p:spPr>
      </p:sp>
      <p:sp>
        <p:nvSpPr>
          <p:cNvPr id="29" name="Shape 26"/>
          <p:cNvSpPr/>
          <p:nvPr/>
        </p:nvSpPr>
        <p:spPr>
          <a:xfrm>
            <a:off x="6638544" y="5138928"/>
            <a:ext cx="347472" cy="27432"/>
          </a:xfrm>
          <a:prstGeom prst="rect">
            <a:avLst/>
          </a:prstGeom>
          <a:solidFill>
            <a:srgbClr val="4E8B61"/>
          </a:solidFill>
          <a:ln w="12700">
            <a:solidFill>
              <a:srgbClr val="4E8B61"/>
            </a:solidFill>
            <a:prstDash val="solid"/>
          </a:ln>
        </p:spPr>
      </p:sp>
      <p:sp>
        <p:nvSpPr>
          <p:cNvPr id="30" name="Text 27"/>
          <p:cNvSpPr/>
          <p:nvPr/>
        </p:nvSpPr>
        <p:spPr>
          <a:xfrm>
            <a:off x="6693408" y="5193792"/>
            <a:ext cx="4398264" cy="219456"/>
          </a:xfrm>
          <a:prstGeom prst="rect">
            <a:avLst/>
          </a:prstGeom>
          <a:noFill/>
          <a:ln/>
        </p:spPr>
        <p:txBody>
          <a:bodyPr wrap="square" rtlCol="0" anchor="ctr"/>
          <a:lstStyle/>
          <a:p>
            <a:pPr indent="0" marL="0">
              <a:buNone/>
            </a:pPr>
            <a:r>
              <a:rPr lang="en-US" sz="1280" b="1" dirty="0">
                <a:solidFill>
                  <a:srgbClr val="0E1B2A"/>
                </a:solidFill>
                <a:latin typeface="Bahnschrift" pitchFamily="34" charset="0"/>
                <a:ea typeface="Bahnschrift" pitchFamily="34" charset="-122"/>
                <a:cs typeface="Bahnschrift" pitchFamily="34" charset="-120"/>
              </a:rPr>
              <a:t>Kết luận chốt</a:t>
            </a:r>
            <a:endParaRPr lang="en-US" sz="1280" dirty="0"/>
          </a:p>
        </p:txBody>
      </p:sp>
      <p:sp>
        <p:nvSpPr>
          <p:cNvPr id="31" name="Text 28"/>
          <p:cNvSpPr/>
          <p:nvPr/>
        </p:nvSpPr>
        <p:spPr>
          <a:xfrm>
            <a:off x="6693408" y="5376672"/>
            <a:ext cx="4398264" cy="320040"/>
          </a:xfrm>
          <a:prstGeom prst="rect">
            <a:avLst/>
          </a:prstGeom>
          <a:noFill/>
          <a:ln/>
        </p:spPr>
        <p:txBody>
          <a:bodyPr wrap="square" lIns="254" tIns="254" rIns="254" bIns="254" rtlCol="0" anchor="t"/>
          <a:lstStyle/>
          <a:p>
            <a:pPr indent="0" marL="0">
              <a:buNone/>
            </a:pPr>
            <a:r>
              <a:rPr lang="en-US" sz="960" dirty="0">
                <a:solidFill>
                  <a:srgbClr val="41576D"/>
                </a:solidFill>
                <a:latin typeface="Aptos" pitchFamily="34" charset="0"/>
                <a:ea typeface="Aptos" pitchFamily="34" charset="-122"/>
                <a:cs typeface="Aptos" pitchFamily="34" charset="-120"/>
              </a:rPr>
              <a:t>CatBoost full-data là điểm cân bằng dễ bảo vệ nhất cho IDS thực tế.</a:t>
            </a:r>
            <a:endParaRPr lang="en-US" sz="960" dirty="0"/>
          </a:p>
        </p:txBody>
      </p:sp>
      <p:sp>
        <p:nvSpPr>
          <p:cNvPr id="32" name="Text 29"/>
          <p:cNvSpPr/>
          <p:nvPr/>
        </p:nvSpPr>
        <p:spPr>
          <a:xfrm>
            <a:off x="548640" y="6473952"/>
            <a:ext cx="9509760" cy="164592"/>
          </a:xfrm>
          <a:prstGeom prst="rect">
            <a:avLst/>
          </a:prstGeom>
          <a:noFill/>
          <a:ln/>
        </p:spPr>
        <p:txBody>
          <a:bodyPr wrap="square" rtlCol="0" anchor="ctr"/>
          <a:lstStyle/>
          <a:p>
            <a:pPr indent="0" marL="0">
              <a:buNone/>
            </a:pPr>
            <a:r>
              <a:rPr lang="en-US" sz="900" dirty="0">
                <a:solidFill>
                  <a:srgbClr val="7A7A76"/>
                </a:solidFill>
                <a:latin typeface="Aptos" pitchFamily="34" charset="0"/>
                <a:ea typeface="Aptos" pitchFamily="34" charset="-122"/>
                <a:cs typeface="Aptos" pitchFamily="34" charset="-120"/>
              </a:rPr>
              <a:t>Scaling experiment là bằng chứng mạnh nhất cho lập luận chọn mô hình: cân bằng quan trọng hơn cực trị trên một metric.</a:t>
            </a:r>
            <a:endParaRPr lang="en-US" sz="900" dirty="0"/>
          </a:p>
        </p:txBody>
      </p:sp>
      <p:sp>
        <p:nvSpPr>
          <p:cNvPr id="25" name="Slide Number Placeholder 0"/>
          <p:cNvSpPr>
            <a:spLocks noGrp="1"/>
          </p:cNvSpPr>
          <p:nvPr>
            <p:ph type="sldNum" sz="quarter" idx="4294967295"/>
          </p:nvPr>
        </p:nvSpPr>
        <p:spPr>
          <a:xfrm>
            <a:off x="11475720" y="6446520"/>
            <a:ext cx="32004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7A7A76"/>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CF8F2"/>
        </a:solidFill>
      </p:bgPr>
    </p:bg>
    <p:spTree>
      <p:nvGrpSpPr>
        <p:cNvPr id="1" name=""/>
        <p:cNvGrpSpPr/>
        <p:nvPr/>
      </p:nvGrpSpPr>
      <p:grpSpPr>
        <a:xfrm>
          <a:off x="0" y="0"/>
          <a:ext cx="0" cy="0"/>
          <a:chOff x="0" y="0"/>
          <a:chExt cx="0" cy="0"/>
        </a:xfrm>
      </p:grpSpPr>
      <p:sp>
        <p:nvSpPr>
          <p:cNvPr id="2" name="Shape 0"/>
          <p:cNvSpPr/>
          <p:nvPr/>
        </p:nvSpPr>
        <p:spPr>
          <a:xfrm>
            <a:off x="0" y="0"/>
            <a:ext cx="12191695" cy="219456"/>
          </a:xfrm>
          <a:prstGeom prst="rect">
            <a:avLst/>
          </a:prstGeom>
          <a:solidFill>
            <a:srgbClr val="0E1B2A"/>
          </a:solidFill>
          <a:ln w="12700">
            <a:solidFill>
              <a:srgbClr val="0E1B2A"/>
            </a:solidFill>
            <a:prstDash val="solid"/>
          </a:ln>
        </p:spPr>
      </p:sp>
      <p:sp>
        <p:nvSpPr>
          <p:cNvPr id="3" name="Shape 1"/>
          <p:cNvSpPr/>
          <p:nvPr/>
        </p:nvSpPr>
        <p:spPr>
          <a:xfrm>
            <a:off x="566928" y="713232"/>
            <a:ext cx="54864" cy="859536"/>
          </a:xfrm>
          <a:prstGeom prst="rect">
            <a:avLst/>
          </a:prstGeom>
          <a:solidFill>
            <a:srgbClr val="C96A2B"/>
          </a:solidFill>
          <a:ln w="12700">
            <a:solidFill>
              <a:srgbClr val="C96A2B"/>
            </a:solidFill>
            <a:prstDash val="solid"/>
          </a:ln>
        </p:spPr>
      </p:sp>
      <p:sp>
        <p:nvSpPr>
          <p:cNvPr id="4" name="Shape 2"/>
          <p:cNvSpPr/>
          <p:nvPr/>
        </p:nvSpPr>
        <p:spPr>
          <a:xfrm>
            <a:off x="9555480" y="822960"/>
            <a:ext cx="2011680" cy="36576"/>
          </a:xfrm>
          <a:prstGeom prst="rect">
            <a:avLst/>
          </a:prstGeom>
          <a:solidFill>
            <a:srgbClr val="C96A2B">
              <a:alpha val="72000"/>
            </a:srgbClr>
          </a:solidFill>
          <a:ln w="12700">
            <a:solidFill>
              <a:srgbClr val="C96A2B">
                <a:alpha val="72000"/>
              </a:srgbClr>
            </a:solidFill>
            <a:prstDash val="solid"/>
          </a:ln>
        </p:spPr>
      </p:sp>
      <p:sp>
        <p:nvSpPr>
          <p:cNvPr id="5" name="Shape 3"/>
          <p:cNvSpPr/>
          <p:nvPr/>
        </p:nvSpPr>
        <p:spPr>
          <a:xfrm>
            <a:off x="10469880" y="292608"/>
            <a:ext cx="1078992" cy="1078992"/>
          </a:xfrm>
          <a:prstGeom prst="ellipse">
            <a:avLst/>
          </a:prstGeom>
          <a:solidFill>
            <a:srgbClr val="C96A2B">
              <a:alpha val="0"/>
            </a:srgbClr>
          </a:solidFill>
          <a:ln w="12700">
            <a:solidFill>
              <a:srgbClr val="C96A2B">
                <a:alpha val="18000"/>
              </a:srgbClr>
            </a:solidFill>
            <a:prstDash val="solid"/>
          </a:ln>
        </p:spPr>
      </p:sp>
      <p:sp>
        <p:nvSpPr>
          <p:cNvPr id="6" name="Shape 4"/>
          <p:cNvSpPr/>
          <p:nvPr/>
        </p:nvSpPr>
        <p:spPr>
          <a:xfrm>
            <a:off x="73152" y="5257800"/>
            <a:ext cx="987552" cy="987552"/>
          </a:xfrm>
          <a:prstGeom prst="ellipse">
            <a:avLst/>
          </a:prstGeom>
          <a:solidFill>
            <a:srgbClr val="2B7A78">
              <a:alpha val="0"/>
            </a:srgbClr>
          </a:solidFill>
          <a:ln w="12700">
            <a:solidFill>
              <a:srgbClr val="2B7A78">
                <a:alpha val="14000"/>
              </a:srgbClr>
            </a:solidFill>
            <a:prstDash val="solid"/>
          </a:ln>
        </p:spPr>
      </p:sp>
      <p:sp>
        <p:nvSpPr>
          <p:cNvPr id="7" name="Text 5"/>
          <p:cNvSpPr/>
          <p:nvPr/>
        </p:nvSpPr>
        <p:spPr>
          <a:xfrm>
            <a:off x="768096" y="603504"/>
            <a:ext cx="4023360" cy="237744"/>
          </a:xfrm>
          <a:prstGeom prst="rect">
            <a:avLst/>
          </a:prstGeom>
          <a:noFill/>
          <a:ln/>
        </p:spPr>
        <p:txBody>
          <a:bodyPr wrap="square" rtlCol="0" anchor="ctr"/>
          <a:lstStyle/>
          <a:p>
            <a:pPr indent="0" marL="0">
              <a:buNone/>
            </a:pPr>
            <a:r>
              <a:rPr lang="en-US" sz="1100" b="1" dirty="0">
                <a:solidFill>
                  <a:srgbClr val="C96A2B"/>
                </a:solidFill>
                <a:latin typeface="Bahnschrift" pitchFamily="34" charset="0"/>
                <a:ea typeface="Bahnschrift" pitchFamily="34" charset="-122"/>
                <a:cs typeface="Bahnschrift" pitchFamily="34" charset="-120"/>
              </a:rPr>
              <a:t>07  THRESHOLD DECISION</a:t>
            </a:r>
            <a:endParaRPr lang="en-US" sz="1100" dirty="0"/>
          </a:p>
        </p:txBody>
      </p:sp>
      <p:sp>
        <p:nvSpPr>
          <p:cNvPr id="8" name="Text 6"/>
          <p:cNvSpPr/>
          <p:nvPr/>
        </p:nvSpPr>
        <p:spPr>
          <a:xfrm>
            <a:off x="768096" y="859536"/>
            <a:ext cx="8001000" cy="457200"/>
          </a:xfrm>
          <a:prstGeom prst="rect">
            <a:avLst/>
          </a:prstGeom>
          <a:noFill/>
          <a:ln/>
        </p:spPr>
        <p:txBody>
          <a:bodyPr wrap="square" rtlCol="0" anchor="ctr"/>
          <a:lstStyle/>
          <a:p>
            <a:pPr indent="0" marL="0">
              <a:buNone/>
            </a:pPr>
            <a:r>
              <a:rPr lang="en-US" sz="2500" b="1" dirty="0">
                <a:solidFill>
                  <a:srgbClr val="0E1B2A"/>
                </a:solidFill>
                <a:latin typeface="Bahnschrift" pitchFamily="34" charset="0"/>
                <a:ea typeface="Bahnschrift" pitchFamily="34" charset="-122"/>
                <a:cs typeface="Bahnschrift" pitchFamily="34" charset="-120"/>
              </a:rPr>
              <a:t>Operating point cuối cùng và metric của model chốt</a:t>
            </a:r>
            <a:endParaRPr lang="en-US" sz="2500" dirty="0"/>
          </a:p>
        </p:txBody>
      </p:sp>
      <p:sp>
        <p:nvSpPr>
          <p:cNvPr id="9" name="Shape 7"/>
          <p:cNvSpPr/>
          <p:nvPr/>
        </p:nvSpPr>
        <p:spPr>
          <a:xfrm>
            <a:off x="768096" y="1389888"/>
            <a:ext cx="1965960" cy="36576"/>
          </a:xfrm>
          <a:prstGeom prst="rect">
            <a:avLst/>
          </a:prstGeom>
          <a:solidFill>
            <a:srgbClr val="C96A2B"/>
          </a:solidFill>
          <a:ln w="12700">
            <a:solidFill>
              <a:srgbClr val="C96A2B"/>
            </a:solidFill>
            <a:prstDash val="solid"/>
          </a:ln>
        </p:spPr>
      </p:sp>
      <p:sp>
        <p:nvSpPr>
          <p:cNvPr id="10" name="Text 8"/>
          <p:cNvSpPr/>
          <p:nvPr/>
        </p:nvSpPr>
        <p:spPr>
          <a:xfrm>
            <a:off x="10808208" y="566928"/>
            <a:ext cx="502920" cy="237744"/>
          </a:xfrm>
          <a:prstGeom prst="rect">
            <a:avLst/>
          </a:prstGeom>
          <a:noFill/>
          <a:ln/>
        </p:spPr>
        <p:txBody>
          <a:bodyPr wrap="square" rtlCol="0" anchor="ctr"/>
          <a:lstStyle/>
          <a:p>
            <a:pPr algn="r" indent="0" marL="0">
              <a:buNone/>
            </a:pPr>
            <a:r>
              <a:rPr lang="en-US" sz="1200" b="1" dirty="0">
                <a:solidFill>
                  <a:srgbClr val="7A7A76"/>
                </a:solidFill>
                <a:latin typeface="Bahnschrift" pitchFamily="34" charset="0"/>
                <a:ea typeface="Bahnschrift" pitchFamily="34" charset="-122"/>
                <a:cs typeface="Bahnschrift" pitchFamily="34" charset="-120"/>
              </a:rPr>
              <a:t>08</a:t>
            </a:r>
            <a:endParaRPr lang="en-US" sz="1200" dirty="0"/>
          </a:p>
        </p:txBody>
      </p:sp>
      <p:pic>
        <p:nvPicPr>
          <p:cNvPr id="11" name="Image 0" descr="F:\Work\IDS_ML_New\docs\figures\catboost_full_threshold_sweep.png">    </p:cNvPr>
          <p:cNvPicPr>
            <a:picLocks noChangeAspect="1"/>
          </p:cNvPicPr>
          <p:nvPr/>
        </p:nvPicPr>
        <p:blipFill>
          <a:blip r:embed="rId1"/>
          <a:stretch>
            <a:fillRect/>
          </a:stretch>
        </p:blipFill>
        <p:spPr>
          <a:xfrm>
            <a:off x="640080" y="1937244"/>
            <a:ext cx="5852160" cy="3212113"/>
          </a:xfrm>
          <a:prstGeom prst="rect">
            <a:avLst/>
          </a:prstGeom>
        </p:spPr>
      </p:pic>
      <p:sp>
        <p:nvSpPr>
          <p:cNvPr id="12" name="Shape 9"/>
          <p:cNvSpPr/>
          <p:nvPr/>
        </p:nvSpPr>
        <p:spPr>
          <a:xfrm>
            <a:off x="6812280" y="1572768"/>
            <a:ext cx="1828800" cy="914400"/>
          </a:xfrm>
          <a:prstGeom prst="rect">
            <a:avLst/>
          </a:prstGeom>
          <a:solidFill>
            <a:srgbClr val="E2F3F1"/>
          </a:solidFill>
          <a:ln w="12700">
            <a:solidFill>
              <a:srgbClr val="E2F3F1"/>
            </a:solidFill>
            <a:prstDash val="solid"/>
          </a:ln>
        </p:spPr>
      </p:sp>
      <p:sp>
        <p:nvSpPr>
          <p:cNvPr id="13" name="Shape 10"/>
          <p:cNvSpPr/>
          <p:nvPr/>
        </p:nvSpPr>
        <p:spPr>
          <a:xfrm>
            <a:off x="6812280" y="1572768"/>
            <a:ext cx="1828800" cy="36576"/>
          </a:xfrm>
          <a:prstGeom prst="rect">
            <a:avLst/>
          </a:prstGeom>
          <a:solidFill>
            <a:srgbClr val="2B7A78"/>
          </a:solidFill>
          <a:ln w="12700">
            <a:solidFill>
              <a:srgbClr val="2B7A78"/>
            </a:solidFill>
            <a:prstDash val="solid"/>
          </a:ln>
        </p:spPr>
      </p:sp>
      <p:sp>
        <p:nvSpPr>
          <p:cNvPr id="14" name="Text 11"/>
          <p:cNvSpPr/>
          <p:nvPr/>
        </p:nvSpPr>
        <p:spPr>
          <a:xfrm>
            <a:off x="6958584" y="1682496"/>
            <a:ext cx="1536192" cy="182880"/>
          </a:xfrm>
          <a:prstGeom prst="rect">
            <a:avLst/>
          </a:prstGeom>
          <a:noFill/>
          <a:ln/>
        </p:spPr>
        <p:txBody>
          <a:bodyPr wrap="square" rtlCol="0" anchor="ctr"/>
          <a:lstStyle/>
          <a:p>
            <a:pPr indent="0" marL="0">
              <a:buNone/>
            </a:pPr>
            <a:r>
              <a:rPr lang="en-US" sz="1030" b="1" dirty="0">
                <a:solidFill>
                  <a:srgbClr val="7A7A76"/>
                </a:solidFill>
                <a:latin typeface="Aptos" pitchFamily="34" charset="0"/>
                <a:ea typeface="Aptos" pitchFamily="34" charset="-122"/>
                <a:cs typeface="Aptos" pitchFamily="34" charset="-120"/>
              </a:rPr>
              <a:t>Threshold chốt</a:t>
            </a:r>
            <a:endParaRPr lang="en-US" sz="1030" dirty="0"/>
          </a:p>
        </p:txBody>
      </p:sp>
      <p:sp>
        <p:nvSpPr>
          <p:cNvPr id="15" name="Text 12"/>
          <p:cNvSpPr/>
          <p:nvPr/>
        </p:nvSpPr>
        <p:spPr>
          <a:xfrm>
            <a:off x="6958584" y="1883664"/>
            <a:ext cx="1536192" cy="384048"/>
          </a:xfrm>
          <a:prstGeom prst="rect">
            <a:avLst/>
          </a:prstGeom>
          <a:noFill/>
          <a:ln/>
        </p:spPr>
        <p:txBody>
          <a:bodyPr wrap="square" rtlCol="0" anchor="ctr"/>
          <a:lstStyle/>
          <a:p>
            <a:pPr indent="0" marL="0">
              <a:buNone/>
            </a:pPr>
            <a:r>
              <a:rPr lang="en-US" sz="2200" b="1" dirty="0">
                <a:solidFill>
                  <a:srgbClr val="2B7A78"/>
                </a:solidFill>
                <a:latin typeface="Bahnschrift" pitchFamily="34" charset="0"/>
                <a:ea typeface="Bahnschrift" pitchFamily="34" charset="-122"/>
                <a:cs typeface="Bahnschrift" pitchFamily="34" charset="-120"/>
              </a:rPr>
              <a:t>0.5</a:t>
            </a:r>
            <a:endParaRPr lang="en-US" sz="2200" dirty="0"/>
          </a:p>
        </p:txBody>
      </p:sp>
      <p:sp>
        <p:nvSpPr>
          <p:cNvPr id="16" name="Text 13"/>
          <p:cNvSpPr/>
          <p:nvPr/>
        </p:nvSpPr>
        <p:spPr>
          <a:xfrm>
            <a:off x="6958584" y="2331720"/>
            <a:ext cx="1536192" cy="73152"/>
          </a:xfrm>
          <a:prstGeom prst="rect">
            <a:avLst/>
          </a:prstGeom>
          <a:noFill/>
          <a:ln/>
        </p:spPr>
        <p:txBody>
          <a:bodyPr wrap="square" rtlCol="0" anchor="ctr"/>
          <a:lstStyle/>
          <a:p>
            <a:pPr indent="0" marL="0">
              <a:buNone/>
            </a:pPr>
            <a:r>
              <a:rPr lang="en-US" sz="950" dirty="0">
                <a:solidFill>
                  <a:srgbClr val="41576D"/>
                </a:solidFill>
                <a:latin typeface="Aptos" pitchFamily="34" charset="0"/>
                <a:ea typeface="Aptos" pitchFamily="34" charset="-122"/>
                <a:cs typeface="Aptos" pitchFamily="34" charset="-120"/>
              </a:rPr>
              <a:t>Conservative, dễ giải thích</a:t>
            </a:r>
            <a:endParaRPr lang="en-US" sz="950" dirty="0"/>
          </a:p>
        </p:txBody>
      </p:sp>
      <p:sp>
        <p:nvSpPr>
          <p:cNvPr id="17" name="Shape 14"/>
          <p:cNvSpPr/>
          <p:nvPr/>
        </p:nvSpPr>
        <p:spPr>
          <a:xfrm>
            <a:off x="8823960" y="1572768"/>
            <a:ext cx="1828800" cy="914400"/>
          </a:xfrm>
          <a:prstGeom prst="rect">
            <a:avLst/>
          </a:prstGeom>
          <a:solidFill>
            <a:srgbClr val="E7F0F6"/>
          </a:solidFill>
          <a:ln w="12700">
            <a:solidFill>
              <a:srgbClr val="E7F0F6"/>
            </a:solidFill>
            <a:prstDash val="solid"/>
          </a:ln>
        </p:spPr>
      </p:sp>
      <p:sp>
        <p:nvSpPr>
          <p:cNvPr id="18" name="Shape 15"/>
          <p:cNvSpPr/>
          <p:nvPr/>
        </p:nvSpPr>
        <p:spPr>
          <a:xfrm>
            <a:off x="8823960" y="1572768"/>
            <a:ext cx="1828800" cy="36576"/>
          </a:xfrm>
          <a:prstGeom prst="rect">
            <a:avLst/>
          </a:prstGeom>
          <a:solidFill>
            <a:srgbClr val="3D6C8D"/>
          </a:solidFill>
          <a:ln w="12700">
            <a:solidFill>
              <a:srgbClr val="3D6C8D"/>
            </a:solidFill>
            <a:prstDash val="solid"/>
          </a:ln>
        </p:spPr>
      </p:sp>
      <p:sp>
        <p:nvSpPr>
          <p:cNvPr id="19" name="Text 16"/>
          <p:cNvSpPr/>
          <p:nvPr/>
        </p:nvSpPr>
        <p:spPr>
          <a:xfrm>
            <a:off x="8970264" y="1682496"/>
            <a:ext cx="1536192" cy="182880"/>
          </a:xfrm>
          <a:prstGeom prst="rect">
            <a:avLst/>
          </a:prstGeom>
          <a:noFill/>
          <a:ln/>
        </p:spPr>
        <p:txBody>
          <a:bodyPr wrap="square" rtlCol="0" anchor="ctr"/>
          <a:lstStyle/>
          <a:p>
            <a:pPr indent="0" marL="0">
              <a:buNone/>
            </a:pPr>
            <a:r>
              <a:rPr lang="en-US" sz="1030" b="1" dirty="0">
                <a:solidFill>
                  <a:srgbClr val="7A7A76"/>
                </a:solidFill>
                <a:latin typeface="Aptos" pitchFamily="34" charset="0"/>
                <a:ea typeface="Aptos" pitchFamily="34" charset="-122"/>
                <a:cs typeface="Aptos" pitchFamily="34" charset="-120"/>
              </a:rPr>
              <a:t>Test F1</a:t>
            </a:r>
            <a:endParaRPr lang="en-US" sz="1030" dirty="0"/>
          </a:p>
        </p:txBody>
      </p:sp>
      <p:sp>
        <p:nvSpPr>
          <p:cNvPr id="20" name="Text 17"/>
          <p:cNvSpPr/>
          <p:nvPr/>
        </p:nvSpPr>
        <p:spPr>
          <a:xfrm>
            <a:off x="8970264" y="1883664"/>
            <a:ext cx="1536192" cy="384048"/>
          </a:xfrm>
          <a:prstGeom prst="rect">
            <a:avLst/>
          </a:prstGeom>
          <a:noFill/>
          <a:ln/>
        </p:spPr>
        <p:txBody>
          <a:bodyPr wrap="square" rtlCol="0" anchor="ctr"/>
          <a:lstStyle/>
          <a:p>
            <a:pPr indent="0" marL="0">
              <a:buNone/>
            </a:pPr>
            <a:r>
              <a:rPr lang="en-US" sz="2200" b="1" dirty="0">
                <a:solidFill>
                  <a:srgbClr val="3D6C8D"/>
                </a:solidFill>
                <a:latin typeface="Bahnschrift" pitchFamily="34" charset="0"/>
                <a:ea typeface="Bahnschrift" pitchFamily="34" charset="-122"/>
                <a:cs typeface="Bahnschrift" pitchFamily="34" charset="-120"/>
              </a:rPr>
              <a:t>0.993358</a:t>
            </a:r>
            <a:endParaRPr lang="en-US" sz="2200" dirty="0"/>
          </a:p>
        </p:txBody>
      </p:sp>
      <p:sp>
        <p:nvSpPr>
          <p:cNvPr id="21" name="Text 18"/>
          <p:cNvSpPr/>
          <p:nvPr/>
        </p:nvSpPr>
        <p:spPr>
          <a:xfrm>
            <a:off x="8970264" y="2331720"/>
            <a:ext cx="1536192" cy="73152"/>
          </a:xfrm>
          <a:prstGeom prst="rect">
            <a:avLst/>
          </a:prstGeom>
          <a:noFill/>
          <a:ln/>
        </p:spPr>
        <p:txBody>
          <a:bodyPr wrap="square" rtlCol="0" anchor="ctr"/>
          <a:lstStyle/>
          <a:p>
            <a:pPr indent="0" marL="0">
              <a:buNone/>
            </a:pPr>
            <a:r>
              <a:rPr lang="en-US" sz="950" dirty="0">
                <a:solidFill>
                  <a:srgbClr val="41576D"/>
                </a:solidFill>
                <a:latin typeface="Aptos" pitchFamily="34" charset="0"/>
                <a:ea typeface="Aptos" pitchFamily="34" charset="-122"/>
                <a:cs typeface="Aptos" pitchFamily="34" charset="-120"/>
              </a:rPr>
              <a:t>Mốc triển khai</a:t>
            </a:r>
            <a:endParaRPr lang="en-US" sz="950" dirty="0"/>
          </a:p>
        </p:txBody>
      </p:sp>
      <p:sp>
        <p:nvSpPr>
          <p:cNvPr id="22" name="Shape 19"/>
          <p:cNvSpPr/>
          <p:nvPr/>
        </p:nvSpPr>
        <p:spPr>
          <a:xfrm>
            <a:off x="6812280" y="2697480"/>
            <a:ext cx="1828800" cy="914400"/>
          </a:xfrm>
          <a:prstGeom prst="rect">
            <a:avLst/>
          </a:prstGeom>
          <a:solidFill>
            <a:srgbClr val="F6E7DA"/>
          </a:solidFill>
          <a:ln w="12700">
            <a:solidFill>
              <a:srgbClr val="F6E7DA"/>
            </a:solidFill>
            <a:prstDash val="solid"/>
          </a:ln>
        </p:spPr>
      </p:sp>
      <p:sp>
        <p:nvSpPr>
          <p:cNvPr id="23" name="Shape 20"/>
          <p:cNvSpPr/>
          <p:nvPr/>
        </p:nvSpPr>
        <p:spPr>
          <a:xfrm>
            <a:off x="6812280" y="2697480"/>
            <a:ext cx="1828800" cy="36576"/>
          </a:xfrm>
          <a:prstGeom prst="rect">
            <a:avLst/>
          </a:prstGeom>
          <a:solidFill>
            <a:srgbClr val="C96A2B"/>
          </a:solidFill>
          <a:ln w="12700">
            <a:solidFill>
              <a:srgbClr val="C96A2B"/>
            </a:solidFill>
            <a:prstDash val="solid"/>
          </a:ln>
        </p:spPr>
      </p:sp>
      <p:sp>
        <p:nvSpPr>
          <p:cNvPr id="24" name="Text 21"/>
          <p:cNvSpPr/>
          <p:nvPr/>
        </p:nvSpPr>
        <p:spPr>
          <a:xfrm>
            <a:off x="6958584" y="2807208"/>
            <a:ext cx="1536192" cy="182880"/>
          </a:xfrm>
          <a:prstGeom prst="rect">
            <a:avLst/>
          </a:prstGeom>
          <a:noFill/>
          <a:ln/>
        </p:spPr>
        <p:txBody>
          <a:bodyPr wrap="square" rtlCol="0" anchor="ctr"/>
          <a:lstStyle/>
          <a:p>
            <a:pPr indent="0" marL="0">
              <a:buNone/>
            </a:pPr>
            <a:r>
              <a:rPr lang="en-US" sz="1030" b="1" dirty="0">
                <a:solidFill>
                  <a:srgbClr val="7A7A76"/>
                </a:solidFill>
                <a:latin typeface="Aptos" pitchFamily="34" charset="0"/>
                <a:ea typeface="Aptos" pitchFamily="34" charset="-122"/>
                <a:cs typeface="Aptos" pitchFamily="34" charset="-120"/>
              </a:rPr>
              <a:t>Test FPR</a:t>
            </a:r>
            <a:endParaRPr lang="en-US" sz="1030" dirty="0"/>
          </a:p>
        </p:txBody>
      </p:sp>
      <p:sp>
        <p:nvSpPr>
          <p:cNvPr id="25" name="Text 22"/>
          <p:cNvSpPr/>
          <p:nvPr/>
        </p:nvSpPr>
        <p:spPr>
          <a:xfrm>
            <a:off x="6958584" y="3008376"/>
            <a:ext cx="1536192" cy="384048"/>
          </a:xfrm>
          <a:prstGeom prst="rect">
            <a:avLst/>
          </a:prstGeom>
          <a:noFill/>
          <a:ln/>
        </p:spPr>
        <p:txBody>
          <a:bodyPr wrap="square" rtlCol="0" anchor="ctr"/>
          <a:lstStyle/>
          <a:p>
            <a:pPr indent="0" marL="0">
              <a:buNone/>
            </a:pPr>
            <a:r>
              <a:rPr lang="en-US" sz="2200" b="1" dirty="0">
                <a:solidFill>
                  <a:srgbClr val="C96A2B"/>
                </a:solidFill>
                <a:latin typeface="Bahnschrift" pitchFamily="34" charset="0"/>
                <a:ea typeface="Bahnschrift" pitchFamily="34" charset="-122"/>
                <a:cs typeface="Bahnschrift" pitchFamily="34" charset="-120"/>
              </a:rPr>
              <a:t>2.74%</a:t>
            </a:r>
            <a:endParaRPr lang="en-US" sz="2200" dirty="0"/>
          </a:p>
        </p:txBody>
      </p:sp>
      <p:sp>
        <p:nvSpPr>
          <p:cNvPr id="26" name="Text 23"/>
          <p:cNvSpPr/>
          <p:nvPr/>
        </p:nvSpPr>
        <p:spPr>
          <a:xfrm>
            <a:off x="6958584" y="3456432"/>
            <a:ext cx="1536192" cy="73152"/>
          </a:xfrm>
          <a:prstGeom prst="rect">
            <a:avLst/>
          </a:prstGeom>
          <a:noFill/>
          <a:ln/>
        </p:spPr>
        <p:txBody>
          <a:bodyPr wrap="square" rtlCol="0" anchor="ctr"/>
          <a:lstStyle/>
          <a:p>
            <a:pPr indent="0" marL="0">
              <a:buNone/>
            </a:pPr>
            <a:r>
              <a:rPr lang="en-US" sz="950" dirty="0">
                <a:solidFill>
                  <a:srgbClr val="41576D"/>
                </a:solidFill>
                <a:latin typeface="Aptos" pitchFamily="34" charset="0"/>
                <a:ea typeface="Aptos" pitchFamily="34" charset="-122"/>
                <a:cs typeface="Aptos" pitchFamily="34" charset="-120"/>
              </a:rPr>
              <a:t>Mức báo động giả</a:t>
            </a:r>
            <a:endParaRPr lang="en-US" sz="950" dirty="0"/>
          </a:p>
        </p:txBody>
      </p:sp>
      <p:sp>
        <p:nvSpPr>
          <p:cNvPr id="27" name="Shape 24"/>
          <p:cNvSpPr/>
          <p:nvPr/>
        </p:nvSpPr>
        <p:spPr>
          <a:xfrm>
            <a:off x="8823960" y="2697480"/>
            <a:ext cx="1828800" cy="914400"/>
          </a:xfrm>
          <a:prstGeom prst="rect">
            <a:avLst/>
          </a:prstGeom>
          <a:solidFill>
            <a:srgbClr val="E8F2EA"/>
          </a:solidFill>
          <a:ln w="12700">
            <a:solidFill>
              <a:srgbClr val="E8F2EA"/>
            </a:solidFill>
            <a:prstDash val="solid"/>
          </a:ln>
        </p:spPr>
      </p:sp>
      <p:sp>
        <p:nvSpPr>
          <p:cNvPr id="28" name="Shape 25"/>
          <p:cNvSpPr/>
          <p:nvPr/>
        </p:nvSpPr>
        <p:spPr>
          <a:xfrm>
            <a:off x="8823960" y="2697480"/>
            <a:ext cx="1828800" cy="36576"/>
          </a:xfrm>
          <a:prstGeom prst="rect">
            <a:avLst/>
          </a:prstGeom>
          <a:solidFill>
            <a:srgbClr val="4E8B61"/>
          </a:solidFill>
          <a:ln w="12700">
            <a:solidFill>
              <a:srgbClr val="4E8B61"/>
            </a:solidFill>
            <a:prstDash val="solid"/>
          </a:ln>
        </p:spPr>
      </p:sp>
      <p:sp>
        <p:nvSpPr>
          <p:cNvPr id="29" name="Text 26"/>
          <p:cNvSpPr/>
          <p:nvPr/>
        </p:nvSpPr>
        <p:spPr>
          <a:xfrm>
            <a:off x="8970264" y="2807208"/>
            <a:ext cx="1536192" cy="182880"/>
          </a:xfrm>
          <a:prstGeom prst="rect">
            <a:avLst/>
          </a:prstGeom>
          <a:noFill/>
          <a:ln/>
        </p:spPr>
        <p:txBody>
          <a:bodyPr wrap="square" rtlCol="0" anchor="ctr"/>
          <a:lstStyle/>
          <a:p>
            <a:pPr indent="0" marL="0">
              <a:buNone/>
            </a:pPr>
            <a:r>
              <a:rPr lang="en-US" sz="1030" b="1" dirty="0">
                <a:solidFill>
                  <a:srgbClr val="7A7A76"/>
                </a:solidFill>
                <a:latin typeface="Aptos" pitchFamily="34" charset="0"/>
                <a:ea typeface="Aptos" pitchFamily="34" charset="-122"/>
                <a:cs typeface="Aptos" pitchFamily="34" charset="-120"/>
              </a:rPr>
              <a:t>OOD Recall</a:t>
            </a:r>
            <a:endParaRPr lang="en-US" sz="1030" dirty="0"/>
          </a:p>
        </p:txBody>
      </p:sp>
      <p:sp>
        <p:nvSpPr>
          <p:cNvPr id="30" name="Text 27"/>
          <p:cNvSpPr/>
          <p:nvPr/>
        </p:nvSpPr>
        <p:spPr>
          <a:xfrm>
            <a:off x="8970264" y="3008376"/>
            <a:ext cx="1536192" cy="384048"/>
          </a:xfrm>
          <a:prstGeom prst="rect">
            <a:avLst/>
          </a:prstGeom>
          <a:noFill/>
          <a:ln/>
        </p:spPr>
        <p:txBody>
          <a:bodyPr wrap="square" rtlCol="0" anchor="ctr"/>
          <a:lstStyle/>
          <a:p>
            <a:pPr indent="0" marL="0">
              <a:buNone/>
            </a:pPr>
            <a:r>
              <a:rPr lang="en-US" sz="2200" b="1" dirty="0">
                <a:solidFill>
                  <a:srgbClr val="4E8B61"/>
                </a:solidFill>
                <a:latin typeface="Bahnschrift" pitchFamily="34" charset="0"/>
                <a:ea typeface="Bahnschrift" pitchFamily="34" charset="-122"/>
                <a:cs typeface="Bahnschrift" pitchFamily="34" charset="-120"/>
              </a:rPr>
              <a:t>49.96%</a:t>
            </a:r>
            <a:endParaRPr lang="en-US" sz="2200" dirty="0"/>
          </a:p>
        </p:txBody>
      </p:sp>
      <p:sp>
        <p:nvSpPr>
          <p:cNvPr id="31" name="Text 28"/>
          <p:cNvSpPr/>
          <p:nvPr/>
        </p:nvSpPr>
        <p:spPr>
          <a:xfrm>
            <a:off x="8970264" y="3456432"/>
            <a:ext cx="1536192" cy="73152"/>
          </a:xfrm>
          <a:prstGeom prst="rect">
            <a:avLst/>
          </a:prstGeom>
          <a:noFill/>
          <a:ln/>
        </p:spPr>
        <p:txBody>
          <a:bodyPr wrap="square" rtlCol="0" anchor="ctr"/>
          <a:lstStyle/>
          <a:p>
            <a:pPr indent="0" marL="0">
              <a:buNone/>
            </a:pPr>
            <a:r>
              <a:rPr lang="en-US" sz="950" dirty="0">
                <a:solidFill>
                  <a:srgbClr val="41576D"/>
                </a:solidFill>
                <a:latin typeface="Aptos" pitchFamily="34" charset="0"/>
                <a:ea typeface="Aptos" pitchFamily="34" charset="-122"/>
                <a:cs typeface="Aptos" pitchFamily="34" charset="-120"/>
              </a:rPr>
              <a:t>Tổng quát hóa attack mới</a:t>
            </a:r>
            <a:endParaRPr lang="en-US" sz="950" dirty="0"/>
          </a:p>
        </p:txBody>
      </p:sp>
      <p:sp>
        <p:nvSpPr>
          <p:cNvPr id="32" name="Shape 29"/>
          <p:cNvSpPr/>
          <p:nvPr/>
        </p:nvSpPr>
        <p:spPr>
          <a:xfrm>
            <a:off x="6720840" y="3913632"/>
            <a:ext cx="4069080" cy="1481328"/>
          </a:xfrm>
          <a:prstGeom prst="rect">
            <a:avLst/>
          </a:prstGeom>
          <a:solidFill>
            <a:srgbClr val="F2E8DC"/>
          </a:solidFill>
          <a:ln w="12700">
            <a:solidFill>
              <a:srgbClr val="F2E8DC"/>
            </a:solidFill>
            <a:prstDash val="solid"/>
          </a:ln>
        </p:spPr>
      </p:sp>
      <p:sp>
        <p:nvSpPr>
          <p:cNvPr id="33" name="Shape 30"/>
          <p:cNvSpPr/>
          <p:nvPr/>
        </p:nvSpPr>
        <p:spPr>
          <a:xfrm>
            <a:off x="6720840" y="3913632"/>
            <a:ext cx="73152" cy="1481328"/>
          </a:xfrm>
          <a:prstGeom prst="rect">
            <a:avLst/>
          </a:prstGeom>
          <a:solidFill>
            <a:srgbClr val="0E1B2A"/>
          </a:solidFill>
          <a:ln w="12700">
            <a:solidFill>
              <a:srgbClr val="0E1B2A"/>
            </a:solidFill>
            <a:prstDash val="solid"/>
          </a:ln>
        </p:spPr>
      </p:sp>
      <p:sp>
        <p:nvSpPr>
          <p:cNvPr id="34" name="Shape 31"/>
          <p:cNvSpPr/>
          <p:nvPr/>
        </p:nvSpPr>
        <p:spPr>
          <a:xfrm>
            <a:off x="6867144" y="4041648"/>
            <a:ext cx="475488" cy="27432"/>
          </a:xfrm>
          <a:prstGeom prst="rect">
            <a:avLst/>
          </a:prstGeom>
          <a:solidFill>
            <a:srgbClr val="0E1B2A"/>
          </a:solidFill>
          <a:ln w="12700">
            <a:solidFill>
              <a:srgbClr val="0E1B2A"/>
            </a:solidFill>
            <a:prstDash val="solid"/>
          </a:ln>
        </p:spPr>
      </p:sp>
      <p:sp>
        <p:nvSpPr>
          <p:cNvPr id="35" name="Text 32"/>
          <p:cNvSpPr/>
          <p:nvPr/>
        </p:nvSpPr>
        <p:spPr>
          <a:xfrm>
            <a:off x="6922008" y="4133088"/>
            <a:ext cx="3758184" cy="219456"/>
          </a:xfrm>
          <a:prstGeom prst="rect">
            <a:avLst/>
          </a:prstGeom>
          <a:noFill/>
          <a:ln/>
        </p:spPr>
        <p:txBody>
          <a:bodyPr wrap="square" rtlCol="0" anchor="ctr"/>
          <a:lstStyle/>
          <a:p>
            <a:pPr indent="0" marL="0">
              <a:buNone/>
            </a:pPr>
            <a:r>
              <a:rPr lang="en-US" sz="1450" b="1" dirty="0">
                <a:solidFill>
                  <a:srgbClr val="0E1B2A"/>
                </a:solidFill>
                <a:latin typeface="Bahnschrift" pitchFamily="34" charset="0"/>
                <a:ea typeface="Bahnschrift" pitchFamily="34" charset="-122"/>
                <a:cs typeface="Bahnschrift" pitchFamily="34" charset="-120"/>
              </a:rPr>
              <a:t>So sánh với threshold 0.475</a:t>
            </a:r>
            <a:endParaRPr lang="en-US" sz="1450" dirty="0"/>
          </a:p>
        </p:txBody>
      </p:sp>
      <p:sp>
        <p:nvSpPr>
          <p:cNvPr id="36" name="Text 33"/>
          <p:cNvSpPr/>
          <p:nvPr/>
        </p:nvSpPr>
        <p:spPr>
          <a:xfrm>
            <a:off x="6922008" y="4462272"/>
            <a:ext cx="3758184" cy="804672"/>
          </a:xfrm>
          <a:prstGeom prst="rect">
            <a:avLst/>
          </a:prstGeom>
          <a:noFill/>
          <a:ln/>
        </p:spPr>
        <p:txBody>
          <a:bodyPr wrap="square" lIns="254" tIns="254" rIns="254" bIns="254" rtlCol="0" anchor="t"/>
          <a:lstStyle/>
          <a:p>
            <a:pPr indent="0" marL="0">
              <a:buNone/>
            </a:pPr>
            <a:r>
              <a:rPr lang="en-US" sz="1050" dirty="0">
                <a:solidFill>
                  <a:srgbClr val="41576D"/>
                </a:solidFill>
                <a:latin typeface="Aptos" pitchFamily="34" charset="0"/>
                <a:ea typeface="Aptos" pitchFamily="34" charset="-122"/>
                <a:cs typeface="Aptos" pitchFamily="34" charset="-120"/>
              </a:rPr>
              <a:t>Threshold tune 0.475 chỉ nhích F1 lên 0.993411 và OOD recall lên 50.39%, nhưng FPR cũng tăng lên 2.84%. Vì vậy đề tài giữ threshold 0.5 để hệ thống ít nhiễu hơn và dễ tái lập hơn.</a:t>
            </a:r>
            <a:endParaRPr lang="en-US" sz="1050" dirty="0"/>
          </a:p>
        </p:txBody>
      </p:sp>
      <p:sp>
        <p:nvSpPr>
          <p:cNvPr id="37" name="Text 34"/>
          <p:cNvSpPr/>
          <p:nvPr/>
        </p:nvSpPr>
        <p:spPr>
          <a:xfrm>
            <a:off x="548640" y="6473952"/>
            <a:ext cx="9509760" cy="164592"/>
          </a:xfrm>
          <a:prstGeom prst="rect">
            <a:avLst/>
          </a:prstGeom>
          <a:noFill/>
          <a:ln/>
        </p:spPr>
        <p:txBody>
          <a:bodyPr wrap="square" rtlCol="0" anchor="ctr"/>
          <a:lstStyle/>
          <a:p>
            <a:pPr indent="0" marL="0">
              <a:buNone/>
            </a:pPr>
            <a:r>
              <a:rPr lang="en-US" sz="900" dirty="0">
                <a:solidFill>
                  <a:srgbClr val="7A7A76"/>
                </a:solidFill>
                <a:latin typeface="Aptos" pitchFamily="34" charset="0"/>
                <a:ea typeface="Aptos" pitchFamily="34" charset="-122"/>
                <a:cs typeface="Aptos" pitchFamily="34" charset="-120"/>
              </a:rPr>
              <a:t>Thông điệp thuyết trình: threshold 0.5 được chọn để phục vụ deploy thực tế, không phải để tối ưu tuyệt đối trên từng metric.</a:t>
            </a:r>
            <a:endParaRPr lang="en-US" sz="900" dirty="0"/>
          </a:p>
        </p:txBody>
      </p:sp>
      <p:sp>
        <p:nvSpPr>
          <p:cNvPr id="25" name="Slide Number Placeholder 0"/>
          <p:cNvSpPr>
            <a:spLocks noGrp="1"/>
          </p:cNvSpPr>
          <p:nvPr>
            <p:ph type="sldNum" sz="quarter" idx="4294967295"/>
          </p:nvPr>
        </p:nvSpPr>
        <p:spPr>
          <a:xfrm>
            <a:off x="11475720" y="6446520"/>
            <a:ext cx="32004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7A7A76"/>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CF8F2"/>
        </a:solidFill>
      </p:bgPr>
    </p:bg>
    <p:spTree>
      <p:nvGrpSpPr>
        <p:cNvPr id="1" name=""/>
        <p:cNvGrpSpPr/>
        <p:nvPr/>
      </p:nvGrpSpPr>
      <p:grpSpPr>
        <a:xfrm>
          <a:off x="0" y="0"/>
          <a:ext cx="0" cy="0"/>
          <a:chOff x="0" y="0"/>
          <a:chExt cx="0" cy="0"/>
        </a:xfrm>
      </p:grpSpPr>
      <p:sp>
        <p:nvSpPr>
          <p:cNvPr id="2" name="Shape 0"/>
          <p:cNvSpPr/>
          <p:nvPr/>
        </p:nvSpPr>
        <p:spPr>
          <a:xfrm>
            <a:off x="0" y="0"/>
            <a:ext cx="12191695" cy="219456"/>
          </a:xfrm>
          <a:prstGeom prst="rect">
            <a:avLst/>
          </a:prstGeom>
          <a:solidFill>
            <a:srgbClr val="0E1B2A"/>
          </a:solidFill>
          <a:ln w="12700">
            <a:solidFill>
              <a:srgbClr val="0E1B2A"/>
            </a:solidFill>
            <a:prstDash val="solid"/>
          </a:ln>
        </p:spPr>
      </p:sp>
      <p:sp>
        <p:nvSpPr>
          <p:cNvPr id="3" name="Shape 1"/>
          <p:cNvSpPr/>
          <p:nvPr/>
        </p:nvSpPr>
        <p:spPr>
          <a:xfrm>
            <a:off x="566928" y="713232"/>
            <a:ext cx="54864" cy="859536"/>
          </a:xfrm>
          <a:prstGeom prst="rect">
            <a:avLst/>
          </a:prstGeom>
          <a:solidFill>
            <a:srgbClr val="C96A2B"/>
          </a:solidFill>
          <a:ln w="12700">
            <a:solidFill>
              <a:srgbClr val="C96A2B"/>
            </a:solidFill>
            <a:prstDash val="solid"/>
          </a:ln>
        </p:spPr>
      </p:sp>
      <p:sp>
        <p:nvSpPr>
          <p:cNvPr id="4" name="Shape 2"/>
          <p:cNvSpPr/>
          <p:nvPr/>
        </p:nvSpPr>
        <p:spPr>
          <a:xfrm>
            <a:off x="9555480" y="822960"/>
            <a:ext cx="2011680" cy="36576"/>
          </a:xfrm>
          <a:prstGeom prst="rect">
            <a:avLst/>
          </a:prstGeom>
          <a:solidFill>
            <a:srgbClr val="C96A2B">
              <a:alpha val="72000"/>
            </a:srgbClr>
          </a:solidFill>
          <a:ln w="12700">
            <a:solidFill>
              <a:srgbClr val="C96A2B">
                <a:alpha val="72000"/>
              </a:srgbClr>
            </a:solidFill>
            <a:prstDash val="solid"/>
          </a:ln>
        </p:spPr>
      </p:sp>
      <p:sp>
        <p:nvSpPr>
          <p:cNvPr id="5" name="Shape 3"/>
          <p:cNvSpPr/>
          <p:nvPr/>
        </p:nvSpPr>
        <p:spPr>
          <a:xfrm>
            <a:off x="10469880" y="292608"/>
            <a:ext cx="1078992" cy="1078992"/>
          </a:xfrm>
          <a:prstGeom prst="ellipse">
            <a:avLst/>
          </a:prstGeom>
          <a:solidFill>
            <a:srgbClr val="C96A2B">
              <a:alpha val="0"/>
            </a:srgbClr>
          </a:solidFill>
          <a:ln w="12700">
            <a:solidFill>
              <a:srgbClr val="C96A2B">
                <a:alpha val="18000"/>
              </a:srgbClr>
            </a:solidFill>
            <a:prstDash val="solid"/>
          </a:ln>
        </p:spPr>
      </p:sp>
      <p:sp>
        <p:nvSpPr>
          <p:cNvPr id="6" name="Shape 4"/>
          <p:cNvSpPr/>
          <p:nvPr/>
        </p:nvSpPr>
        <p:spPr>
          <a:xfrm>
            <a:off x="73152" y="5257800"/>
            <a:ext cx="987552" cy="987552"/>
          </a:xfrm>
          <a:prstGeom prst="ellipse">
            <a:avLst/>
          </a:prstGeom>
          <a:solidFill>
            <a:srgbClr val="2B7A78">
              <a:alpha val="0"/>
            </a:srgbClr>
          </a:solidFill>
          <a:ln w="12700">
            <a:solidFill>
              <a:srgbClr val="2B7A78">
                <a:alpha val="14000"/>
              </a:srgbClr>
            </a:solidFill>
            <a:prstDash val="solid"/>
          </a:ln>
        </p:spPr>
      </p:sp>
      <p:sp>
        <p:nvSpPr>
          <p:cNvPr id="7" name="Text 5"/>
          <p:cNvSpPr/>
          <p:nvPr/>
        </p:nvSpPr>
        <p:spPr>
          <a:xfrm>
            <a:off x="768096" y="603504"/>
            <a:ext cx="4023360" cy="237744"/>
          </a:xfrm>
          <a:prstGeom prst="rect">
            <a:avLst/>
          </a:prstGeom>
          <a:noFill/>
          <a:ln/>
        </p:spPr>
        <p:txBody>
          <a:bodyPr wrap="square" rtlCol="0" anchor="ctr"/>
          <a:lstStyle/>
          <a:p>
            <a:pPr indent="0" marL="0">
              <a:buNone/>
            </a:pPr>
            <a:r>
              <a:rPr lang="en-US" sz="1100" b="1" dirty="0">
                <a:solidFill>
                  <a:srgbClr val="C96A2B"/>
                </a:solidFill>
                <a:latin typeface="Bahnschrift" pitchFamily="34" charset="0"/>
                <a:ea typeface="Bahnschrift" pitchFamily="34" charset="-122"/>
                <a:cs typeface="Bahnschrift" pitchFamily="34" charset="-120"/>
              </a:rPr>
              <a:t>08  DEPLOYABLE MODEL PACKAGE</a:t>
            </a:r>
            <a:endParaRPr lang="en-US" sz="1100" dirty="0"/>
          </a:p>
        </p:txBody>
      </p:sp>
      <p:sp>
        <p:nvSpPr>
          <p:cNvPr id="8" name="Text 6"/>
          <p:cNvSpPr/>
          <p:nvPr/>
        </p:nvSpPr>
        <p:spPr>
          <a:xfrm>
            <a:off x="768096" y="859536"/>
            <a:ext cx="8001000" cy="457200"/>
          </a:xfrm>
          <a:prstGeom prst="rect">
            <a:avLst/>
          </a:prstGeom>
          <a:noFill/>
          <a:ln/>
        </p:spPr>
        <p:txBody>
          <a:bodyPr wrap="square" rtlCol="0" anchor="ctr"/>
          <a:lstStyle/>
          <a:p>
            <a:pPr indent="0" marL="0">
              <a:buNone/>
            </a:pPr>
            <a:r>
              <a:rPr lang="en-US" sz="2500" b="1" dirty="0">
                <a:solidFill>
                  <a:srgbClr val="0E1B2A"/>
                </a:solidFill>
                <a:latin typeface="Bahnschrift" pitchFamily="34" charset="0"/>
                <a:ea typeface="Bahnschrift" pitchFamily="34" charset="-122"/>
                <a:cs typeface="Bahnschrift" pitchFamily="34" charset="-120"/>
              </a:rPr>
              <a:t>Final model bundle và inference contract</a:t>
            </a:r>
            <a:endParaRPr lang="en-US" sz="2500" dirty="0"/>
          </a:p>
        </p:txBody>
      </p:sp>
      <p:sp>
        <p:nvSpPr>
          <p:cNvPr id="9" name="Shape 7"/>
          <p:cNvSpPr/>
          <p:nvPr/>
        </p:nvSpPr>
        <p:spPr>
          <a:xfrm>
            <a:off x="768096" y="1389888"/>
            <a:ext cx="1965960" cy="36576"/>
          </a:xfrm>
          <a:prstGeom prst="rect">
            <a:avLst/>
          </a:prstGeom>
          <a:solidFill>
            <a:srgbClr val="C96A2B"/>
          </a:solidFill>
          <a:ln w="12700">
            <a:solidFill>
              <a:srgbClr val="C96A2B"/>
            </a:solidFill>
            <a:prstDash val="solid"/>
          </a:ln>
        </p:spPr>
      </p:sp>
      <p:sp>
        <p:nvSpPr>
          <p:cNvPr id="10" name="Text 8"/>
          <p:cNvSpPr/>
          <p:nvPr/>
        </p:nvSpPr>
        <p:spPr>
          <a:xfrm>
            <a:off x="10808208" y="566928"/>
            <a:ext cx="502920" cy="237744"/>
          </a:xfrm>
          <a:prstGeom prst="rect">
            <a:avLst/>
          </a:prstGeom>
          <a:noFill/>
          <a:ln/>
        </p:spPr>
        <p:txBody>
          <a:bodyPr wrap="square" rtlCol="0" anchor="ctr"/>
          <a:lstStyle/>
          <a:p>
            <a:pPr algn="r" indent="0" marL="0">
              <a:buNone/>
            </a:pPr>
            <a:r>
              <a:rPr lang="en-US" sz="1200" b="1" dirty="0">
                <a:solidFill>
                  <a:srgbClr val="7A7A76"/>
                </a:solidFill>
                <a:latin typeface="Bahnschrift" pitchFamily="34" charset="0"/>
                <a:ea typeface="Bahnschrift" pitchFamily="34" charset="-122"/>
                <a:cs typeface="Bahnschrift" pitchFamily="34" charset="-120"/>
              </a:rPr>
              <a:t>09</a:t>
            </a:r>
            <a:endParaRPr lang="en-US" sz="1200" dirty="0"/>
          </a:p>
        </p:txBody>
      </p:sp>
      <p:sp>
        <p:nvSpPr>
          <p:cNvPr id="11" name="Shape 9"/>
          <p:cNvSpPr/>
          <p:nvPr/>
        </p:nvSpPr>
        <p:spPr>
          <a:xfrm>
            <a:off x="694944" y="1627632"/>
            <a:ext cx="10771632" cy="1444752"/>
          </a:xfrm>
          <a:prstGeom prst="roundRect">
            <a:avLst>
              <a:gd name="adj" fmla="val 5063"/>
            </a:avLst>
          </a:prstGeom>
          <a:solidFill>
            <a:srgbClr val="FFFFFF">
              <a:alpha val="0"/>
            </a:srgbClr>
          </a:solidFill>
          <a:ln w="12700">
            <a:solidFill>
              <a:srgbClr val="DED7CE"/>
            </a:solidFill>
            <a:prstDash val="solid"/>
          </a:ln>
        </p:spPr>
      </p:sp>
      <p:sp>
        <p:nvSpPr>
          <p:cNvPr id="12" name="Shape 10"/>
          <p:cNvSpPr/>
          <p:nvPr/>
        </p:nvSpPr>
        <p:spPr>
          <a:xfrm>
            <a:off x="822960" y="1828800"/>
            <a:ext cx="1572768" cy="1051560"/>
          </a:xfrm>
          <a:prstGeom prst="rect">
            <a:avLst/>
          </a:prstGeom>
          <a:solidFill>
            <a:srgbClr val="E7F0F6"/>
          </a:solidFill>
          <a:ln w="12700">
            <a:solidFill>
              <a:srgbClr val="E7F0F6"/>
            </a:solidFill>
            <a:prstDash val="solid"/>
          </a:ln>
        </p:spPr>
      </p:sp>
      <p:sp>
        <p:nvSpPr>
          <p:cNvPr id="13" name="Text 11"/>
          <p:cNvSpPr/>
          <p:nvPr/>
        </p:nvSpPr>
        <p:spPr>
          <a:xfrm>
            <a:off x="932688" y="1975104"/>
            <a:ext cx="1353312" cy="201168"/>
          </a:xfrm>
          <a:prstGeom prst="rect">
            <a:avLst/>
          </a:prstGeom>
          <a:noFill/>
          <a:ln/>
        </p:spPr>
        <p:txBody>
          <a:bodyPr wrap="square" rtlCol="0" anchor="ctr"/>
          <a:lstStyle/>
          <a:p>
            <a:pPr algn="ctr" indent="0" marL="0">
              <a:buNone/>
            </a:pPr>
            <a:r>
              <a:rPr lang="en-US" sz="1200" b="1" dirty="0">
                <a:solidFill>
                  <a:srgbClr val="0E1B2A"/>
                </a:solidFill>
                <a:latin typeface="Bahnschrift" pitchFamily="34" charset="0"/>
                <a:ea typeface="Bahnschrift" pitchFamily="34" charset="-122"/>
                <a:cs typeface="Bahnschrift" pitchFamily="34" charset="-120"/>
              </a:rPr>
              <a:t>model.cbm</a:t>
            </a:r>
            <a:endParaRPr lang="en-US" sz="1200" dirty="0"/>
          </a:p>
        </p:txBody>
      </p:sp>
      <p:sp>
        <p:nvSpPr>
          <p:cNvPr id="14" name="Text 12"/>
          <p:cNvSpPr/>
          <p:nvPr/>
        </p:nvSpPr>
        <p:spPr>
          <a:xfrm>
            <a:off x="932688" y="2267712"/>
            <a:ext cx="1353312" cy="521208"/>
          </a:xfrm>
          <a:prstGeom prst="rect">
            <a:avLst/>
          </a:prstGeom>
          <a:noFill/>
          <a:ln/>
        </p:spPr>
        <p:txBody>
          <a:bodyPr wrap="square" rtlCol="0" anchor="ctr"/>
          <a:lstStyle/>
          <a:p>
            <a:pPr algn="ctr" indent="0" marL="0">
              <a:buNone/>
            </a:pPr>
            <a:r>
              <a:rPr lang="en-US" sz="950" dirty="0">
                <a:solidFill>
                  <a:srgbClr val="0E1B2A"/>
                </a:solidFill>
                <a:latin typeface="Aptos" pitchFamily="34" charset="0"/>
                <a:ea typeface="Aptos" pitchFamily="34" charset="-122"/>
                <a:cs typeface="Aptos" pitchFamily="34" charset="-120"/>
              </a:rPr>
              <a:t>Artifact CatBoost đã chốt</a:t>
            </a:r>
            <a:endParaRPr lang="en-US" sz="950" dirty="0"/>
          </a:p>
        </p:txBody>
      </p:sp>
      <p:sp>
        <p:nvSpPr>
          <p:cNvPr id="15" name="Shape 13"/>
          <p:cNvSpPr/>
          <p:nvPr/>
        </p:nvSpPr>
        <p:spPr>
          <a:xfrm>
            <a:off x="2560320" y="1828800"/>
            <a:ext cx="1755648" cy="1051560"/>
          </a:xfrm>
          <a:prstGeom prst="rect">
            <a:avLst/>
          </a:prstGeom>
          <a:solidFill>
            <a:srgbClr val="E2F3F1"/>
          </a:solidFill>
          <a:ln w="12700">
            <a:solidFill>
              <a:srgbClr val="E2F3F1"/>
            </a:solidFill>
            <a:prstDash val="solid"/>
          </a:ln>
        </p:spPr>
      </p:sp>
      <p:sp>
        <p:nvSpPr>
          <p:cNvPr id="16" name="Text 14"/>
          <p:cNvSpPr/>
          <p:nvPr/>
        </p:nvSpPr>
        <p:spPr>
          <a:xfrm>
            <a:off x="2670048" y="1975104"/>
            <a:ext cx="1536192" cy="201168"/>
          </a:xfrm>
          <a:prstGeom prst="rect">
            <a:avLst/>
          </a:prstGeom>
          <a:noFill/>
          <a:ln/>
        </p:spPr>
        <p:txBody>
          <a:bodyPr wrap="square" rtlCol="0" anchor="ctr"/>
          <a:lstStyle/>
          <a:p>
            <a:pPr algn="ctr" indent="0" marL="0">
              <a:buNone/>
            </a:pPr>
            <a:r>
              <a:rPr lang="en-US" sz="1200" b="1" dirty="0">
                <a:solidFill>
                  <a:srgbClr val="0E1B2A"/>
                </a:solidFill>
                <a:latin typeface="Bahnschrift" pitchFamily="34" charset="0"/>
                <a:ea typeface="Bahnschrift" pitchFamily="34" charset="-122"/>
                <a:cs typeface="Bahnschrift" pitchFamily="34" charset="-120"/>
              </a:rPr>
              <a:t>feature_columns.json</a:t>
            </a:r>
            <a:endParaRPr lang="en-US" sz="1200" dirty="0"/>
          </a:p>
        </p:txBody>
      </p:sp>
      <p:sp>
        <p:nvSpPr>
          <p:cNvPr id="17" name="Text 15"/>
          <p:cNvSpPr/>
          <p:nvPr/>
        </p:nvSpPr>
        <p:spPr>
          <a:xfrm>
            <a:off x="2670048" y="2267712"/>
            <a:ext cx="1536192" cy="521208"/>
          </a:xfrm>
          <a:prstGeom prst="rect">
            <a:avLst/>
          </a:prstGeom>
          <a:noFill/>
          <a:ln/>
        </p:spPr>
        <p:txBody>
          <a:bodyPr wrap="square" rtlCol="0" anchor="ctr"/>
          <a:lstStyle/>
          <a:p>
            <a:pPr algn="ctr" indent="0" marL="0">
              <a:buNone/>
            </a:pPr>
            <a:r>
              <a:rPr lang="en-US" sz="950" dirty="0">
                <a:solidFill>
                  <a:srgbClr val="0E1B2A"/>
                </a:solidFill>
                <a:latin typeface="Aptos" pitchFamily="34" charset="0"/>
                <a:ea typeface="Aptos" pitchFamily="34" charset="-122"/>
                <a:cs typeface="Aptos" pitchFamily="34" charset="-120"/>
              </a:rPr>
              <a:t>72 feature canonical</a:t>
            </a:r>
            <a:endParaRPr lang="en-US" sz="950" dirty="0"/>
          </a:p>
        </p:txBody>
      </p:sp>
      <p:sp>
        <p:nvSpPr>
          <p:cNvPr id="18" name="Shape 16"/>
          <p:cNvSpPr/>
          <p:nvPr/>
        </p:nvSpPr>
        <p:spPr>
          <a:xfrm>
            <a:off x="4526280" y="1828800"/>
            <a:ext cx="1755648" cy="1051560"/>
          </a:xfrm>
          <a:prstGeom prst="rect">
            <a:avLst/>
          </a:prstGeom>
          <a:solidFill>
            <a:srgbClr val="F6E7DA"/>
          </a:solidFill>
          <a:ln w="12700">
            <a:solidFill>
              <a:srgbClr val="F6E7DA"/>
            </a:solidFill>
            <a:prstDash val="solid"/>
          </a:ln>
        </p:spPr>
      </p:sp>
      <p:sp>
        <p:nvSpPr>
          <p:cNvPr id="19" name="Text 17"/>
          <p:cNvSpPr/>
          <p:nvPr/>
        </p:nvSpPr>
        <p:spPr>
          <a:xfrm>
            <a:off x="4636008" y="1975104"/>
            <a:ext cx="1536192" cy="201168"/>
          </a:xfrm>
          <a:prstGeom prst="rect">
            <a:avLst/>
          </a:prstGeom>
          <a:noFill/>
          <a:ln/>
        </p:spPr>
        <p:txBody>
          <a:bodyPr wrap="square" rtlCol="0" anchor="ctr"/>
          <a:lstStyle/>
          <a:p>
            <a:pPr algn="ctr" indent="0" marL="0">
              <a:buNone/>
            </a:pPr>
            <a:r>
              <a:rPr lang="en-US" sz="1200" b="1" dirty="0">
                <a:solidFill>
                  <a:srgbClr val="0E1B2A"/>
                </a:solidFill>
                <a:latin typeface="Bahnschrift" pitchFamily="34" charset="0"/>
                <a:ea typeface="Bahnschrift" pitchFamily="34" charset="-122"/>
                <a:cs typeface="Bahnschrift" pitchFamily="34" charset="-120"/>
              </a:rPr>
              <a:t>model_bundle.json</a:t>
            </a:r>
            <a:endParaRPr lang="en-US" sz="1200" dirty="0"/>
          </a:p>
        </p:txBody>
      </p:sp>
      <p:sp>
        <p:nvSpPr>
          <p:cNvPr id="20" name="Text 18"/>
          <p:cNvSpPr/>
          <p:nvPr/>
        </p:nvSpPr>
        <p:spPr>
          <a:xfrm>
            <a:off x="4636008" y="2267712"/>
            <a:ext cx="1536192" cy="521208"/>
          </a:xfrm>
          <a:prstGeom prst="rect">
            <a:avLst/>
          </a:prstGeom>
          <a:noFill/>
          <a:ln/>
        </p:spPr>
        <p:txBody>
          <a:bodyPr wrap="square" rtlCol="0" anchor="ctr"/>
          <a:lstStyle/>
          <a:p>
            <a:pPr algn="ctr" indent="0" marL="0">
              <a:buNone/>
            </a:pPr>
            <a:r>
              <a:rPr lang="en-US" sz="950" dirty="0">
                <a:solidFill>
                  <a:srgbClr val="0E1B2A"/>
                </a:solidFill>
                <a:latin typeface="Aptos" pitchFamily="34" charset="0"/>
                <a:ea typeface="Aptos" pitchFamily="34" charset="-122"/>
                <a:cs typeface="Aptos" pitchFamily="34" charset="-120"/>
              </a:rPr>
              <a:t>Manifest versioned + threshold</a:t>
            </a:r>
            <a:endParaRPr lang="en-US" sz="950" dirty="0"/>
          </a:p>
        </p:txBody>
      </p:sp>
      <p:sp>
        <p:nvSpPr>
          <p:cNvPr id="21" name="Shape 19"/>
          <p:cNvSpPr/>
          <p:nvPr/>
        </p:nvSpPr>
        <p:spPr>
          <a:xfrm>
            <a:off x="6492240" y="1828800"/>
            <a:ext cx="1463040" cy="1051560"/>
          </a:xfrm>
          <a:prstGeom prst="rect">
            <a:avLst/>
          </a:prstGeom>
          <a:solidFill>
            <a:srgbClr val="E8F2EA"/>
          </a:solidFill>
          <a:ln w="12700">
            <a:solidFill>
              <a:srgbClr val="E8F2EA"/>
            </a:solidFill>
            <a:prstDash val="solid"/>
          </a:ln>
        </p:spPr>
      </p:sp>
      <p:sp>
        <p:nvSpPr>
          <p:cNvPr id="22" name="Text 20"/>
          <p:cNvSpPr/>
          <p:nvPr/>
        </p:nvSpPr>
        <p:spPr>
          <a:xfrm>
            <a:off x="6601968" y="1975104"/>
            <a:ext cx="1243584" cy="201168"/>
          </a:xfrm>
          <a:prstGeom prst="rect">
            <a:avLst/>
          </a:prstGeom>
          <a:noFill/>
          <a:ln/>
        </p:spPr>
        <p:txBody>
          <a:bodyPr wrap="square" rtlCol="0" anchor="ctr"/>
          <a:lstStyle/>
          <a:p>
            <a:pPr algn="ctr" indent="0" marL="0">
              <a:buNone/>
            </a:pPr>
            <a:r>
              <a:rPr lang="en-US" sz="1200" b="1" dirty="0">
                <a:solidFill>
                  <a:srgbClr val="0E1B2A"/>
                </a:solidFill>
                <a:latin typeface="Bahnschrift" pitchFamily="34" charset="0"/>
                <a:ea typeface="Bahnschrift" pitchFamily="34" charset="-122"/>
                <a:cs typeface="Bahnschrift" pitchFamily="34" charset="-120"/>
              </a:rPr>
              <a:t>metrics.json</a:t>
            </a:r>
            <a:endParaRPr lang="en-US" sz="1200" dirty="0"/>
          </a:p>
        </p:txBody>
      </p:sp>
      <p:sp>
        <p:nvSpPr>
          <p:cNvPr id="23" name="Text 21"/>
          <p:cNvSpPr/>
          <p:nvPr/>
        </p:nvSpPr>
        <p:spPr>
          <a:xfrm>
            <a:off x="6601968" y="2267712"/>
            <a:ext cx="1243584" cy="521208"/>
          </a:xfrm>
          <a:prstGeom prst="rect">
            <a:avLst/>
          </a:prstGeom>
          <a:noFill/>
          <a:ln/>
        </p:spPr>
        <p:txBody>
          <a:bodyPr wrap="square" rtlCol="0" anchor="ctr"/>
          <a:lstStyle/>
          <a:p>
            <a:pPr algn="ctr" indent="0" marL="0">
              <a:buNone/>
            </a:pPr>
            <a:r>
              <a:rPr lang="en-US" sz="950" dirty="0">
                <a:solidFill>
                  <a:srgbClr val="0E1B2A"/>
                </a:solidFill>
                <a:latin typeface="Aptos" pitchFamily="34" charset="0"/>
                <a:ea typeface="Aptos" pitchFamily="34" charset="-122"/>
                <a:cs typeface="Aptos" pitchFamily="34" charset="-120"/>
              </a:rPr>
              <a:t>Metric cuối cùng</a:t>
            </a:r>
            <a:endParaRPr lang="en-US" sz="950" dirty="0"/>
          </a:p>
        </p:txBody>
      </p:sp>
      <p:sp>
        <p:nvSpPr>
          <p:cNvPr id="24" name="Shape 22"/>
          <p:cNvSpPr/>
          <p:nvPr/>
        </p:nvSpPr>
        <p:spPr>
          <a:xfrm>
            <a:off x="8183880" y="1828800"/>
            <a:ext cx="1691640" cy="1051560"/>
          </a:xfrm>
          <a:prstGeom prst="rect">
            <a:avLst/>
          </a:prstGeom>
          <a:solidFill>
            <a:srgbClr val="E7F0F6"/>
          </a:solidFill>
          <a:ln w="12700">
            <a:solidFill>
              <a:srgbClr val="E7F0F6"/>
            </a:solidFill>
            <a:prstDash val="solid"/>
          </a:ln>
        </p:spPr>
      </p:sp>
      <p:sp>
        <p:nvSpPr>
          <p:cNvPr id="25" name="Text 23"/>
          <p:cNvSpPr/>
          <p:nvPr/>
        </p:nvSpPr>
        <p:spPr>
          <a:xfrm>
            <a:off x="8293608" y="1975104"/>
            <a:ext cx="1472184" cy="201168"/>
          </a:xfrm>
          <a:prstGeom prst="rect">
            <a:avLst/>
          </a:prstGeom>
          <a:noFill/>
          <a:ln/>
        </p:spPr>
        <p:txBody>
          <a:bodyPr wrap="square" rtlCol="0" anchor="ctr"/>
          <a:lstStyle/>
          <a:p>
            <a:pPr algn="ctr" indent="0" marL="0">
              <a:buNone/>
            </a:pPr>
            <a:r>
              <a:rPr lang="en-US" sz="1200" b="1" dirty="0">
                <a:solidFill>
                  <a:srgbClr val="0E1B2A"/>
                </a:solidFill>
                <a:latin typeface="Bahnschrift" pitchFamily="34" charset="0"/>
                <a:ea typeface="Bahnschrift" pitchFamily="34" charset="-122"/>
                <a:cs typeface="Bahnschrift" pitchFamily="34" charset="-120"/>
              </a:rPr>
              <a:t>training_summary.json</a:t>
            </a:r>
            <a:endParaRPr lang="en-US" sz="1200" dirty="0"/>
          </a:p>
        </p:txBody>
      </p:sp>
      <p:sp>
        <p:nvSpPr>
          <p:cNvPr id="26" name="Text 24"/>
          <p:cNvSpPr/>
          <p:nvPr/>
        </p:nvSpPr>
        <p:spPr>
          <a:xfrm>
            <a:off x="8293608" y="2267712"/>
            <a:ext cx="1472184" cy="521208"/>
          </a:xfrm>
          <a:prstGeom prst="rect">
            <a:avLst/>
          </a:prstGeom>
          <a:noFill/>
          <a:ln/>
        </p:spPr>
        <p:txBody>
          <a:bodyPr wrap="square" rtlCol="0" anchor="ctr"/>
          <a:lstStyle/>
          <a:p>
            <a:pPr algn="ctr" indent="0" marL="0">
              <a:buNone/>
            </a:pPr>
            <a:r>
              <a:rPr lang="en-US" sz="950" dirty="0">
                <a:solidFill>
                  <a:srgbClr val="0E1B2A"/>
                </a:solidFill>
                <a:latin typeface="Aptos" pitchFamily="34" charset="0"/>
                <a:ea typeface="Aptos" pitchFamily="34" charset="-122"/>
                <a:cs typeface="Aptos" pitchFamily="34" charset="-120"/>
              </a:rPr>
              <a:t>Thông tin full-data train</a:t>
            </a:r>
            <a:endParaRPr lang="en-US" sz="950" dirty="0"/>
          </a:p>
        </p:txBody>
      </p:sp>
      <p:sp>
        <p:nvSpPr>
          <p:cNvPr id="27" name="Shape 25"/>
          <p:cNvSpPr/>
          <p:nvPr/>
        </p:nvSpPr>
        <p:spPr>
          <a:xfrm>
            <a:off x="10104120" y="1828800"/>
            <a:ext cx="1280160" cy="1051560"/>
          </a:xfrm>
          <a:prstGeom prst="rect">
            <a:avLst/>
          </a:prstGeom>
          <a:solidFill>
            <a:srgbClr val="E2F3F1"/>
          </a:solidFill>
          <a:ln w="12700">
            <a:solidFill>
              <a:srgbClr val="E2F3F1"/>
            </a:solidFill>
            <a:prstDash val="solid"/>
          </a:ln>
        </p:spPr>
      </p:sp>
      <p:sp>
        <p:nvSpPr>
          <p:cNvPr id="28" name="Text 26"/>
          <p:cNvSpPr/>
          <p:nvPr/>
        </p:nvSpPr>
        <p:spPr>
          <a:xfrm>
            <a:off x="10213848" y="1975104"/>
            <a:ext cx="1060704" cy="201168"/>
          </a:xfrm>
          <a:prstGeom prst="rect">
            <a:avLst/>
          </a:prstGeom>
          <a:noFill/>
          <a:ln/>
        </p:spPr>
        <p:txBody>
          <a:bodyPr wrap="square" rtlCol="0" anchor="ctr"/>
          <a:lstStyle/>
          <a:p>
            <a:pPr algn="ctr" indent="0" marL="0">
              <a:buNone/>
            </a:pPr>
            <a:r>
              <a:rPr lang="en-US" sz="1200" b="1" dirty="0">
                <a:solidFill>
                  <a:srgbClr val="0E1B2A"/>
                </a:solidFill>
                <a:latin typeface="Bahnschrift" pitchFamily="34" charset="0"/>
                <a:ea typeface="Bahnschrift" pitchFamily="34" charset="-122"/>
                <a:cs typeface="Bahnschrift" pitchFamily="34" charset="-120"/>
              </a:rPr>
              <a:t>MODEL_CARD.md</a:t>
            </a:r>
            <a:endParaRPr lang="en-US" sz="1200" dirty="0"/>
          </a:p>
        </p:txBody>
      </p:sp>
      <p:sp>
        <p:nvSpPr>
          <p:cNvPr id="29" name="Text 27"/>
          <p:cNvSpPr/>
          <p:nvPr/>
        </p:nvSpPr>
        <p:spPr>
          <a:xfrm>
            <a:off x="10213848" y="2267712"/>
            <a:ext cx="1060704" cy="521208"/>
          </a:xfrm>
          <a:prstGeom prst="rect">
            <a:avLst/>
          </a:prstGeom>
          <a:noFill/>
          <a:ln/>
        </p:spPr>
        <p:txBody>
          <a:bodyPr wrap="square" rtlCol="0" anchor="ctr"/>
          <a:lstStyle/>
          <a:p>
            <a:pPr algn="ctr" indent="0" marL="0">
              <a:buNone/>
            </a:pPr>
            <a:r>
              <a:rPr lang="en-US" sz="950" dirty="0">
                <a:solidFill>
                  <a:srgbClr val="0E1B2A"/>
                </a:solidFill>
                <a:latin typeface="Aptos" pitchFamily="34" charset="0"/>
                <a:ea typeface="Aptos" pitchFamily="34" charset="-122"/>
                <a:cs typeface="Aptos" pitchFamily="34" charset="-120"/>
              </a:rPr>
              <a:t>Tóm tắt model</a:t>
            </a:r>
            <a:endParaRPr lang="en-US" sz="950" dirty="0"/>
          </a:p>
        </p:txBody>
      </p:sp>
      <p:sp>
        <p:nvSpPr>
          <p:cNvPr id="30" name="Shape 28"/>
          <p:cNvSpPr/>
          <p:nvPr/>
        </p:nvSpPr>
        <p:spPr>
          <a:xfrm>
            <a:off x="749808" y="3474720"/>
            <a:ext cx="3401568" cy="1645920"/>
          </a:xfrm>
          <a:prstGeom prst="rect">
            <a:avLst/>
          </a:prstGeom>
          <a:solidFill>
            <a:srgbClr val="E7F0F6"/>
          </a:solidFill>
          <a:ln w="12700">
            <a:solidFill>
              <a:srgbClr val="E7F0F6"/>
            </a:solidFill>
            <a:prstDash val="solid"/>
          </a:ln>
        </p:spPr>
      </p:sp>
      <p:sp>
        <p:nvSpPr>
          <p:cNvPr id="31" name="Shape 29"/>
          <p:cNvSpPr/>
          <p:nvPr/>
        </p:nvSpPr>
        <p:spPr>
          <a:xfrm>
            <a:off x="749808" y="3474720"/>
            <a:ext cx="73152" cy="1645920"/>
          </a:xfrm>
          <a:prstGeom prst="rect">
            <a:avLst/>
          </a:prstGeom>
          <a:solidFill>
            <a:srgbClr val="3D6C8D"/>
          </a:solidFill>
          <a:ln w="12700">
            <a:solidFill>
              <a:srgbClr val="3D6C8D"/>
            </a:solidFill>
            <a:prstDash val="solid"/>
          </a:ln>
        </p:spPr>
      </p:sp>
      <p:sp>
        <p:nvSpPr>
          <p:cNvPr id="32" name="Shape 30"/>
          <p:cNvSpPr/>
          <p:nvPr/>
        </p:nvSpPr>
        <p:spPr>
          <a:xfrm>
            <a:off x="896112" y="3602736"/>
            <a:ext cx="475488" cy="27432"/>
          </a:xfrm>
          <a:prstGeom prst="rect">
            <a:avLst/>
          </a:prstGeom>
          <a:solidFill>
            <a:srgbClr val="3D6C8D"/>
          </a:solidFill>
          <a:ln w="12700">
            <a:solidFill>
              <a:srgbClr val="3D6C8D"/>
            </a:solidFill>
            <a:prstDash val="solid"/>
          </a:ln>
        </p:spPr>
      </p:sp>
      <p:sp>
        <p:nvSpPr>
          <p:cNvPr id="33" name="Text 31"/>
          <p:cNvSpPr/>
          <p:nvPr/>
        </p:nvSpPr>
        <p:spPr>
          <a:xfrm>
            <a:off x="950976" y="3694176"/>
            <a:ext cx="3090672" cy="219456"/>
          </a:xfrm>
          <a:prstGeom prst="rect">
            <a:avLst/>
          </a:prstGeom>
          <a:noFill/>
          <a:ln/>
        </p:spPr>
        <p:txBody>
          <a:bodyPr wrap="square" rtlCol="0" anchor="ctr"/>
          <a:lstStyle/>
          <a:p>
            <a:pPr indent="0" marL="0">
              <a:buNone/>
            </a:pPr>
            <a:r>
              <a:rPr lang="en-US" sz="1450" b="1" dirty="0">
                <a:solidFill>
                  <a:srgbClr val="0E1B2A"/>
                </a:solidFill>
                <a:latin typeface="Bahnschrift" pitchFamily="34" charset="0"/>
                <a:ea typeface="Bahnschrift" pitchFamily="34" charset="-122"/>
                <a:cs typeface="Bahnschrift" pitchFamily="34" charset="-120"/>
              </a:rPr>
              <a:t>Khả năng verify</a:t>
            </a:r>
            <a:endParaRPr lang="en-US" sz="1450" dirty="0"/>
          </a:p>
        </p:txBody>
      </p:sp>
      <p:sp>
        <p:nvSpPr>
          <p:cNvPr id="34" name="Text 32"/>
          <p:cNvSpPr/>
          <p:nvPr/>
        </p:nvSpPr>
        <p:spPr>
          <a:xfrm>
            <a:off x="950976" y="4023360"/>
            <a:ext cx="3090672" cy="969264"/>
          </a:xfrm>
          <a:prstGeom prst="rect">
            <a:avLst/>
          </a:prstGeom>
          <a:noFill/>
          <a:ln/>
        </p:spPr>
        <p:txBody>
          <a:bodyPr wrap="square" lIns="254" tIns="254" rIns="254" bIns="254" rtlCol="0" anchor="t"/>
          <a:lstStyle/>
          <a:p>
            <a:pPr indent="0" marL="0">
              <a:buNone/>
            </a:pPr>
            <a:r>
              <a:rPr lang="en-US" sz="1050" dirty="0">
                <a:solidFill>
                  <a:srgbClr val="41576D"/>
                </a:solidFill>
                <a:latin typeface="Aptos" pitchFamily="34" charset="0"/>
                <a:ea typeface="Aptos" pitchFamily="34" charset="-122"/>
                <a:cs typeface="Aptos" pitchFamily="34" charset="-120"/>
              </a:rPr>
              <a:t>Candidate bundle được kiểm tra contract tương thích trước khi mutate activation state, giúp tránh việc trỏ nhầm model hoặc schema trong runtime.</a:t>
            </a:r>
            <a:endParaRPr lang="en-US" sz="1050" dirty="0"/>
          </a:p>
        </p:txBody>
      </p:sp>
      <p:sp>
        <p:nvSpPr>
          <p:cNvPr id="35" name="Shape 33"/>
          <p:cNvSpPr/>
          <p:nvPr/>
        </p:nvSpPr>
        <p:spPr>
          <a:xfrm>
            <a:off x="4407408" y="3474720"/>
            <a:ext cx="3401568" cy="1645920"/>
          </a:xfrm>
          <a:prstGeom prst="rect">
            <a:avLst/>
          </a:prstGeom>
          <a:solidFill>
            <a:srgbClr val="E2F3F1"/>
          </a:solidFill>
          <a:ln w="12700">
            <a:solidFill>
              <a:srgbClr val="E2F3F1"/>
            </a:solidFill>
            <a:prstDash val="solid"/>
          </a:ln>
        </p:spPr>
      </p:sp>
      <p:sp>
        <p:nvSpPr>
          <p:cNvPr id="36" name="Shape 34"/>
          <p:cNvSpPr/>
          <p:nvPr/>
        </p:nvSpPr>
        <p:spPr>
          <a:xfrm>
            <a:off x="4407408" y="3474720"/>
            <a:ext cx="73152" cy="1645920"/>
          </a:xfrm>
          <a:prstGeom prst="rect">
            <a:avLst/>
          </a:prstGeom>
          <a:solidFill>
            <a:srgbClr val="2B7A78"/>
          </a:solidFill>
          <a:ln w="12700">
            <a:solidFill>
              <a:srgbClr val="2B7A78"/>
            </a:solidFill>
            <a:prstDash val="solid"/>
          </a:ln>
        </p:spPr>
      </p:sp>
      <p:sp>
        <p:nvSpPr>
          <p:cNvPr id="37" name="Shape 35"/>
          <p:cNvSpPr/>
          <p:nvPr/>
        </p:nvSpPr>
        <p:spPr>
          <a:xfrm>
            <a:off x="4553712" y="3602736"/>
            <a:ext cx="475488" cy="27432"/>
          </a:xfrm>
          <a:prstGeom prst="rect">
            <a:avLst/>
          </a:prstGeom>
          <a:solidFill>
            <a:srgbClr val="2B7A78"/>
          </a:solidFill>
          <a:ln w="12700">
            <a:solidFill>
              <a:srgbClr val="2B7A78"/>
            </a:solidFill>
            <a:prstDash val="solid"/>
          </a:ln>
        </p:spPr>
      </p:sp>
      <p:sp>
        <p:nvSpPr>
          <p:cNvPr id="38" name="Text 36"/>
          <p:cNvSpPr/>
          <p:nvPr/>
        </p:nvSpPr>
        <p:spPr>
          <a:xfrm>
            <a:off x="4608576" y="3694176"/>
            <a:ext cx="3090672" cy="219456"/>
          </a:xfrm>
          <a:prstGeom prst="rect">
            <a:avLst/>
          </a:prstGeom>
          <a:noFill/>
          <a:ln/>
        </p:spPr>
        <p:txBody>
          <a:bodyPr wrap="square" rtlCol="0" anchor="ctr"/>
          <a:lstStyle/>
          <a:p>
            <a:pPr indent="0" marL="0">
              <a:buNone/>
            </a:pPr>
            <a:r>
              <a:rPr lang="en-US" sz="1450" b="1" dirty="0">
                <a:solidFill>
                  <a:srgbClr val="0E1B2A"/>
                </a:solidFill>
                <a:latin typeface="Bahnschrift" pitchFamily="34" charset="0"/>
                <a:ea typeface="Bahnschrift" pitchFamily="34" charset="-122"/>
                <a:cs typeface="Bahnschrift" pitchFamily="34" charset="-120"/>
              </a:rPr>
              <a:t>Promotion lifecycle</a:t>
            </a:r>
            <a:endParaRPr lang="en-US" sz="1450" dirty="0"/>
          </a:p>
        </p:txBody>
      </p:sp>
      <p:sp>
        <p:nvSpPr>
          <p:cNvPr id="39" name="Text 37"/>
          <p:cNvSpPr/>
          <p:nvPr/>
        </p:nvSpPr>
        <p:spPr>
          <a:xfrm>
            <a:off x="4608576" y="4023360"/>
            <a:ext cx="3090672" cy="969264"/>
          </a:xfrm>
          <a:prstGeom prst="rect">
            <a:avLst/>
          </a:prstGeom>
          <a:noFill/>
          <a:ln/>
        </p:spPr>
        <p:txBody>
          <a:bodyPr wrap="square" lIns="254" tIns="254" rIns="254" bIns="254" rtlCol="0" anchor="t"/>
          <a:lstStyle/>
          <a:p>
            <a:pPr indent="0" marL="0">
              <a:buNone/>
            </a:pPr>
            <a:r>
              <a:rPr lang="en-US" sz="1050" dirty="0">
                <a:solidFill>
                  <a:srgbClr val="41576D"/>
                </a:solidFill>
                <a:latin typeface="Aptos" pitchFamily="34" charset="0"/>
                <a:ea typeface="Aptos" pitchFamily="34" charset="-122"/>
                <a:cs typeface="Aptos" pitchFamily="34" charset="-120"/>
              </a:rPr>
              <a:t>Activation record chỉ trỏ tới một bundle đang live và lưu previous known-good để rollback bằng cơ chế atomic replace khi cần.</a:t>
            </a:r>
            <a:endParaRPr lang="en-US" sz="1050" dirty="0"/>
          </a:p>
        </p:txBody>
      </p:sp>
      <p:sp>
        <p:nvSpPr>
          <p:cNvPr id="40" name="Shape 38"/>
          <p:cNvSpPr/>
          <p:nvPr/>
        </p:nvSpPr>
        <p:spPr>
          <a:xfrm>
            <a:off x="8065008" y="3474720"/>
            <a:ext cx="3337560" cy="1645920"/>
          </a:xfrm>
          <a:prstGeom prst="rect">
            <a:avLst/>
          </a:prstGeom>
          <a:solidFill>
            <a:srgbClr val="F6E7DA"/>
          </a:solidFill>
          <a:ln w="12700">
            <a:solidFill>
              <a:srgbClr val="F6E7DA"/>
            </a:solidFill>
            <a:prstDash val="solid"/>
          </a:ln>
        </p:spPr>
      </p:sp>
      <p:sp>
        <p:nvSpPr>
          <p:cNvPr id="41" name="Shape 39"/>
          <p:cNvSpPr/>
          <p:nvPr/>
        </p:nvSpPr>
        <p:spPr>
          <a:xfrm>
            <a:off x="8065008" y="3474720"/>
            <a:ext cx="73152" cy="1645920"/>
          </a:xfrm>
          <a:prstGeom prst="rect">
            <a:avLst/>
          </a:prstGeom>
          <a:solidFill>
            <a:srgbClr val="C96A2B"/>
          </a:solidFill>
          <a:ln w="12700">
            <a:solidFill>
              <a:srgbClr val="C96A2B"/>
            </a:solidFill>
            <a:prstDash val="solid"/>
          </a:ln>
        </p:spPr>
      </p:sp>
      <p:sp>
        <p:nvSpPr>
          <p:cNvPr id="42" name="Shape 40"/>
          <p:cNvSpPr/>
          <p:nvPr/>
        </p:nvSpPr>
        <p:spPr>
          <a:xfrm>
            <a:off x="8211312" y="3602736"/>
            <a:ext cx="475488" cy="27432"/>
          </a:xfrm>
          <a:prstGeom prst="rect">
            <a:avLst/>
          </a:prstGeom>
          <a:solidFill>
            <a:srgbClr val="C96A2B"/>
          </a:solidFill>
          <a:ln w="12700">
            <a:solidFill>
              <a:srgbClr val="C96A2B"/>
            </a:solidFill>
            <a:prstDash val="solid"/>
          </a:ln>
        </p:spPr>
      </p:sp>
      <p:sp>
        <p:nvSpPr>
          <p:cNvPr id="43" name="Text 41"/>
          <p:cNvSpPr/>
          <p:nvPr/>
        </p:nvSpPr>
        <p:spPr>
          <a:xfrm>
            <a:off x="8266176" y="3694176"/>
            <a:ext cx="3026664" cy="219456"/>
          </a:xfrm>
          <a:prstGeom prst="rect">
            <a:avLst/>
          </a:prstGeom>
          <a:noFill/>
          <a:ln/>
        </p:spPr>
        <p:txBody>
          <a:bodyPr wrap="square" rtlCol="0" anchor="ctr"/>
          <a:lstStyle/>
          <a:p>
            <a:pPr indent="0" marL="0">
              <a:buNone/>
            </a:pPr>
            <a:r>
              <a:rPr lang="en-US" sz="1450" b="1" dirty="0">
                <a:solidFill>
                  <a:srgbClr val="0E1B2A"/>
                </a:solidFill>
                <a:latin typeface="Bahnschrift" pitchFamily="34" charset="0"/>
                <a:ea typeface="Bahnschrift" pitchFamily="34" charset="-122"/>
                <a:cs typeface="Bahnschrift" pitchFamily="34" charset="-120"/>
              </a:rPr>
              <a:t>Contract fail-closed</a:t>
            </a:r>
            <a:endParaRPr lang="en-US" sz="1450" dirty="0"/>
          </a:p>
        </p:txBody>
      </p:sp>
      <p:sp>
        <p:nvSpPr>
          <p:cNvPr id="44" name="Text 42"/>
          <p:cNvSpPr/>
          <p:nvPr/>
        </p:nvSpPr>
        <p:spPr>
          <a:xfrm>
            <a:off x="8266176" y="4023360"/>
            <a:ext cx="3026664" cy="969264"/>
          </a:xfrm>
          <a:prstGeom prst="rect">
            <a:avLst/>
          </a:prstGeom>
          <a:noFill/>
          <a:ln/>
        </p:spPr>
        <p:txBody>
          <a:bodyPr wrap="square" lIns="254" tIns="254" rIns="254" bIns="254" rtlCol="0" anchor="t"/>
          <a:lstStyle/>
          <a:p>
            <a:pPr indent="0" marL="0">
              <a:buNone/>
            </a:pPr>
            <a:r>
              <a:rPr lang="en-US" sz="1050" dirty="0">
                <a:solidFill>
                  <a:srgbClr val="41576D"/>
                </a:solidFill>
                <a:latin typeface="Aptos" pitchFamily="34" charset="0"/>
                <a:ea typeface="Aptos" pitchFamily="34" charset="-122"/>
                <a:cs typeface="Aptos" pitchFamily="34" charset="-120"/>
              </a:rPr>
              <a:t>Runtime không được mix model, schema hay threshold ngoài bundle. Sai contract thì fail sớm thay vì chấm điểm sai mà không ai phát hiện.</a:t>
            </a:r>
            <a:endParaRPr lang="en-US" sz="1050" dirty="0"/>
          </a:p>
        </p:txBody>
      </p:sp>
      <p:sp>
        <p:nvSpPr>
          <p:cNvPr id="45" name="Text 43"/>
          <p:cNvSpPr/>
          <p:nvPr/>
        </p:nvSpPr>
        <p:spPr>
          <a:xfrm>
            <a:off x="868680" y="5440680"/>
            <a:ext cx="10149840" cy="502920"/>
          </a:xfrm>
          <a:prstGeom prst="rect">
            <a:avLst/>
          </a:prstGeom>
          <a:noFill/>
          <a:ln/>
        </p:spPr>
        <p:txBody>
          <a:bodyPr wrap="square" lIns="635" tIns="635" rIns="635" bIns="635" rtlCol="0" anchor="t"/>
          <a:lstStyle/>
          <a:p>
            <a:pPr marL="342900" indent="-342900">
              <a:buSzPct val="100000"/>
              <a:buChar char="•"/>
            </a:pPr>
            <a:r>
              <a:rPr lang="en-US" sz="1080" dirty="0">
                <a:solidFill>
                  <a:srgbClr val="41576D"/>
                </a:solidFill>
                <a:latin typeface="Aptos" pitchFamily="34" charset="0"/>
                <a:ea typeface="Aptos" pitchFamily="34" charset="-122"/>
                <a:cs typeface="Aptos" pitchFamily="34" charset="-120"/>
              </a:rPr>
              <a:t>Từ góc nhìn thuyết trình, đây là bằng chứng repo đã vượt qua giai đoạn notebook và bước sang giai đoạn model lifecycle có thể vận hành.</a:t>
            </a:r>
            <a:endParaRPr lang="en-US" sz="1080" dirty="0"/>
          </a:p>
        </p:txBody>
      </p:sp>
      <p:sp>
        <p:nvSpPr>
          <p:cNvPr id="46" name="Text 44"/>
          <p:cNvSpPr/>
          <p:nvPr/>
        </p:nvSpPr>
        <p:spPr>
          <a:xfrm>
            <a:off x="548640" y="6473952"/>
            <a:ext cx="9509760" cy="164592"/>
          </a:xfrm>
          <a:prstGeom prst="rect">
            <a:avLst/>
          </a:prstGeom>
          <a:noFill/>
          <a:ln/>
        </p:spPr>
        <p:txBody>
          <a:bodyPr wrap="square" rtlCol="0" anchor="ctr"/>
          <a:lstStyle/>
          <a:p>
            <a:pPr indent="0" marL="0">
              <a:buNone/>
            </a:pPr>
            <a:r>
              <a:rPr lang="en-US" sz="900" dirty="0">
                <a:solidFill>
                  <a:srgbClr val="7A7A76"/>
                </a:solidFill>
                <a:latin typeface="Aptos" pitchFamily="34" charset="0"/>
                <a:ea typeface="Aptos" pitchFamily="34" charset="-122"/>
                <a:cs typeface="Aptos" pitchFamily="34" charset="-120"/>
              </a:rPr>
              <a:t>Bundle final nằm tại artifacts/final_model/catboost_full_data_v1 và là entrypoint chính thức cho runtime.</a:t>
            </a:r>
            <a:endParaRPr lang="en-US" sz="900" dirty="0"/>
          </a:p>
        </p:txBody>
      </p:sp>
      <p:sp>
        <p:nvSpPr>
          <p:cNvPr id="25" name="Slide Number Placeholder 0"/>
          <p:cNvSpPr>
            <a:spLocks noGrp="1"/>
          </p:cNvSpPr>
          <p:nvPr>
            <p:ph type="sldNum" sz="quarter" idx="4294967295"/>
          </p:nvPr>
        </p:nvSpPr>
        <p:spPr>
          <a:xfrm>
            <a:off x="11475720" y="6446520"/>
            <a:ext cx="32004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7A7A76"/>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CF8F2"/>
        </a:solidFill>
      </p:bgPr>
    </p:bg>
    <p:spTree>
      <p:nvGrpSpPr>
        <p:cNvPr id="1" name=""/>
        <p:cNvGrpSpPr/>
        <p:nvPr/>
      </p:nvGrpSpPr>
      <p:grpSpPr>
        <a:xfrm>
          <a:off x="0" y="0"/>
          <a:ext cx="0" cy="0"/>
          <a:chOff x="0" y="0"/>
          <a:chExt cx="0" cy="0"/>
        </a:xfrm>
      </p:grpSpPr>
      <p:sp>
        <p:nvSpPr>
          <p:cNvPr id="2" name="Shape 0"/>
          <p:cNvSpPr/>
          <p:nvPr/>
        </p:nvSpPr>
        <p:spPr>
          <a:xfrm>
            <a:off x="0" y="0"/>
            <a:ext cx="12191695" cy="219456"/>
          </a:xfrm>
          <a:prstGeom prst="rect">
            <a:avLst/>
          </a:prstGeom>
          <a:solidFill>
            <a:srgbClr val="0E1B2A"/>
          </a:solidFill>
          <a:ln w="12700">
            <a:solidFill>
              <a:srgbClr val="0E1B2A"/>
            </a:solidFill>
            <a:prstDash val="solid"/>
          </a:ln>
        </p:spPr>
      </p:sp>
      <p:sp>
        <p:nvSpPr>
          <p:cNvPr id="3" name="Shape 1"/>
          <p:cNvSpPr/>
          <p:nvPr/>
        </p:nvSpPr>
        <p:spPr>
          <a:xfrm>
            <a:off x="566928" y="713232"/>
            <a:ext cx="54864" cy="859536"/>
          </a:xfrm>
          <a:prstGeom prst="rect">
            <a:avLst/>
          </a:prstGeom>
          <a:solidFill>
            <a:srgbClr val="C96A2B"/>
          </a:solidFill>
          <a:ln w="12700">
            <a:solidFill>
              <a:srgbClr val="C96A2B"/>
            </a:solidFill>
            <a:prstDash val="solid"/>
          </a:ln>
        </p:spPr>
      </p:sp>
      <p:sp>
        <p:nvSpPr>
          <p:cNvPr id="4" name="Shape 2"/>
          <p:cNvSpPr/>
          <p:nvPr/>
        </p:nvSpPr>
        <p:spPr>
          <a:xfrm>
            <a:off x="9555480" y="822960"/>
            <a:ext cx="2011680" cy="36576"/>
          </a:xfrm>
          <a:prstGeom prst="rect">
            <a:avLst/>
          </a:prstGeom>
          <a:solidFill>
            <a:srgbClr val="C96A2B">
              <a:alpha val="72000"/>
            </a:srgbClr>
          </a:solidFill>
          <a:ln w="12700">
            <a:solidFill>
              <a:srgbClr val="C96A2B">
                <a:alpha val="72000"/>
              </a:srgbClr>
            </a:solidFill>
            <a:prstDash val="solid"/>
          </a:ln>
        </p:spPr>
      </p:sp>
      <p:sp>
        <p:nvSpPr>
          <p:cNvPr id="5" name="Shape 3"/>
          <p:cNvSpPr/>
          <p:nvPr/>
        </p:nvSpPr>
        <p:spPr>
          <a:xfrm>
            <a:off x="10469880" y="292608"/>
            <a:ext cx="1078992" cy="1078992"/>
          </a:xfrm>
          <a:prstGeom prst="ellipse">
            <a:avLst/>
          </a:prstGeom>
          <a:solidFill>
            <a:srgbClr val="C96A2B">
              <a:alpha val="0"/>
            </a:srgbClr>
          </a:solidFill>
          <a:ln w="12700">
            <a:solidFill>
              <a:srgbClr val="C96A2B">
                <a:alpha val="18000"/>
              </a:srgbClr>
            </a:solidFill>
            <a:prstDash val="solid"/>
          </a:ln>
        </p:spPr>
      </p:sp>
      <p:sp>
        <p:nvSpPr>
          <p:cNvPr id="6" name="Shape 4"/>
          <p:cNvSpPr/>
          <p:nvPr/>
        </p:nvSpPr>
        <p:spPr>
          <a:xfrm>
            <a:off x="73152" y="5257800"/>
            <a:ext cx="987552" cy="987552"/>
          </a:xfrm>
          <a:prstGeom prst="ellipse">
            <a:avLst/>
          </a:prstGeom>
          <a:solidFill>
            <a:srgbClr val="2B7A78">
              <a:alpha val="0"/>
            </a:srgbClr>
          </a:solidFill>
          <a:ln w="12700">
            <a:solidFill>
              <a:srgbClr val="2B7A78">
                <a:alpha val="14000"/>
              </a:srgbClr>
            </a:solidFill>
            <a:prstDash val="solid"/>
          </a:ln>
        </p:spPr>
      </p:sp>
      <p:sp>
        <p:nvSpPr>
          <p:cNvPr id="7" name="Text 5"/>
          <p:cNvSpPr/>
          <p:nvPr/>
        </p:nvSpPr>
        <p:spPr>
          <a:xfrm>
            <a:off x="768096" y="603504"/>
            <a:ext cx="4023360" cy="237744"/>
          </a:xfrm>
          <a:prstGeom prst="rect">
            <a:avLst/>
          </a:prstGeom>
          <a:noFill/>
          <a:ln/>
        </p:spPr>
        <p:txBody>
          <a:bodyPr wrap="square" rtlCol="0" anchor="ctr"/>
          <a:lstStyle/>
          <a:p>
            <a:pPr indent="0" marL="0">
              <a:buNone/>
            </a:pPr>
            <a:r>
              <a:rPr lang="en-US" sz="1100" b="1" dirty="0">
                <a:solidFill>
                  <a:srgbClr val="C96A2B"/>
                </a:solidFill>
                <a:latin typeface="Bahnschrift" pitchFamily="34" charset="0"/>
                <a:ea typeface="Bahnschrift" pitchFamily="34" charset="-122"/>
                <a:cs typeface="Bahnschrift" pitchFamily="34" charset="-120"/>
              </a:rPr>
              <a:t>09  REALTIME PIPELINE</a:t>
            </a:r>
            <a:endParaRPr lang="en-US" sz="1100" dirty="0"/>
          </a:p>
        </p:txBody>
      </p:sp>
      <p:sp>
        <p:nvSpPr>
          <p:cNvPr id="8" name="Text 6"/>
          <p:cNvSpPr/>
          <p:nvPr/>
        </p:nvSpPr>
        <p:spPr>
          <a:xfrm>
            <a:off x="768096" y="859536"/>
            <a:ext cx="8001000" cy="457200"/>
          </a:xfrm>
          <a:prstGeom prst="rect">
            <a:avLst/>
          </a:prstGeom>
          <a:noFill/>
          <a:ln/>
        </p:spPr>
        <p:txBody>
          <a:bodyPr wrap="square" rtlCol="0" anchor="ctr"/>
          <a:lstStyle/>
          <a:p>
            <a:pPr indent="0" marL="0">
              <a:buNone/>
            </a:pPr>
            <a:r>
              <a:rPr lang="en-US" sz="2500" b="1" dirty="0">
                <a:solidFill>
                  <a:srgbClr val="0E1B2A"/>
                </a:solidFill>
                <a:latin typeface="Bahnschrift" pitchFamily="34" charset="0"/>
                <a:ea typeface="Bahnschrift" pitchFamily="34" charset="-122"/>
                <a:cs typeface="Bahnschrift" pitchFamily="34" charset="-120"/>
              </a:rPr>
              <a:t>Kiến trúc runtime IDS trước model</a:t>
            </a:r>
            <a:endParaRPr lang="en-US" sz="2500" dirty="0"/>
          </a:p>
        </p:txBody>
      </p:sp>
      <p:sp>
        <p:nvSpPr>
          <p:cNvPr id="9" name="Shape 7"/>
          <p:cNvSpPr/>
          <p:nvPr/>
        </p:nvSpPr>
        <p:spPr>
          <a:xfrm>
            <a:off x="768096" y="1389888"/>
            <a:ext cx="1965960" cy="36576"/>
          </a:xfrm>
          <a:prstGeom prst="rect">
            <a:avLst/>
          </a:prstGeom>
          <a:solidFill>
            <a:srgbClr val="C96A2B"/>
          </a:solidFill>
          <a:ln w="12700">
            <a:solidFill>
              <a:srgbClr val="C96A2B"/>
            </a:solidFill>
            <a:prstDash val="solid"/>
          </a:ln>
        </p:spPr>
      </p:sp>
      <p:sp>
        <p:nvSpPr>
          <p:cNvPr id="10" name="Text 8"/>
          <p:cNvSpPr/>
          <p:nvPr/>
        </p:nvSpPr>
        <p:spPr>
          <a:xfrm>
            <a:off x="10808208" y="566928"/>
            <a:ext cx="502920" cy="237744"/>
          </a:xfrm>
          <a:prstGeom prst="rect">
            <a:avLst/>
          </a:prstGeom>
          <a:noFill/>
          <a:ln/>
        </p:spPr>
        <p:txBody>
          <a:bodyPr wrap="square" rtlCol="0" anchor="ctr"/>
          <a:lstStyle/>
          <a:p>
            <a:pPr algn="r" indent="0" marL="0">
              <a:buNone/>
            </a:pPr>
            <a:r>
              <a:rPr lang="en-US" sz="1200" b="1" dirty="0">
                <a:solidFill>
                  <a:srgbClr val="7A7A76"/>
                </a:solidFill>
                <a:latin typeface="Bahnschrift" pitchFamily="34" charset="0"/>
                <a:ea typeface="Bahnschrift" pitchFamily="34" charset="-122"/>
                <a:cs typeface="Bahnschrift" pitchFamily="34" charset="-120"/>
              </a:rPr>
              <a:t>10</a:t>
            </a:r>
            <a:endParaRPr lang="en-US" sz="1200" dirty="0"/>
          </a:p>
        </p:txBody>
      </p:sp>
      <p:sp>
        <p:nvSpPr>
          <p:cNvPr id="11" name="Shape 9"/>
          <p:cNvSpPr/>
          <p:nvPr/>
        </p:nvSpPr>
        <p:spPr>
          <a:xfrm>
            <a:off x="685800" y="1920240"/>
            <a:ext cx="1645920" cy="1078992"/>
          </a:xfrm>
          <a:prstGeom prst="rect">
            <a:avLst/>
          </a:prstGeom>
          <a:solidFill>
            <a:srgbClr val="E7F0F6"/>
          </a:solidFill>
          <a:ln w="12700">
            <a:solidFill>
              <a:srgbClr val="E7F0F6"/>
            </a:solidFill>
            <a:prstDash val="solid"/>
          </a:ln>
        </p:spPr>
      </p:sp>
      <p:sp>
        <p:nvSpPr>
          <p:cNvPr id="12" name="Text 10"/>
          <p:cNvSpPr/>
          <p:nvPr/>
        </p:nvSpPr>
        <p:spPr>
          <a:xfrm>
            <a:off x="795528" y="2066544"/>
            <a:ext cx="1426464" cy="201168"/>
          </a:xfrm>
          <a:prstGeom prst="rect">
            <a:avLst/>
          </a:prstGeom>
          <a:noFill/>
          <a:ln/>
        </p:spPr>
        <p:txBody>
          <a:bodyPr wrap="square" rtlCol="0" anchor="ctr"/>
          <a:lstStyle/>
          <a:p>
            <a:pPr algn="ctr" indent="0" marL="0">
              <a:buNone/>
            </a:pPr>
            <a:r>
              <a:rPr lang="en-US" sz="1200" b="1" dirty="0">
                <a:solidFill>
                  <a:srgbClr val="0E1B2A"/>
                </a:solidFill>
                <a:latin typeface="Bahnschrift" pitchFamily="34" charset="0"/>
                <a:ea typeface="Bahnschrift" pitchFamily="34" charset="-122"/>
                <a:cs typeface="Bahnschrift" pitchFamily="34" charset="-120"/>
              </a:rPr>
              <a:t>Adapter</a:t>
            </a:r>
            <a:endParaRPr lang="en-US" sz="1200" dirty="0"/>
          </a:p>
        </p:txBody>
      </p:sp>
      <p:sp>
        <p:nvSpPr>
          <p:cNvPr id="13" name="Text 11"/>
          <p:cNvSpPr/>
          <p:nvPr/>
        </p:nvSpPr>
        <p:spPr>
          <a:xfrm>
            <a:off x="795528" y="2359152"/>
            <a:ext cx="1426464" cy="548640"/>
          </a:xfrm>
          <a:prstGeom prst="rect">
            <a:avLst/>
          </a:prstGeom>
          <a:noFill/>
          <a:ln/>
        </p:spPr>
        <p:txBody>
          <a:bodyPr wrap="square" rtlCol="0" anchor="ctr"/>
          <a:lstStyle/>
          <a:p>
            <a:pPr algn="ctr" indent="0" marL="0">
              <a:buNone/>
            </a:pPr>
            <a:r>
              <a:rPr lang="en-US" sz="950" dirty="0">
                <a:solidFill>
                  <a:srgbClr val="0E1B2A"/>
                </a:solidFill>
                <a:latin typeface="Aptos" pitchFamily="34" charset="0"/>
                <a:ea typeface="Aptos" pitchFamily="34" charset="-122"/>
                <a:cs typeface="Aptos" pitchFamily="34" charset="-120"/>
              </a:rPr>
              <a:t>Chuẩn hóa profile record từ upstream</a:t>
            </a:r>
            <a:endParaRPr lang="en-US" sz="950" dirty="0"/>
          </a:p>
        </p:txBody>
      </p:sp>
      <p:sp>
        <p:nvSpPr>
          <p:cNvPr id="14" name="Shape 12"/>
          <p:cNvSpPr/>
          <p:nvPr/>
        </p:nvSpPr>
        <p:spPr>
          <a:xfrm>
            <a:off x="2606040" y="1920240"/>
            <a:ext cx="1737360" cy="1078992"/>
          </a:xfrm>
          <a:prstGeom prst="rect">
            <a:avLst/>
          </a:prstGeom>
          <a:solidFill>
            <a:srgbClr val="E2F3F1"/>
          </a:solidFill>
          <a:ln w="12700">
            <a:solidFill>
              <a:srgbClr val="E2F3F1"/>
            </a:solidFill>
            <a:prstDash val="solid"/>
          </a:ln>
        </p:spPr>
      </p:sp>
      <p:sp>
        <p:nvSpPr>
          <p:cNvPr id="15" name="Text 13"/>
          <p:cNvSpPr/>
          <p:nvPr/>
        </p:nvSpPr>
        <p:spPr>
          <a:xfrm>
            <a:off x="2715768" y="2066544"/>
            <a:ext cx="1517904" cy="201168"/>
          </a:xfrm>
          <a:prstGeom prst="rect">
            <a:avLst/>
          </a:prstGeom>
          <a:noFill/>
          <a:ln/>
        </p:spPr>
        <p:txBody>
          <a:bodyPr wrap="square" rtlCol="0" anchor="ctr"/>
          <a:lstStyle/>
          <a:p>
            <a:pPr algn="ctr" indent="0" marL="0">
              <a:buNone/>
            </a:pPr>
            <a:r>
              <a:rPr lang="en-US" sz="1200" b="1" dirty="0">
                <a:solidFill>
                  <a:srgbClr val="0E1B2A"/>
                </a:solidFill>
                <a:latin typeface="Bahnschrift" pitchFamily="34" charset="0"/>
                <a:ea typeface="Bahnschrift" pitchFamily="34" charset="-122"/>
                <a:cs typeface="Bahnschrift" pitchFamily="34" charset="-120"/>
              </a:rPr>
              <a:t>FlowFeatureContract</a:t>
            </a:r>
            <a:endParaRPr lang="en-US" sz="1200" dirty="0"/>
          </a:p>
        </p:txBody>
      </p:sp>
      <p:sp>
        <p:nvSpPr>
          <p:cNvPr id="16" name="Text 14"/>
          <p:cNvSpPr/>
          <p:nvPr/>
        </p:nvSpPr>
        <p:spPr>
          <a:xfrm>
            <a:off x="2715768" y="2359152"/>
            <a:ext cx="1517904" cy="548640"/>
          </a:xfrm>
          <a:prstGeom prst="rect">
            <a:avLst/>
          </a:prstGeom>
          <a:noFill/>
          <a:ln/>
        </p:spPr>
        <p:txBody>
          <a:bodyPr wrap="square" rtlCol="0" anchor="ctr"/>
          <a:lstStyle/>
          <a:p>
            <a:pPr algn="ctr" indent="0" marL="0">
              <a:buNone/>
            </a:pPr>
            <a:r>
              <a:rPr lang="en-US" sz="950" dirty="0">
                <a:solidFill>
                  <a:srgbClr val="0E1B2A"/>
                </a:solidFill>
                <a:latin typeface="Aptos" pitchFamily="34" charset="0"/>
                <a:ea typeface="Aptos" pitchFamily="34" charset="-122"/>
                <a:cs typeface="Aptos" pitchFamily="34" charset="-120"/>
              </a:rPr>
              <a:t>Kiểm tra đủ 72 feature</a:t>
            </a:r>
            <a:endParaRPr lang="en-US" sz="950" dirty="0"/>
          </a:p>
        </p:txBody>
      </p:sp>
      <p:sp>
        <p:nvSpPr>
          <p:cNvPr id="17" name="Shape 15"/>
          <p:cNvSpPr/>
          <p:nvPr/>
        </p:nvSpPr>
        <p:spPr>
          <a:xfrm>
            <a:off x="4617720" y="1920240"/>
            <a:ext cx="1828800" cy="1078992"/>
          </a:xfrm>
          <a:prstGeom prst="rect">
            <a:avLst/>
          </a:prstGeom>
          <a:solidFill>
            <a:srgbClr val="F6E7DA"/>
          </a:solidFill>
          <a:ln w="12700">
            <a:solidFill>
              <a:srgbClr val="F6E7DA"/>
            </a:solidFill>
            <a:prstDash val="solid"/>
          </a:ln>
        </p:spPr>
      </p:sp>
      <p:sp>
        <p:nvSpPr>
          <p:cNvPr id="18" name="Text 16"/>
          <p:cNvSpPr/>
          <p:nvPr/>
        </p:nvSpPr>
        <p:spPr>
          <a:xfrm>
            <a:off x="4727448" y="2066544"/>
            <a:ext cx="1609344" cy="201168"/>
          </a:xfrm>
          <a:prstGeom prst="rect">
            <a:avLst/>
          </a:prstGeom>
          <a:noFill/>
          <a:ln/>
        </p:spPr>
        <p:txBody>
          <a:bodyPr wrap="square" rtlCol="0" anchor="ctr"/>
          <a:lstStyle/>
          <a:p>
            <a:pPr algn="ctr" indent="0" marL="0">
              <a:buNone/>
            </a:pPr>
            <a:r>
              <a:rPr lang="en-US" sz="1200" b="1" dirty="0">
                <a:solidFill>
                  <a:srgbClr val="0E1B2A"/>
                </a:solidFill>
                <a:latin typeface="Bahnschrift" pitchFamily="34" charset="0"/>
                <a:ea typeface="Bahnschrift" pitchFamily="34" charset="-122"/>
                <a:cs typeface="Bahnschrift" pitchFamily="34" charset="-120"/>
              </a:rPr>
              <a:t>RealtimePipelineRunner</a:t>
            </a:r>
            <a:endParaRPr lang="en-US" sz="1200" dirty="0"/>
          </a:p>
        </p:txBody>
      </p:sp>
      <p:sp>
        <p:nvSpPr>
          <p:cNvPr id="19" name="Text 17"/>
          <p:cNvSpPr/>
          <p:nvPr/>
        </p:nvSpPr>
        <p:spPr>
          <a:xfrm>
            <a:off x="4727448" y="2359152"/>
            <a:ext cx="1609344" cy="548640"/>
          </a:xfrm>
          <a:prstGeom prst="rect">
            <a:avLst/>
          </a:prstGeom>
          <a:noFill/>
          <a:ln/>
        </p:spPr>
        <p:txBody>
          <a:bodyPr wrap="square" rtlCol="0" anchor="ctr"/>
          <a:lstStyle/>
          <a:p>
            <a:pPr algn="ctr" indent="0" marL="0">
              <a:buNone/>
            </a:pPr>
            <a:r>
              <a:rPr lang="en-US" sz="950" dirty="0">
                <a:solidFill>
                  <a:srgbClr val="0E1B2A"/>
                </a:solidFill>
                <a:latin typeface="Aptos" pitchFamily="34" charset="0"/>
                <a:ea typeface="Aptos" pitchFamily="34" charset="-122"/>
                <a:cs typeface="Aptos" pitchFamily="34" charset="-120"/>
              </a:rPr>
              <a:t>Micro-batch + flush interval</a:t>
            </a:r>
            <a:endParaRPr lang="en-US" sz="950" dirty="0"/>
          </a:p>
        </p:txBody>
      </p:sp>
      <p:sp>
        <p:nvSpPr>
          <p:cNvPr id="20" name="Shape 18"/>
          <p:cNvSpPr/>
          <p:nvPr/>
        </p:nvSpPr>
        <p:spPr>
          <a:xfrm>
            <a:off x="6748272" y="1920240"/>
            <a:ext cx="1645920" cy="1078992"/>
          </a:xfrm>
          <a:prstGeom prst="rect">
            <a:avLst/>
          </a:prstGeom>
          <a:solidFill>
            <a:srgbClr val="E8F2EA"/>
          </a:solidFill>
          <a:ln w="12700">
            <a:solidFill>
              <a:srgbClr val="E8F2EA"/>
            </a:solidFill>
            <a:prstDash val="solid"/>
          </a:ln>
        </p:spPr>
      </p:sp>
      <p:sp>
        <p:nvSpPr>
          <p:cNvPr id="21" name="Text 19"/>
          <p:cNvSpPr/>
          <p:nvPr/>
        </p:nvSpPr>
        <p:spPr>
          <a:xfrm>
            <a:off x="6858000" y="2066544"/>
            <a:ext cx="1426464" cy="201168"/>
          </a:xfrm>
          <a:prstGeom prst="rect">
            <a:avLst/>
          </a:prstGeom>
          <a:noFill/>
          <a:ln/>
        </p:spPr>
        <p:txBody>
          <a:bodyPr wrap="square" rtlCol="0" anchor="ctr"/>
          <a:lstStyle/>
          <a:p>
            <a:pPr algn="ctr" indent="0" marL="0">
              <a:buNone/>
            </a:pPr>
            <a:r>
              <a:rPr lang="en-US" sz="1200" b="1" dirty="0">
                <a:solidFill>
                  <a:srgbClr val="0E1B2A"/>
                </a:solidFill>
                <a:latin typeface="Bahnschrift" pitchFamily="34" charset="0"/>
                <a:ea typeface="Bahnschrift" pitchFamily="34" charset="-122"/>
                <a:cs typeface="Bahnschrift" pitchFamily="34" charset="-120"/>
              </a:rPr>
              <a:t>IDSInferencer</a:t>
            </a:r>
            <a:endParaRPr lang="en-US" sz="1200" dirty="0"/>
          </a:p>
        </p:txBody>
      </p:sp>
      <p:sp>
        <p:nvSpPr>
          <p:cNvPr id="22" name="Text 20"/>
          <p:cNvSpPr/>
          <p:nvPr/>
        </p:nvSpPr>
        <p:spPr>
          <a:xfrm>
            <a:off x="6858000" y="2359152"/>
            <a:ext cx="1426464" cy="548640"/>
          </a:xfrm>
          <a:prstGeom prst="rect">
            <a:avLst/>
          </a:prstGeom>
          <a:noFill/>
          <a:ln/>
        </p:spPr>
        <p:txBody>
          <a:bodyPr wrap="square" rtlCol="0" anchor="ctr"/>
          <a:lstStyle/>
          <a:p>
            <a:pPr algn="ctr" indent="0" marL="0">
              <a:buNone/>
            </a:pPr>
            <a:r>
              <a:rPr lang="en-US" sz="950" dirty="0">
                <a:solidFill>
                  <a:srgbClr val="0E1B2A"/>
                </a:solidFill>
                <a:latin typeface="Aptos" pitchFamily="34" charset="0"/>
                <a:ea typeface="Aptos" pitchFamily="34" charset="-122"/>
                <a:cs typeface="Aptos" pitchFamily="34" charset="-120"/>
              </a:rPr>
              <a:t>CatBoost bundle scoring</a:t>
            </a:r>
            <a:endParaRPr lang="en-US" sz="950" dirty="0"/>
          </a:p>
        </p:txBody>
      </p:sp>
      <p:sp>
        <p:nvSpPr>
          <p:cNvPr id="23" name="Shape 21"/>
          <p:cNvSpPr/>
          <p:nvPr/>
        </p:nvSpPr>
        <p:spPr>
          <a:xfrm>
            <a:off x="8668512" y="1417320"/>
            <a:ext cx="1737360" cy="914400"/>
          </a:xfrm>
          <a:prstGeom prst="rect">
            <a:avLst/>
          </a:prstGeom>
          <a:solidFill>
            <a:srgbClr val="E7F0F6"/>
          </a:solidFill>
          <a:ln w="12700">
            <a:solidFill>
              <a:srgbClr val="E7F0F6"/>
            </a:solidFill>
            <a:prstDash val="solid"/>
          </a:ln>
        </p:spPr>
      </p:sp>
      <p:sp>
        <p:nvSpPr>
          <p:cNvPr id="24" name="Text 22"/>
          <p:cNvSpPr/>
          <p:nvPr/>
        </p:nvSpPr>
        <p:spPr>
          <a:xfrm>
            <a:off x="8778240" y="1563624"/>
            <a:ext cx="1517904" cy="201168"/>
          </a:xfrm>
          <a:prstGeom prst="rect">
            <a:avLst/>
          </a:prstGeom>
          <a:noFill/>
          <a:ln/>
        </p:spPr>
        <p:txBody>
          <a:bodyPr wrap="square" rtlCol="0" anchor="ctr"/>
          <a:lstStyle/>
          <a:p>
            <a:pPr algn="ctr" indent="0" marL="0">
              <a:buNone/>
            </a:pPr>
            <a:r>
              <a:rPr lang="en-US" sz="1200" b="1" dirty="0">
                <a:solidFill>
                  <a:srgbClr val="0E1B2A"/>
                </a:solidFill>
                <a:latin typeface="Bahnschrift" pitchFamily="34" charset="0"/>
                <a:ea typeface="Bahnschrift" pitchFamily="34" charset="-122"/>
                <a:cs typeface="Bahnschrift" pitchFamily="34" charset="-120"/>
              </a:rPr>
              <a:t>model_prediction</a:t>
            </a:r>
            <a:endParaRPr lang="en-US" sz="1200" dirty="0"/>
          </a:p>
        </p:txBody>
      </p:sp>
      <p:sp>
        <p:nvSpPr>
          <p:cNvPr id="25" name="Text 23"/>
          <p:cNvSpPr/>
          <p:nvPr/>
        </p:nvSpPr>
        <p:spPr>
          <a:xfrm>
            <a:off x="8778240" y="1856232"/>
            <a:ext cx="1517904" cy="384048"/>
          </a:xfrm>
          <a:prstGeom prst="rect">
            <a:avLst/>
          </a:prstGeom>
          <a:noFill/>
          <a:ln/>
        </p:spPr>
        <p:txBody>
          <a:bodyPr wrap="square" rtlCol="0" anchor="ctr"/>
          <a:lstStyle/>
          <a:p>
            <a:pPr algn="ctr" indent="0" marL="0">
              <a:buNone/>
            </a:pPr>
            <a:r>
              <a:rPr lang="en-US" sz="950" dirty="0">
                <a:solidFill>
                  <a:srgbClr val="0E1B2A"/>
                </a:solidFill>
                <a:latin typeface="Aptos" pitchFamily="34" charset="0"/>
                <a:ea typeface="Aptos" pitchFamily="34" charset="-122"/>
                <a:cs typeface="Aptos" pitchFamily="34" charset="-120"/>
              </a:rPr>
              <a:t>attack_score / is_alert</a:t>
            </a:r>
            <a:endParaRPr lang="en-US" sz="950" dirty="0"/>
          </a:p>
        </p:txBody>
      </p:sp>
      <p:sp>
        <p:nvSpPr>
          <p:cNvPr id="26" name="Shape 24"/>
          <p:cNvSpPr/>
          <p:nvPr/>
        </p:nvSpPr>
        <p:spPr>
          <a:xfrm>
            <a:off x="8668512" y="2514600"/>
            <a:ext cx="1737360" cy="914400"/>
          </a:xfrm>
          <a:prstGeom prst="rect">
            <a:avLst/>
          </a:prstGeom>
          <a:solidFill>
            <a:srgbClr val="F7E4E4"/>
          </a:solidFill>
          <a:ln w="12700">
            <a:solidFill>
              <a:srgbClr val="F7E4E4"/>
            </a:solidFill>
            <a:prstDash val="solid"/>
          </a:ln>
        </p:spPr>
      </p:sp>
      <p:sp>
        <p:nvSpPr>
          <p:cNvPr id="27" name="Text 25"/>
          <p:cNvSpPr/>
          <p:nvPr/>
        </p:nvSpPr>
        <p:spPr>
          <a:xfrm>
            <a:off x="8778240" y="2660904"/>
            <a:ext cx="1517904" cy="201168"/>
          </a:xfrm>
          <a:prstGeom prst="rect">
            <a:avLst/>
          </a:prstGeom>
          <a:noFill/>
          <a:ln/>
        </p:spPr>
        <p:txBody>
          <a:bodyPr wrap="square" rtlCol="0" anchor="ctr"/>
          <a:lstStyle/>
          <a:p>
            <a:pPr algn="ctr" indent="0" marL="0">
              <a:buNone/>
            </a:pPr>
            <a:r>
              <a:rPr lang="en-US" sz="1200" b="1" dirty="0">
                <a:solidFill>
                  <a:srgbClr val="0E1B2A"/>
                </a:solidFill>
                <a:latin typeface="Bahnschrift" pitchFamily="34" charset="0"/>
                <a:ea typeface="Bahnschrift" pitchFamily="34" charset="-122"/>
                <a:cs typeface="Bahnschrift" pitchFamily="34" charset="-120"/>
              </a:rPr>
              <a:t>schema_anomaly</a:t>
            </a:r>
            <a:endParaRPr lang="en-US" sz="1200" dirty="0"/>
          </a:p>
        </p:txBody>
      </p:sp>
      <p:sp>
        <p:nvSpPr>
          <p:cNvPr id="28" name="Text 26"/>
          <p:cNvSpPr/>
          <p:nvPr/>
        </p:nvSpPr>
        <p:spPr>
          <a:xfrm>
            <a:off x="8778240" y="2953512"/>
            <a:ext cx="1517904" cy="384048"/>
          </a:xfrm>
          <a:prstGeom prst="rect">
            <a:avLst/>
          </a:prstGeom>
          <a:noFill/>
          <a:ln/>
        </p:spPr>
        <p:txBody>
          <a:bodyPr wrap="square" rtlCol="0" anchor="ctr"/>
          <a:lstStyle/>
          <a:p>
            <a:pPr algn="ctr" indent="0" marL="0">
              <a:buNone/>
            </a:pPr>
            <a:r>
              <a:rPr lang="en-US" sz="950" dirty="0">
                <a:solidFill>
                  <a:srgbClr val="0E1B2A"/>
                </a:solidFill>
                <a:latin typeface="Aptos" pitchFamily="34" charset="0"/>
                <a:ea typeface="Aptos" pitchFamily="34" charset="-122"/>
                <a:cs typeface="Aptos" pitchFamily="34" charset="-120"/>
              </a:rPr>
              <a:t>Quarantine record lỗi</a:t>
            </a:r>
            <a:endParaRPr lang="en-US" sz="950" dirty="0"/>
          </a:p>
        </p:txBody>
      </p:sp>
      <p:sp>
        <p:nvSpPr>
          <p:cNvPr id="29" name="Shape 27"/>
          <p:cNvSpPr/>
          <p:nvPr/>
        </p:nvSpPr>
        <p:spPr>
          <a:xfrm>
            <a:off x="10698480" y="1920240"/>
            <a:ext cx="914400" cy="1078992"/>
          </a:xfrm>
          <a:prstGeom prst="rect">
            <a:avLst/>
          </a:prstGeom>
          <a:solidFill>
            <a:srgbClr val="F2E8DC"/>
          </a:solidFill>
          <a:ln w="12700">
            <a:solidFill>
              <a:srgbClr val="F2E8DC"/>
            </a:solidFill>
            <a:prstDash val="solid"/>
          </a:ln>
        </p:spPr>
      </p:sp>
      <p:sp>
        <p:nvSpPr>
          <p:cNvPr id="30" name="Text 28"/>
          <p:cNvSpPr/>
          <p:nvPr/>
        </p:nvSpPr>
        <p:spPr>
          <a:xfrm>
            <a:off x="10808208" y="2066544"/>
            <a:ext cx="694944" cy="201168"/>
          </a:xfrm>
          <a:prstGeom prst="rect">
            <a:avLst/>
          </a:prstGeom>
          <a:noFill/>
          <a:ln/>
        </p:spPr>
        <p:txBody>
          <a:bodyPr wrap="square" rtlCol="0" anchor="ctr"/>
          <a:lstStyle/>
          <a:p>
            <a:pPr algn="ctr" indent="0" marL="0">
              <a:buNone/>
            </a:pPr>
            <a:r>
              <a:rPr lang="en-US" sz="1200" b="1" dirty="0">
                <a:solidFill>
                  <a:srgbClr val="0E1B2A"/>
                </a:solidFill>
                <a:latin typeface="Bahnschrift" pitchFamily="34" charset="0"/>
                <a:ea typeface="Bahnschrift" pitchFamily="34" charset="-122"/>
                <a:cs typeface="Bahnschrift" pitchFamily="34" charset="-120"/>
              </a:rPr>
              <a:t>Sinks</a:t>
            </a:r>
            <a:endParaRPr lang="en-US" sz="1200" dirty="0"/>
          </a:p>
        </p:txBody>
      </p:sp>
      <p:sp>
        <p:nvSpPr>
          <p:cNvPr id="31" name="Text 29"/>
          <p:cNvSpPr/>
          <p:nvPr/>
        </p:nvSpPr>
        <p:spPr>
          <a:xfrm>
            <a:off x="10808208" y="2359152"/>
            <a:ext cx="694944" cy="548640"/>
          </a:xfrm>
          <a:prstGeom prst="rect">
            <a:avLst/>
          </a:prstGeom>
          <a:noFill/>
          <a:ln/>
        </p:spPr>
        <p:txBody>
          <a:bodyPr wrap="square" rtlCol="0" anchor="ctr"/>
          <a:lstStyle/>
          <a:p>
            <a:pPr algn="ctr" indent="0" marL="0">
              <a:buNone/>
            </a:pPr>
            <a:r>
              <a:rPr lang="en-US" sz="950" dirty="0">
                <a:solidFill>
                  <a:srgbClr val="0E1B2A"/>
                </a:solidFill>
                <a:latin typeface="Aptos" pitchFamily="34" charset="0"/>
                <a:ea typeface="Aptos" pitchFamily="34" charset="-122"/>
                <a:cs typeface="Aptos" pitchFamily="34" charset="-120"/>
              </a:rPr>
              <a:t>Alert / dashboard / forensic</a:t>
            </a:r>
            <a:endParaRPr lang="en-US" sz="950" dirty="0"/>
          </a:p>
        </p:txBody>
      </p:sp>
      <p:sp>
        <p:nvSpPr>
          <p:cNvPr id="32" name="Shape 30"/>
          <p:cNvSpPr/>
          <p:nvPr/>
        </p:nvSpPr>
        <p:spPr>
          <a:xfrm>
            <a:off x="2331720" y="2446020"/>
            <a:ext cx="274320" cy="32004"/>
          </a:xfrm>
          <a:prstGeom prst="rect">
            <a:avLst/>
          </a:prstGeom>
          <a:solidFill>
            <a:srgbClr val="41576D"/>
          </a:solidFill>
          <a:ln w="12700">
            <a:solidFill>
              <a:srgbClr val="41576D"/>
            </a:solidFill>
            <a:prstDash val="solid"/>
          </a:ln>
        </p:spPr>
      </p:sp>
      <p:sp>
        <p:nvSpPr>
          <p:cNvPr id="33" name="Shape 31"/>
          <p:cNvSpPr/>
          <p:nvPr/>
        </p:nvSpPr>
        <p:spPr>
          <a:xfrm>
            <a:off x="4343400" y="2446020"/>
            <a:ext cx="274320" cy="32004"/>
          </a:xfrm>
          <a:prstGeom prst="rect">
            <a:avLst/>
          </a:prstGeom>
          <a:solidFill>
            <a:srgbClr val="41576D"/>
          </a:solidFill>
          <a:ln w="12700">
            <a:solidFill>
              <a:srgbClr val="41576D"/>
            </a:solidFill>
            <a:prstDash val="solid"/>
          </a:ln>
        </p:spPr>
      </p:sp>
      <p:sp>
        <p:nvSpPr>
          <p:cNvPr id="34" name="Shape 32"/>
          <p:cNvSpPr/>
          <p:nvPr/>
        </p:nvSpPr>
        <p:spPr>
          <a:xfrm>
            <a:off x="6446520" y="2446020"/>
            <a:ext cx="301752" cy="32004"/>
          </a:xfrm>
          <a:prstGeom prst="rect">
            <a:avLst/>
          </a:prstGeom>
          <a:solidFill>
            <a:srgbClr val="41576D"/>
          </a:solidFill>
          <a:ln w="12700">
            <a:solidFill>
              <a:srgbClr val="41576D"/>
            </a:solidFill>
            <a:prstDash val="solid"/>
          </a:ln>
        </p:spPr>
      </p:sp>
      <p:sp>
        <p:nvSpPr>
          <p:cNvPr id="35" name="Shape 33"/>
          <p:cNvSpPr/>
          <p:nvPr/>
        </p:nvSpPr>
        <p:spPr>
          <a:xfrm>
            <a:off x="8394192" y="2153412"/>
            <a:ext cx="274320" cy="32004"/>
          </a:xfrm>
          <a:prstGeom prst="rect">
            <a:avLst/>
          </a:prstGeom>
          <a:solidFill>
            <a:srgbClr val="41576D"/>
          </a:solidFill>
          <a:ln w="12700">
            <a:solidFill>
              <a:srgbClr val="41576D"/>
            </a:solidFill>
            <a:prstDash val="solid"/>
          </a:ln>
        </p:spPr>
      </p:sp>
      <p:sp>
        <p:nvSpPr>
          <p:cNvPr id="36" name="Shape 34"/>
          <p:cNvSpPr/>
          <p:nvPr/>
        </p:nvSpPr>
        <p:spPr>
          <a:xfrm>
            <a:off x="8394192" y="2679192"/>
            <a:ext cx="274320" cy="32004"/>
          </a:xfrm>
          <a:prstGeom prst="rect">
            <a:avLst/>
          </a:prstGeom>
          <a:solidFill>
            <a:srgbClr val="41576D"/>
          </a:solidFill>
          <a:ln w="12700">
            <a:solidFill>
              <a:srgbClr val="41576D"/>
            </a:solidFill>
            <a:prstDash val="solid"/>
          </a:ln>
        </p:spPr>
      </p:sp>
      <p:sp>
        <p:nvSpPr>
          <p:cNvPr id="37" name="Shape 35"/>
          <p:cNvSpPr/>
          <p:nvPr/>
        </p:nvSpPr>
        <p:spPr>
          <a:xfrm>
            <a:off x="10405872" y="2153412"/>
            <a:ext cx="292608" cy="32004"/>
          </a:xfrm>
          <a:prstGeom prst="rect">
            <a:avLst/>
          </a:prstGeom>
          <a:solidFill>
            <a:srgbClr val="41576D"/>
          </a:solidFill>
          <a:ln w="12700">
            <a:solidFill>
              <a:srgbClr val="41576D"/>
            </a:solidFill>
            <a:prstDash val="solid"/>
          </a:ln>
        </p:spPr>
      </p:sp>
      <p:sp>
        <p:nvSpPr>
          <p:cNvPr id="38" name="Shape 36"/>
          <p:cNvSpPr/>
          <p:nvPr/>
        </p:nvSpPr>
        <p:spPr>
          <a:xfrm>
            <a:off x="10405872" y="2679192"/>
            <a:ext cx="292608" cy="32004"/>
          </a:xfrm>
          <a:prstGeom prst="rect">
            <a:avLst/>
          </a:prstGeom>
          <a:solidFill>
            <a:srgbClr val="41576D"/>
          </a:solidFill>
          <a:ln w="12700">
            <a:solidFill>
              <a:srgbClr val="41576D"/>
            </a:solidFill>
            <a:prstDash val="solid"/>
          </a:ln>
        </p:spPr>
      </p:sp>
      <p:sp>
        <p:nvSpPr>
          <p:cNvPr id="39" name="Shape 37"/>
          <p:cNvSpPr/>
          <p:nvPr/>
        </p:nvSpPr>
        <p:spPr>
          <a:xfrm>
            <a:off x="822960" y="3913632"/>
            <a:ext cx="3383280" cy="1463040"/>
          </a:xfrm>
          <a:prstGeom prst="rect">
            <a:avLst/>
          </a:prstGeom>
          <a:solidFill>
            <a:srgbClr val="F6E7DA"/>
          </a:solidFill>
          <a:ln w="12700">
            <a:solidFill>
              <a:srgbClr val="F6E7DA"/>
            </a:solidFill>
            <a:prstDash val="solid"/>
          </a:ln>
        </p:spPr>
      </p:sp>
      <p:sp>
        <p:nvSpPr>
          <p:cNvPr id="40" name="Shape 38"/>
          <p:cNvSpPr/>
          <p:nvPr/>
        </p:nvSpPr>
        <p:spPr>
          <a:xfrm>
            <a:off x="822960" y="3913632"/>
            <a:ext cx="73152" cy="1463040"/>
          </a:xfrm>
          <a:prstGeom prst="rect">
            <a:avLst/>
          </a:prstGeom>
          <a:solidFill>
            <a:srgbClr val="C96A2B"/>
          </a:solidFill>
          <a:ln w="12700">
            <a:solidFill>
              <a:srgbClr val="C96A2B"/>
            </a:solidFill>
            <a:prstDash val="solid"/>
          </a:ln>
        </p:spPr>
      </p:sp>
      <p:sp>
        <p:nvSpPr>
          <p:cNvPr id="41" name="Shape 39"/>
          <p:cNvSpPr/>
          <p:nvPr/>
        </p:nvSpPr>
        <p:spPr>
          <a:xfrm>
            <a:off x="969264" y="4041648"/>
            <a:ext cx="475488" cy="27432"/>
          </a:xfrm>
          <a:prstGeom prst="rect">
            <a:avLst/>
          </a:prstGeom>
          <a:solidFill>
            <a:srgbClr val="C96A2B"/>
          </a:solidFill>
          <a:ln w="12700">
            <a:solidFill>
              <a:srgbClr val="C96A2B"/>
            </a:solidFill>
            <a:prstDash val="solid"/>
          </a:ln>
        </p:spPr>
      </p:sp>
      <p:sp>
        <p:nvSpPr>
          <p:cNvPr id="42" name="Text 40"/>
          <p:cNvSpPr/>
          <p:nvPr/>
        </p:nvSpPr>
        <p:spPr>
          <a:xfrm>
            <a:off x="1024128" y="4133088"/>
            <a:ext cx="3072384" cy="219456"/>
          </a:xfrm>
          <a:prstGeom prst="rect">
            <a:avLst/>
          </a:prstGeom>
          <a:noFill/>
          <a:ln/>
        </p:spPr>
        <p:txBody>
          <a:bodyPr wrap="square" rtlCol="0" anchor="ctr"/>
          <a:lstStyle/>
          <a:p>
            <a:pPr indent="0" marL="0">
              <a:buNone/>
            </a:pPr>
            <a:r>
              <a:rPr lang="en-US" sz="1450" b="1" dirty="0">
                <a:solidFill>
                  <a:srgbClr val="0E1B2A"/>
                </a:solidFill>
                <a:latin typeface="Bahnschrift" pitchFamily="34" charset="0"/>
                <a:ea typeface="Bahnschrift" pitchFamily="34" charset="-122"/>
                <a:cs typeface="Bahnschrift" pitchFamily="34" charset="-120"/>
              </a:rPr>
              <a:t>Ranh giới quan trọng</a:t>
            </a:r>
            <a:endParaRPr lang="en-US" sz="1450" dirty="0"/>
          </a:p>
        </p:txBody>
      </p:sp>
      <p:sp>
        <p:nvSpPr>
          <p:cNvPr id="43" name="Text 41"/>
          <p:cNvSpPr/>
          <p:nvPr/>
        </p:nvSpPr>
        <p:spPr>
          <a:xfrm>
            <a:off x="1024128" y="4462272"/>
            <a:ext cx="3072384" cy="786384"/>
          </a:xfrm>
          <a:prstGeom prst="rect">
            <a:avLst/>
          </a:prstGeom>
          <a:noFill/>
          <a:ln/>
        </p:spPr>
        <p:txBody>
          <a:bodyPr wrap="square" lIns="254" tIns="254" rIns="254" bIns="254" rtlCol="0" anchor="t"/>
          <a:lstStyle/>
          <a:p>
            <a:pPr indent="0" marL="0">
              <a:buNone/>
            </a:pPr>
            <a:r>
              <a:rPr lang="en-US" sz="1050" dirty="0">
                <a:solidFill>
                  <a:srgbClr val="41576D"/>
                </a:solidFill>
                <a:latin typeface="Aptos" pitchFamily="34" charset="0"/>
                <a:ea typeface="Aptos" pitchFamily="34" charset="-122"/>
                <a:cs typeface="Aptos" pitchFamily="34" charset="-120"/>
              </a:rPr>
              <a:t>IDS v1 nhận structured flow records, không sniff packet thô và cũng không tự suy diễn feature bị thiếu. Nếu upstream sai schema thì runtime phải phát hiện ngay.</a:t>
            </a:r>
            <a:endParaRPr lang="en-US" sz="1050" dirty="0"/>
          </a:p>
        </p:txBody>
      </p:sp>
      <p:sp>
        <p:nvSpPr>
          <p:cNvPr id="44" name="Shape 42"/>
          <p:cNvSpPr/>
          <p:nvPr/>
        </p:nvSpPr>
        <p:spPr>
          <a:xfrm>
            <a:off x="4407408" y="3913632"/>
            <a:ext cx="3273552" cy="1463040"/>
          </a:xfrm>
          <a:prstGeom prst="rect">
            <a:avLst/>
          </a:prstGeom>
          <a:solidFill>
            <a:srgbClr val="F7E4E4"/>
          </a:solidFill>
          <a:ln w="12700">
            <a:solidFill>
              <a:srgbClr val="F7E4E4"/>
            </a:solidFill>
            <a:prstDash val="solid"/>
          </a:ln>
        </p:spPr>
      </p:sp>
      <p:sp>
        <p:nvSpPr>
          <p:cNvPr id="45" name="Shape 43"/>
          <p:cNvSpPr/>
          <p:nvPr/>
        </p:nvSpPr>
        <p:spPr>
          <a:xfrm>
            <a:off x="4407408" y="3913632"/>
            <a:ext cx="73152" cy="1463040"/>
          </a:xfrm>
          <a:prstGeom prst="rect">
            <a:avLst/>
          </a:prstGeom>
          <a:solidFill>
            <a:srgbClr val="AE4C4C"/>
          </a:solidFill>
          <a:ln w="12700">
            <a:solidFill>
              <a:srgbClr val="AE4C4C"/>
            </a:solidFill>
            <a:prstDash val="solid"/>
          </a:ln>
        </p:spPr>
      </p:sp>
      <p:sp>
        <p:nvSpPr>
          <p:cNvPr id="46" name="Shape 44"/>
          <p:cNvSpPr/>
          <p:nvPr/>
        </p:nvSpPr>
        <p:spPr>
          <a:xfrm>
            <a:off x="4553712" y="4041648"/>
            <a:ext cx="475488" cy="27432"/>
          </a:xfrm>
          <a:prstGeom prst="rect">
            <a:avLst/>
          </a:prstGeom>
          <a:solidFill>
            <a:srgbClr val="AE4C4C"/>
          </a:solidFill>
          <a:ln w="12700">
            <a:solidFill>
              <a:srgbClr val="AE4C4C"/>
            </a:solidFill>
            <a:prstDash val="solid"/>
          </a:ln>
        </p:spPr>
      </p:sp>
      <p:sp>
        <p:nvSpPr>
          <p:cNvPr id="47" name="Text 45"/>
          <p:cNvSpPr/>
          <p:nvPr/>
        </p:nvSpPr>
        <p:spPr>
          <a:xfrm>
            <a:off x="4608576" y="4133088"/>
            <a:ext cx="2962656" cy="219456"/>
          </a:xfrm>
          <a:prstGeom prst="rect">
            <a:avLst/>
          </a:prstGeom>
          <a:noFill/>
          <a:ln/>
        </p:spPr>
        <p:txBody>
          <a:bodyPr wrap="square" rtlCol="0" anchor="ctr"/>
          <a:lstStyle/>
          <a:p>
            <a:pPr indent="0" marL="0">
              <a:buNone/>
            </a:pPr>
            <a:r>
              <a:rPr lang="en-US" sz="1450" b="1" dirty="0">
                <a:solidFill>
                  <a:srgbClr val="0E1B2A"/>
                </a:solidFill>
                <a:latin typeface="Bahnschrift" pitchFamily="34" charset="0"/>
                <a:ea typeface="Bahnschrift" pitchFamily="34" charset="-122"/>
                <a:cs typeface="Bahnschrift" pitchFamily="34" charset="-120"/>
              </a:rPr>
              <a:t>Xử lý record lỗi</a:t>
            </a:r>
            <a:endParaRPr lang="en-US" sz="1450" dirty="0"/>
          </a:p>
        </p:txBody>
      </p:sp>
      <p:sp>
        <p:nvSpPr>
          <p:cNvPr id="48" name="Text 46"/>
          <p:cNvSpPr/>
          <p:nvPr/>
        </p:nvSpPr>
        <p:spPr>
          <a:xfrm>
            <a:off x="4608576" y="4462272"/>
            <a:ext cx="2962656" cy="786384"/>
          </a:xfrm>
          <a:prstGeom prst="rect">
            <a:avLst/>
          </a:prstGeom>
          <a:noFill/>
          <a:ln/>
        </p:spPr>
        <p:txBody>
          <a:bodyPr wrap="square" lIns="254" tIns="254" rIns="254" bIns="254" rtlCol="0" anchor="t"/>
          <a:lstStyle/>
          <a:p>
            <a:pPr indent="0" marL="0">
              <a:buNone/>
            </a:pPr>
            <a:r>
              <a:rPr lang="en-US" sz="1050" dirty="0">
                <a:solidFill>
                  <a:srgbClr val="41576D"/>
                </a:solidFill>
                <a:latin typeface="Aptos" pitchFamily="34" charset="0"/>
                <a:ea typeface="Aptos" pitchFamily="34" charset="-122"/>
                <a:cs typeface="Aptos" pitchFamily="34" charset="-120"/>
              </a:rPr>
              <a:t>Record sai schema không làm fail toàn batch; nó bị quarantine riêng và phát schema_anomaly để vừa giữ được khả năng chấm điểm, vừa giữ dấu vết forensic.</a:t>
            </a:r>
            <a:endParaRPr lang="en-US" sz="1050" dirty="0"/>
          </a:p>
        </p:txBody>
      </p:sp>
      <p:sp>
        <p:nvSpPr>
          <p:cNvPr id="49" name="Shape 47"/>
          <p:cNvSpPr/>
          <p:nvPr/>
        </p:nvSpPr>
        <p:spPr>
          <a:xfrm>
            <a:off x="7882128" y="3913632"/>
            <a:ext cx="3383280" cy="1463040"/>
          </a:xfrm>
          <a:prstGeom prst="rect">
            <a:avLst/>
          </a:prstGeom>
          <a:solidFill>
            <a:srgbClr val="E8F2EA"/>
          </a:solidFill>
          <a:ln w="12700">
            <a:solidFill>
              <a:srgbClr val="E8F2EA"/>
            </a:solidFill>
            <a:prstDash val="solid"/>
          </a:ln>
        </p:spPr>
      </p:sp>
      <p:sp>
        <p:nvSpPr>
          <p:cNvPr id="50" name="Shape 48"/>
          <p:cNvSpPr/>
          <p:nvPr/>
        </p:nvSpPr>
        <p:spPr>
          <a:xfrm>
            <a:off x="7882128" y="3913632"/>
            <a:ext cx="73152" cy="1463040"/>
          </a:xfrm>
          <a:prstGeom prst="rect">
            <a:avLst/>
          </a:prstGeom>
          <a:solidFill>
            <a:srgbClr val="4E8B61"/>
          </a:solidFill>
          <a:ln w="12700">
            <a:solidFill>
              <a:srgbClr val="4E8B61"/>
            </a:solidFill>
            <a:prstDash val="solid"/>
          </a:ln>
        </p:spPr>
      </p:sp>
      <p:sp>
        <p:nvSpPr>
          <p:cNvPr id="51" name="Shape 49"/>
          <p:cNvSpPr/>
          <p:nvPr/>
        </p:nvSpPr>
        <p:spPr>
          <a:xfrm>
            <a:off x="8028432" y="4041648"/>
            <a:ext cx="475488" cy="27432"/>
          </a:xfrm>
          <a:prstGeom prst="rect">
            <a:avLst/>
          </a:prstGeom>
          <a:solidFill>
            <a:srgbClr val="4E8B61"/>
          </a:solidFill>
          <a:ln w="12700">
            <a:solidFill>
              <a:srgbClr val="4E8B61"/>
            </a:solidFill>
            <a:prstDash val="solid"/>
          </a:ln>
        </p:spPr>
      </p:sp>
      <p:sp>
        <p:nvSpPr>
          <p:cNvPr id="52" name="Text 50"/>
          <p:cNvSpPr/>
          <p:nvPr/>
        </p:nvSpPr>
        <p:spPr>
          <a:xfrm>
            <a:off x="8083296" y="4133088"/>
            <a:ext cx="3072384" cy="219456"/>
          </a:xfrm>
          <a:prstGeom prst="rect">
            <a:avLst/>
          </a:prstGeom>
          <a:noFill/>
          <a:ln/>
        </p:spPr>
        <p:txBody>
          <a:bodyPr wrap="square" rtlCol="0" anchor="ctr"/>
          <a:lstStyle/>
          <a:p>
            <a:pPr indent="0" marL="0">
              <a:buNone/>
            </a:pPr>
            <a:r>
              <a:rPr lang="en-US" sz="1450" b="1" dirty="0">
                <a:solidFill>
                  <a:srgbClr val="0E1B2A"/>
                </a:solidFill>
                <a:latin typeface="Bahnschrift" pitchFamily="34" charset="0"/>
                <a:ea typeface="Bahnschrift" pitchFamily="34" charset="-122"/>
                <a:cs typeface="Bahnschrift" pitchFamily="34" charset="-120"/>
              </a:rPr>
              <a:t>Lợi ích kiến trúc</a:t>
            </a:r>
            <a:endParaRPr lang="en-US" sz="1450" dirty="0"/>
          </a:p>
        </p:txBody>
      </p:sp>
      <p:sp>
        <p:nvSpPr>
          <p:cNvPr id="53" name="Text 51"/>
          <p:cNvSpPr/>
          <p:nvPr/>
        </p:nvSpPr>
        <p:spPr>
          <a:xfrm>
            <a:off x="8083296" y="4462272"/>
            <a:ext cx="3072384" cy="786384"/>
          </a:xfrm>
          <a:prstGeom prst="rect">
            <a:avLst/>
          </a:prstGeom>
          <a:noFill/>
          <a:ln/>
        </p:spPr>
        <p:txBody>
          <a:bodyPr wrap="square" lIns="254" tIns="254" rIns="254" bIns="254" rtlCol="0" anchor="t"/>
          <a:lstStyle/>
          <a:p>
            <a:pPr indent="0" marL="0">
              <a:buNone/>
            </a:pPr>
            <a:r>
              <a:rPr lang="en-US" sz="1050" dirty="0">
                <a:solidFill>
                  <a:srgbClr val="41576D"/>
                </a:solidFill>
                <a:latin typeface="Aptos" pitchFamily="34" charset="0"/>
                <a:ea typeface="Aptos" pitchFamily="34" charset="-122"/>
                <a:cs typeface="Aptos" pitchFamily="34" charset="-120"/>
              </a:rPr>
              <a:t>Kiến trúc này tái sử dụng được lõi scoring batch cũ, đồng thời đặt runtime boundary rõ ràng cho bài toán near-real-time IDS.</a:t>
            </a:r>
            <a:endParaRPr lang="en-US" sz="1050" dirty="0"/>
          </a:p>
        </p:txBody>
      </p:sp>
      <p:sp>
        <p:nvSpPr>
          <p:cNvPr id="54" name="Text 52"/>
          <p:cNvSpPr/>
          <p:nvPr/>
        </p:nvSpPr>
        <p:spPr>
          <a:xfrm>
            <a:off x="548640" y="6473952"/>
            <a:ext cx="9509760" cy="164592"/>
          </a:xfrm>
          <a:prstGeom prst="rect">
            <a:avLst/>
          </a:prstGeom>
          <a:noFill/>
          <a:ln/>
        </p:spPr>
        <p:txBody>
          <a:bodyPr wrap="square" rtlCol="0" anchor="ctr"/>
          <a:lstStyle/>
          <a:p>
            <a:pPr indent="0" marL="0">
              <a:buNone/>
            </a:pPr>
            <a:r>
              <a:rPr lang="en-US" sz="900" dirty="0">
                <a:solidFill>
                  <a:srgbClr val="7A7A76"/>
                </a:solidFill>
                <a:latin typeface="Aptos" pitchFamily="34" charset="0"/>
                <a:ea typeface="Aptos" pitchFamily="34" charset="-122"/>
                <a:cs typeface="Aptos" pitchFamily="34" charset="-120"/>
              </a:rPr>
              <a:t>Khi thuyết trình nên nhấn mạnh sự tách biệt giữa model alert và pipeline/schema anomaly.</a:t>
            </a:r>
            <a:endParaRPr lang="en-US" sz="900" dirty="0"/>
          </a:p>
        </p:txBody>
      </p:sp>
      <p:sp>
        <p:nvSpPr>
          <p:cNvPr id="25" name="Slide Number Placeholder 0"/>
          <p:cNvSpPr>
            <a:spLocks noGrp="1"/>
          </p:cNvSpPr>
          <p:nvPr>
            <p:ph type="sldNum" sz="quarter" idx="4294967295"/>
          </p:nvPr>
        </p:nvSpPr>
        <p:spPr>
          <a:xfrm>
            <a:off x="11475720" y="6446520"/>
            <a:ext cx="32004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7A7A76"/>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CF8F2"/>
        </a:solidFill>
      </p:bgPr>
    </p:bg>
    <p:spTree>
      <p:nvGrpSpPr>
        <p:cNvPr id="1" name=""/>
        <p:cNvGrpSpPr/>
        <p:nvPr/>
      </p:nvGrpSpPr>
      <p:grpSpPr>
        <a:xfrm>
          <a:off x="0" y="0"/>
          <a:ext cx="0" cy="0"/>
          <a:chOff x="0" y="0"/>
          <a:chExt cx="0" cy="0"/>
        </a:xfrm>
      </p:grpSpPr>
      <p:sp>
        <p:nvSpPr>
          <p:cNvPr id="2" name="Shape 0"/>
          <p:cNvSpPr/>
          <p:nvPr/>
        </p:nvSpPr>
        <p:spPr>
          <a:xfrm>
            <a:off x="0" y="0"/>
            <a:ext cx="12191695" cy="219456"/>
          </a:xfrm>
          <a:prstGeom prst="rect">
            <a:avLst/>
          </a:prstGeom>
          <a:solidFill>
            <a:srgbClr val="0E1B2A"/>
          </a:solidFill>
          <a:ln w="12700">
            <a:solidFill>
              <a:srgbClr val="0E1B2A"/>
            </a:solidFill>
            <a:prstDash val="solid"/>
          </a:ln>
        </p:spPr>
      </p:sp>
      <p:sp>
        <p:nvSpPr>
          <p:cNvPr id="3" name="Shape 1"/>
          <p:cNvSpPr/>
          <p:nvPr/>
        </p:nvSpPr>
        <p:spPr>
          <a:xfrm>
            <a:off x="566928" y="713232"/>
            <a:ext cx="54864" cy="859536"/>
          </a:xfrm>
          <a:prstGeom prst="rect">
            <a:avLst/>
          </a:prstGeom>
          <a:solidFill>
            <a:srgbClr val="C96A2B"/>
          </a:solidFill>
          <a:ln w="12700">
            <a:solidFill>
              <a:srgbClr val="C96A2B"/>
            </a:solidFill>
            <a:prstDash val="solid"/>
          </a:ln>
        </p:spPr>
      </p:sp>
      <p:sp>
        <p:nvSpPr>
          <p:cNvPr id="4" name="Shape 2"/>
          <p:cNvSpPr/>
          <p:nvPr/>
        </p:nvSpPr>
        <p:spPr>
          <a:xfrm>
            <a:off x="9555480" y="822960"/>
            <a:ext cx="2011680" cy="36576"/>
          </a:xfrm>
          <a:prstGeom prst="rect">
            <a:avLst/>
          </a:prstGeom>
          <a:solidFill>
            <a:srgbClr val="C96A2B">
              <a:alpha val="72000"/>
            </a:srgbClr>
          </a:solidFill>
          <a:ln w="12700">
            <a:solidFill>
              <a:srgbClr val="C96A2B">
                <a:alpha val="72000"/>
              </a:srgbClr>
            </a:solidFill>
            <a:prstDash val="solid"/>
          </a:ln>
        </p:spPr>
      </p:sp>
      <p:sp>
        <p:nvSpPr>
          <p:cNvPr id="5" name="Shape 3"/>
          <p:cNvSpPr/>
          <p:nvPr/>
        </p:nvSpPr>
        <p:spPr>
          <a:xfrm>
            <a:off x="10469880" y="292608"/>
            <a:ext cx="1078992" cy="1078992"/>
          </a:xfrm>
          <a:prstGeom prst="ellipse">
            <a:avLst/>
          </a:prstGeom>
          <a:solidFill>
            <a:srgbClr val="C96A2B">
              <a:alpha val="0"/>
            </a:srgbClr>
          </a:solidFill>
          <a:ln w="12700">
            <a:solidFill>
              <a:srgbClr val="C96A2B">
                <a:alpha val="18000"/>
              </a:srgbClr>
            </a:solidFill>
            <a:prstDash val="solid"/>
          </a:ln>
        </p:spPr>
      </p:sp>
      <p:sp>
        <p:nvSpPr>
          <p:cNvPr id="6" name="Shape 4"/>
          <p:cNvSpPr/>
          <p:nvPr/>
        </p:nvSpPr>
        <p:spPr>
          <a:xfrm>
            <a:off x="73152" y="5257800"/>
            <a:ext cx="987552" cy="987552"/>
          </a:xfrm>
          <a:prstGeom prst="ellipse">
            <a:avLst/>
          </a:prstGeom>
          <a:solidFill>
            <a:srgbClr val="2B7A78">
              <a:alpha val="0"/>
            </a:srgbClr>
          </a:solidFill>
          <a:ln w="12700">
            <a:solidFill>
              <a:srgbClr val="2B7A78">
                <a:alpha val="14000"/>
              </a:srgbClr>
            </a:solidFill>
            <a:prstDash val="solid"/>
          </a:ln>
        </p:spPr>
      </p:sp>
      <p:sp>
        <p:nvSpPr>
          <p:cNvPr id="7" name="Text 5"/>
          <p:cNvSpPr/>
          <p:nvPr/>
        </p:nvSpPr>
        <p:spPr>
          <a:xfrm>
            <a:off x="768096" y="603504"/>
            <a:ext cx="4023360" cy="237744"/>
          </a:xfrm>
          <a:prstGeom prst="rect">
            <a:avLst/>
          </a:prstGeom>
          <a:noFill/>
          <a:ln/>
        </p:spPr>
        <p:txBody>
          <a:bodyPr wrap="square" rtlCol="0" anchor="ctr"/>
          <a:lstStyle/>
          <a:p>
            <a:pPr indent="0" marL="0">
              <a:buNone/>
            </a:pPr>
            <a:r>
              <a:rPr lang="en-US" sz="1100" b="1" dirty="0">
                <a:solidFill>
                  <a:srgbClr val="C96A2B"/>
                </a:solidFill>
                <a:latin typeface="Bahnschrift" pitchFamily="34" charset="0"/>
                <a:ea typeface="Bahnschrift" pitchFamily="34" charset="-122"/>
                <a:cs typeface="Bahnschrift" pitchFamily="34" charset="-120"/>
              </a:rPr>
              <a:t>10  IDS TRÊN HOST THẬT</a:t>
            </a:r>
            <a:endParaRPr lang="en-US" sz="1100" dirty="0"/>
          </a:p>
        </p:txBody>
      </p:sp>
      <p:sp>
        <p:nvSpPr>
          <p:cNvPr id="8" name="Text 6"/>
          <p:cNvSpPr/>
          <p:nvPr/>
        </p:nvSpPr>
        <p:spPr>
          <a:xfrm>
            <a:off x="768096" y="859536"/>
            <a:ext cx="8001000" cy="457200"/>
          </a:xfrm>
          <a:prstGeom prst="rect">
            <a:avLst/>
          </a:prstGeom>
          <a:noFill/>
          <a:ln/>
        </p:spPr>
        <p:txBody>
          <a:bodyPr wrap="square" rtlCol="0" anchor="ctr"/>
          <a:lstStyle/>
          <a:p>
            <a:pPr indent="0" marL="0">
              <a:buNone/>
            </a:pPr>
            <a:r>
              <a:rPr lang="en-US" sz="2500" b="1" dirty="0">
                <a:solidFill>
                  <a:srgbClr val="0E1B2A"/>
                </a:solidFill>
                <a:latin typeface="Bahnschrift" pitchFamily="34" charset="0"/>
                <a:ea typeface="Bahnschrift" pitchFamily="34" charset="-122"/>
                <a:cs typeface="Bahnschrift" pitchFamily="34" charset="-120"/>
              </a:rPr>
              <a:t>Live host-based sensor</a:t>
            </a:r>
            <a:endParaRPr lang="en-US" sz="2500" dirty="0"/>
          </a:p>
        </p:txBody>
      </p:sp>
      <p:sp>
        <p:nvSpPr>
          <p:cNvPr id="9" name="Shape 7"/>
          <p:cNvSpPr/>
          <p:nvPr/>
        </p:nvSpPr>
        <p:spPr>
          <a:xfrm>
            <a:off x="768096" y="1389888"/>
            <a:ext cx="1965960" cy="36576"/>
          </a:xfrm>
          <a:prstGeom prst="rect">
            <a:avLst/>
          </a:prstGeom>
          <a:solidFill>
            <a:srgbClr val="C96A2B"/>
          </a:solidFill>
          <a:ln w="12700">
            <a:solidFill>
              <a:srgbClr val="C96A2B"/>
            </a:solidFill>
            <a:prstDash val="solid"/>
          </a:ln>
        </p:spPr>
      </p:sp>
      <p:sp>
        <p:nvSpPr>
          <p:cNvPr id="10" name="Text 8"/>
          <p:cNvSpPr/>
          <p:nvPr/>
        </p:nvSpPr>
        <p:spPr>
          <a:xfrm>
            <a:off x="10808208" y="566928"/>
            <a:ext cx="502920" cy="237744"/>
          </a:xfrm>
          <a:prstGeom prst="rect">
            <a:avLst/>
          </a:prstGeom>
          <a:noFill/>
          <a:ln/>
        </p:spPr>
        <p:txBody>
          <a:bodyPr wrap="square" rtlCol="0" anchor="ctr"/>
          <a:lstStyle/>
          <a:p>
            <a:pPr algn="r" indent="0" marL="0">
              <a:buNone/>
            </a:pPr>
            <a:r>
              <a:rPr lang="en-US" sz="1200" b="1" dirty="0">
                <a:solidFill>
                  <a:srgbClr val="7A7A76"/>
                </a:solidFill>
                <a:latin typeface="Bahnschrift" pitchFamily="34" charset="0"/>
                <a:ea typeface="Bahnschrift" pitchFamily="34" charset="-122"/>
                <a:cs typeface="Bahnschrift" pitchFamily="34" charset="-120"/>
              </a:rPr>
              <a:t>11</a:t>
            </a:r>
            <a:endParaRPr lang="en-US" sz="1200" dirty="0"/>
          </a:p>
        </p:txBody>
      </p:sp>
      <p:sp>
        <p:nvSpPr>
          <p:cNvPr id="11" name="Shape 9"/>
          <p:cNvSpPr/>
          <p:nvPr/>
        </p:nvSpPr>
        <p:spPr>
          <a:xfrm>
            <a:off x="749808" y="2011680"/>
            <a:ext cx="1691640" cy="1078992"/>
          </a:xfrm>
          <a:prstGeom prst="rect">
            <a:avLst/>
          </a:prstGeom>
          <a:solidFill>
            <a:srgbClr val="E7F0F6"/>
          </a:solidFill>
          <a:ln w="12700">
            <a:solidFill>
              <a:srgbClr val="E7F0F6"/>
            </a:solidFill>
            <a:prstDash val="solid"/>
          </a:ln>
        </p:spPr>
      </p:sp>
      <p:sp>
        <p:nvSpPr>
          <p:cNvPr id="12" name="Text 10"/>
          <p:cNvSpPr/>
          <p:nvPr/>
        </p:nvSpPr>
        <p:spPr>
          <a:xfrm>
            <a:off x="859536" y="2157984"/>
            <a:ext cx="1472184" cy="201168"/>
          </a:xfrm>
          <a:prstGeom prst="rect">
            <a:avLst/>
          </a:prstGeom>
          <a:noFill/>
          <a:ln/>
        </p:spPr>
        <p:txBody>
          <a:bodyPr wrap="square" rtlCol="0" anchor="ctr"/>
          <a:lstStyle/>
          <a:p>
            <a:pPr algn="ctr" indent="0" marL="0">
              <a:buNone/>
            </a:pPr>
            <a:r>
              <a:rPr lang="en-US" sz="1200" b="1" dirty="0">
                <a:solidFill>
                  <a:srgbClr val="0E1B2A"/>
                </a:solidFill>
                <a:latin typeface="Bahnschrift" pitchFamily="34" charset="0"/>
                <a:ea typeface="Bahnschrift" pitchFamily="34" charset="-122"/>
                <a:cs typeface="Bahnschrift" pitchFamily="34" charset="-120"/>
              </a:rPr>
              <a:t>dumpcap</a:t>
            </a:r>
            <a:endParaRPr lang="en-US" sz="1200" dirty="0"/>
          </a:p>
        </p:txBody>
      </p:sp>
      <p:sp>
        <p:nvSpPr>
          <p:cNvPr id="13" name="Text 11"/>
          <p:cNvSpPr/>
          <p:nvPr/>
        </p:nvSpPr>
        <p:spPr>
          <a:xfrm>
            <a:off x="859536" y="2450592"/>
            <a:ext cx="1472184" cy="548640"/>
          </a:xfrm>
          <a:prstGeom prst="rect">
            <a:avLst/>
          </a:prstGeom>
          <a:noFill/>
          <a:ln/>
        </p:spPr>
        <p:txBody>
          <a:bodyPr wrap="square" rtlCol="0" anchor="ctr"/>
          <a:lstStyle/>
          <a:p>
            <a:pPr algn="ctr" indent="0" marL="0">
              <a:buNone/>
            </a:pPr>
            <a:r>
              <a:rPr lang="en-US" sz="950" dirty="0">
                <a:solidFill>
                  <a:srgbClr val="0E1B2A"/>
                </a:solidFill>
                <a:latin typeface="Aptos" pitchFamily="34" charset="0"/>
                <a:ea typeface="Aptos" pitchFamily="34" charset="-122"/>
                <a:cs typeface="Aptos" pitchFamily="34" charset="-120"/>
              </a:rPr>
              <a:t>Capture rolling windows trên 1 NIC</a:t>
            </a:r>
            <a:endParaRPr lang="en-US" sz="950" dirty="0"/>
          </a:p>
        </p:txBody>
      </p:sp>
      <p:sp>
        <p:nvSpPr>
          <p:cNvPr id="14" name="Shape 12"/>
          <p:cNvSpPr/>
          <p:nvPr/>
        </p:nvSpPr>
        <p:spPr>
          <a:xfrm>
            <a:off x="2743200" y="2011680"/>
            <a:ext cx="1737360" cy="1078992"/>
          </a:xfrm>
          <a:prstGeom prst="rect">
            <a:avLst/>
          </a:prstGeom>
          <a:solidFill>
            <a:srgbClr val="E2F3F1"/>
          </a:solidFill>
          <a:ln w="12700">
            <a:solidFill>
              <a:srgbClr val="E2F3F1"/>
            </a:solidFill>
            <a:prstDash val="solid"/>
          </a:ln>
        </p:spPr>
      </p:sp>
      <p:sp>
        <p:nvSpPr>
          <p:cNvPr id="15" name="Text 13"/>
          <p:cNvSpPr/>
          <p:nvPr/>
        </p:nvSpPr>
        <p:spPr>
          <a:xfrm>
            <a:off x="2852928" y="2157984"/>
            <a:ext cx="1517904" cy="201168"/>
          </a:xfrm>
          <a:prstGeom prst="rect">
            <a:avLst/>
          </a:prstGeom>
          <a:noFill/>
          <a:ln/>
        </p:spPr>
        <p:txBody>
          <a:bodyPr wrap="square" rtlCol="0" anchor="ctr"/>
          <a:lstStyle/>
          <a:p>
            <a:pPr algn="ctr" indent="0" marL="0">
              <a:buNone/>
            </a:pPr>
            <a:r>
              <a:rPr lang="en-US" sz="1200" b="1" dirty="0">
                <a:solidFill>
                  <a:srgbClr val="0E1B2A"/>
                </a:solidFill>
                <a:latin typeface="Bahnschrift" pitchFamily="34" charset="0"/>
                <a:ea typeface="Bahnschrift" pitchFamily="34" charset="-122"/>
                <a:cs typeface="Bahnschrift" pitchFamily="34" charset="-120"/>
              </a:rPr>
              <a:t>LiveFlowBridge</a:t>
            </a:r>
            <a:endParaRPr lang="en-US" sz="1200" dirty="0"/>
          </a:p>
        </p:txBody>
      </p:sp>
      <p:sp>
        <p:nvSpPr>
          <p:cNvPr id="16" name="Text 14"/>
          <p:cNvSpPr/>
          <p:nvPr/>
        </p:nvSpPr>
        <p:spPr>
          <a:xfrm>
            <a:off x="2852928" y="2450592"/>
            <a:ext cx="1517904" cy="548640"/>
          </a:xfrm>
          <a:prstGeom prst="rect">
            <a:avLst/>
          </a:prstGeom>
          <a:noFill/>
          <a:ln/>
        </p:spPr>
        <p:txBody>
          <a:bodyPr wrap="square" rtlCol="0" anchor="ctr"/>
          <a:lstStyle/>
          <a:p>
            <a:pPr algn="ctr" indent="0" marL="0">
              <a:buNone/>
            </a:pPr>
            <a:r>
              <a:rPr lang="en-US" sz="950" dirty="0">
                <a:solidFill>
                  <a:srgbClr val="0E1B2A"/>
                </a:solidFill>
                <a:latin typeface="Aptos" pitchFamily="34" charset="0"/>
                <a:ea typeface="Aptos" pitchFamily="34" charset="-122"/>
                <a:cs typeface="Aptos" pitchFamily="34" charset="-120"/>
              </a:rPr>
              <a:t>Đóng cửa sổ capture thành flow records</a:t>
            </a:r>
            <a:endParaRPr lang="en-US" sz="950" dirty="0"/>
          </a:p>
        </p:txBody>
      </p:sp>
      <p:sp>
        <p:nvSpPr>
          <p:cNvPr id="17" name="Shape 15"/>
          <p:cNvSpPr/>
          <p:nvPr/>
        </p:nvSpPr>
        <p:spPr>
          <a:xfrm>
            <a:off x="4754880" y="2011680"/>
            <a:ext cx="1783080" cy="1078992"/>
          </a:xfrm>
          <a:prstGeom prst="rect">
            <a:avLst/>
          </a:prstGeom>
          <a:solidFill>
            <a:srgbClr val="F6E7DA"/>
          </a:solidFill>
          <a:ln w="12700">
            <a:solidFill>
              <a:srgbClr val="F6E7DA"/>
            </a:solidFill>
            <a:prstDash val="solid"/>
          </a:ln>
        </p:spPr>
      </p:sp>
      <p:sp>
        <p:nvSpPr>
          <p:cNvPr id="18" name="Text 16"/>
          <p:cNvSpPr/>
          <p:nvPr/>
        </p:nvSpPr>
        <p:spPr>
          <a:xfrm>
            <a:off x="4864608" y="2157984"/>
            <a:ext cx="1563624" cy="201168"/>
          </a:xfrm>
          <a:prstGeom prst="rect">
            <a:avLst/>
          </a:prstGeom>
          <a:noFill/>
          <a:ln/>
        </p:spPr>
        <p:txBody>
          <a:bodyPr wrap="square" rtlCol="0" anchor="ctr"/>
          <a:lstStyle/>
          <a:p>
            <a:pPr algn="ctr" indent="0" marL="0">
              <a:buNone/>
            </a:pPr>
            <a:r>
              <a:rPr lang="en-US" sz="1200" b="1" dirty="0">
                <a:solidFill>
                  <a:srgbClr val="0E1B2A"/>
                </a:solidFill>
                <a:latin typeface="Bahnschrift" pitchFamily="34" charset="0"/>
                <a:ea typeface="Bahnschrift" pitchFamily="34" charset="-122"/>
                <a:cs typeface="Bahnschrift" pitchFamily="34" charset="-120"/>
              </a:rPr>
              <a:t>Adapter + Runtime</a:t>
            </a:r>
            <a:endParaRPr lang="en-US" sz="1200" dirty="0"/>
          </a:p>
        </p:txBody>
      </p:sp>
      <p:sp>
        <p:nvSpPr>
          <p:cNvPr id="19" name="Text 17"/>
          <p:cNvSpPr/>
          <p:nvPr/>
        </p:nvSpPr>
        <p:spPr>
          <a:xfrm>
            <a:off x="4864608" y="2450592"/>
            <a:ext cx="1563624" cy="548640"/>
          </a:xfrm>
          <a:prstGeom prst="rect">
            <a:avLst/>
          </a:prstGeom>
          <a:noFill/>
          <a:ln/>
        </p:spPr>
        <p:txBody>
          <a:bodyPr wrap="square" rtlCol="0" anchor="ctr"/>
          <a:lstStyle/>
          <a:p>
            <a:pPr algn="ctr" indent="0" marL="0">
              <a:buNone/>
            </a:pPr>
            <a:r>
              <a:rPr lang="en-US" sz="950" dirty="0">
                <a:solidFill>
                  <a:srgbClr val="0E1B2A"/>
                </a:solidFill>
                <a:latin typeface="Aptos" pitchFamily="34" charset="0"/>
                <a:ea typeface="Aptos" pitchFamily="34" charset="-122"/>
                <a:cs typeface="Aptos" pitchFamily="34" charset="-120"/>
              </a:rPr>
              <a:t>Validate, micro-batch, score</a:t>
            </a:r>
            <a:endParaRPr lang="en-US" sz="950" dirty="0"/>
          </a:p>
        </p:txBody>
      </p:sp>
      <p:sp>
        <p:nvSpPr>
          <p:cNvPr id="20" name="Shape 18"/>
          <p:cNvSpPr/>
          <p:nvPr/>
        </p:nvSpPr>
        <p:spPr>
          <a:xfrm>
            <a:off x="6830568" y="2011680"/>
            <a:ext cx="1600200" cy="1078992"/>
          </a:xfrm>
          <a:prstGeom prst="rect">
            <a:avLst/>
          </a:prstGeom>
          <a:solidFill>
            <a:srgbClr val="E8F2EA"/>
          </a:solidFill>
          <a:ln w="12700">
            <a:solidFill>
              <a:srgbClr val="E8F2EA"/>
            </a:solidFill>
            <a:prstDash val="solid"/>
          </a:ln>
        </p:spPr>
      </p:sp>
      <p:sp>
        <p:nvSpPr>
          <p:cNvPr id="21" name="Text 19"/>
          <p:cNvSpPr/>
          <p:nvPr/>
        </p:nvSpPr>
        <p:spPr>
          <a:xfrm>
            <a:off x="6940296" y="2157984"/>
            <a:ext cx="1380744" cy="201168"/>
          </a:xfrm>
          <a:prstGeom prst="rect">
            <a:avLst/>
          </a:prstGeom>
          <a:noFill/>
          <a:ln/>
        </p:spPr>
        <p:txBody>
          <a:bodyPr wrap="square" rtlCol="0" anchor="ctr"/>
          <a:lstStyle/>
          <a:p>
            <a:pPr algn="ctr" indent="0" marL="0">
              <a:buNone/>
            </a:pPr>
            <a:r>
              <a:rPr lang="en-US" sz="1200" b="1" dirty="0">
                <a:solidFill>
                  <a:srgbClr val="0E1B2A"/>
                </a:solidFill>
                <a:latin typeface="Bahnschrift" pitchFamily="34" charset="0"/>
                <a:ea typeface="Bahnschrift" pitchFamily="34" charset="-122"/>
                <a:cs typeface="Bahnschrift" pitchFamily="34" charset="-120"/>
              </a:rPr>
              <a:t>LocalSink</a:t>
            </a:r>
            <a:endParaRPr lang="en-US" sz="1200" dirty="0"/>
          </a:p>
        </p:txBody>
      </p:sp>
      <p:sp>
        <p:nvSpPr>
          <p:cNvPr id="22" name="Text 20"/>
          <p:cNvSpPr/>
          <p:nvPr/>
        </p:nvSpPr>
        <p:spPr>
          <a:xfrm>
            <a:off x="6940296" y="2450592"/>
            <a:ext cx="1380744" cy="548640"/>
          </a:xfrm>
          <a:prstGeom prst="rect">
            <a:avLst/>
          </a:prstGeom>
          <a:noFill/>
          <a:ln/>
        </p:spPr>
        <p:txBody>
          <a:bodyPr wrap="square" rtlCol="0" anchor="ctr"/>
          <a:lstStyle/>
          <a:p>
            <a:pPr algn="ctr" indent="0" marL="0">
              <a:buNone/>
            </a:pPr>
            <a:r>
              <a:rPr lang="en-US" sz="950" dirty="0">
                <a:solidFill>
                  <a:srgbClr val="0E1B2A"/>
                </a:solidFill>
                <a:latin typeface="Aptos" pitchFamily="34" charset="0"/>
                <a:ea typeface="Aptos" pitchFamily="34" charset="-122"/>
                <a:cs typeface="Aptos" pitchFamily="34" charset="-120"/>
              </a:rPr>
              <a:t>JSONL + journald + summary</a:t>
            </a:r>
            <a:endParaRPr lang="en-US" sz="950" dirty="0"/>
          </a:p>
        </p:txBody>
      </p:sp>
      <p:sp>
        <p:nvSpPr>
          <p:cNvPr id="23" name="Shape 21"/>
          <p:cNvSpPr/>
          <p:nvPr/>
        </p:nvSpPr>
        <p:spPr>
          <a:xfrm>
            <a:off x="8732520" y="1481328"/>
            <a:ext cx="1828800" cy="868680"/>
          </a:xfrm>
          <a:prstGeom prst="rect">
            <a:avLst/>
          </a:prstGeom>
          <a:solidFill>
            <a:srgbClr val="E7F0F6"/>
          </a:solidFill>
          <a:ln w="12700">
            <a:solidFill>
              <a:srgbClr val="E7F0F6"/>
            </a:solidFill>
            <a:prstDash val="solid"/>
          </a:ln>
        </p:spPr>
      </p:sp>
      <p:sp>
        <p:nvSpPr>
          <p:cNvPr id="24" name="Text 22"/>
          <p:cNvSpPr/>
          <p:nvPr/>
        </p:nvSpPr>
        <p:spPr>
          <a:xfrm>
            <a:off x="8842248" y="1627632"/>
            <a:ext cx="1609344" cy="201168"/>
          </a:xfrm>
          <a:prstGeom prst="rect">
            <a:avLst/>
          </a:prstGeom>
          <a:noFill/>
          <a:ln/>
        </p:spPr>
        <p:txBody>
          <a:bodyPr wrap="square" rtlCol="0" anchor="ctr"/>
          <a:lstStyle/>
          <a:p>
            <a:pPr algn="ctr" indent="0" marL="0">
              <a:buNone/>
            </a:pPr>
            <a:r>
              <a:rPr lang="en-US" sz="1200" b="1" dirty="0">
                <a:solidFill>
                  <a:srgbClr val="0E1B2A"/>
                </a:solidFill>
                <a:latin typeface="Bahnschrift" pitchFamily="34" charset="0"/>
                <a:ea typeface="Bahnschrift" pitchFamily="34" charset="-122"/>
                <a:cs typeface="Bahnschrift" pitchFamily="34" charset="-120"/>
              </a:rPr>
              <a:t>Positive alerts</a:t>
            </a:r>
            <a:endParaRPr lang="en-US" sz="1200" dirty="0"/>
          </a:p>
        </p:txBody>
      </p:sp>
      <p:sp>
        <p:nvSpPr>
          <p:cNvPr id="25" name="Text 23"/>
          <p:cNvSpPr/>
          <p:nvPr/>
        </p:nvSpPr>
        <p:spPr>
          <a:xfrm>
            <a:off x="8842248" y="1920240"/>
            <a:ext cx="1609344" cy="338328"/>
          </a:xfrm>
          <a:prstGeom prst="rect">
            <a:avLst/>
          </a:prstGeom>
          <a:noFill/>
          <a:ln/>
        </p:spPr>
        <p:txBody>
          <a:bodyPr wrap="square" rtlCol="0" anchor="ctr"/>
          <a:lstStyle/>
          <a:p>
            <a:pPr algn="ctr" indent="0" marL="0">
              <a:buNone/>
            </a:pPr>
            <a:r>
              <a:rPr lang="en-US" sz="950" dirty="0">
                <a:solidFill>
                  <a:srgbClr val="0E1B2A"/>
                </a:solidFill>
                <a:latin typeface="Aptos" pitchFamily="34" charset="0"/>
                <a:ea typeface="Aptos" pitchFamily="34" charset="-122"/>
                <a:cs typeface="Aptos" pitchFamily="34" charset="-120"/>
              </a:rPr>
              <a:t>Chỉ persist alert dương</a:t>
            </a:r>
            <a:endParaRPr lang="en-US" sz="950" dirty="0"/>
          </a:p>
        </p:txBody>
      </p:sp>
      <p:sp>
        <p:nvSpPr>
          <p:cNvPr id="26" name="Shape 24"/>
          <p:cNvSpPr/>
          <p:nvPr/>
        </p:nvSpPr>
        <p:spPr>
          <a:xfrm>
            <a:off x="8732520" y="2487168"/>
            <a:ext cx="1828800" cy="868680"/>
          </a:xfrm>
          <a:prstGeom prst="rect">
            <a:avLst/>
          </a:prstGeom>
          <a:solidFill>
            <a:srgbClr val="F7E4E4"/>
          </a:solidFill>
          <a:ln w="12700">
            <a:solidFill>
              <a:srgbClr val="F7E4E4"/>
            </a:solidFill>
            <a:prstDash val="solid"/>
          </a:ln>
        </p:spPr>
      </p:sp>
      <p:sp>
        <p:nvSpPr>
          <p:cNvPr id="27" name="Text 25"/>
          <p:cNvSpPr/>
          <p:nvPr/>
        </p:nvSpPr>
        <p:spPr>
          <a:xfrm>
            <a:off x="8842248" y="2633472"/>
            <a:ext cx="1609344" cy="201168"/>
          </a:xfrm>
          <a:prstGeom prst="rect">
            <a:avLst/>
          </a:prstGeom>
          <a:noFill/>
          <a:ln/>
        </p:spPr>
        <p:txBody>
          <a:bodyPr wrap="square" rtlCol="0" anchor="ctr"/>
          <a:lstStyle/>
          <a:p>
            <a:pPr algn="ctr" indent="0" marL="0">
              <a:buNone/>
            </a:pPr>
            <a:r>
              <a:rPr lang="en-US" sz="1200" b="1" dirty="0">
                <a:solidFill>
                  <a:srgbClr val="0E1B2A"/>
                </a:solidFill>
                <a:latin typeface="Bahnschrift" pitchFamily="34" charset="0"/>
                <a:ea typeface="Bahnschrift" pitchFamily="34" charset="-122"/>
                <a:cs typeface="Bahnschrift" pitchFamily="34" charset="-120"/>
              </a:rPr>
              <a:t>Quarantine events</a:t>
            </a:r>
            <a:endParaRPr lang="en-US" sz="1200" dirty="0"/>
          </a:p>
        </p:txBody>
      </p:sp>
      <p:sp>
        <p:nvSpPr>
          <p:cNvPr id="28" name="Text 26"/>
          <p:cNvSpPr/>
          <p:nvPr/>
        </p:nvSpPr>
        <p:spPr>
          <a:xfrm>
            <a:off x="8842248" y="2926080"/>
            <a:ext cx="1609344" cy="338328"/>
          </a:xfrm>
          <a:prstGeom prst="rect">
            <a:avLst/>
          </a:prstGeom>
          <a:noFill/>
          <a:ln/>
        </p:spPr>
        <p:txBody>
          <a:bodyPr wrap="square" rtlCol="0" anchor="ctr"/>
          <a:lstStyle/>
          <a:p>
            <a:pPr algn="ctr" indent="0" marL="0">
              <a:buNone/>
            </a:pPr>
            <a:r>
              <a:rPr lang="en-US" sz="950" dirty="0">
                <a:solidFill>
                  <a:srgbClr val="0E1B2A"/>
                </a:solidFill>
                <a:latin typeface="Aptos" pitchFamily="34" charset="0"/>
                <a:ea typeface="Aptos" pitchFamily="34" charset="-122"/>
                <a:cs typeface="Aptos" pitchFamily="34" charset="-120"/>
              </a:rPr>
              <a:t>Lỗi contract / runtime</a:t>
            </a:r>
            <a:endParaRPr lang="en-US" sz="950" dirty="0"/>
          </a:p>
        </p:txBody>
      </p:sp>
      <p:sp>
        <p:nvSpPr>
          <p:cNvPr id="29" name="Shape 27"/>
          <p:cNvSpPr/>
          <p:nvPr/>
        </p:nvSpPr>
        <p:spPr>
          <a:xfrm>
            <a:off x="8732520" y="3493008"/>
            <a:ext cx="1828800" cy="868680"/>
          </a:xfrm>
          <a:prstGeom prst="rect">
            <a:avLst/>
          </a:prstGeom>
          <a:solidFill>
            <a:srgbClr val="E2F3F1"/>
          </a:solidFill>
          <a:ln w="12700">
            <a:solidFill>
              <a:srgbClr val="E2F3F1"/>
            </a:solidFill>
            <a:prstDash val="solid"/>
          </a:ln>
        </p:spPr>
      </p:sp>
      <p:sp>
        <p:nvSpPr>
          <p:cNvPr id="30" name="Text 28"/>
          <p:cNvSpPr/>
          <p:nvPr/>
        </p:nvSpPr>
        <p:spPr>
          <a:xfrm>
            <a:off x="8842248" y="3639312"/>
            <a:ext cx="1609344" cy="201168"/>
          </a:xfrm>
          <a:prstGeom prst="rect">
            <a:avLst/>
          </a:prstGeom>
          <a:noFill/>
          <a:ln/>
        </p:spPr>
        <p:txBody>
          <a:bodyPr wrap="square" rtlCol="0" anchor="ctr"/>
          <a:lstStyle/>
          <a:p>
            <a:pPr algn="ctr" indent="0" marL="0">
              <a:buNone/>
            </a:pPr>
            <a:r>
              <a:rPr lang="en-US" sz="1200" b="1" dirty="0">
                <a:solidFill>
                  <a:srgbClr val="0E1B2A"/>
                </a:solidFill>
                <a:latin typeface="Bahnschrift" pitchFamily="34" charset="0"/>
                <a:ea typeface="Bahnschrift" pitchFamily="34" charset="-122"/>
                <a:cs typeface="Bahnschrift" pitchFamily="34" charset="-120"/>
              </a:rPr>
              <a:t>Summary telemetry</a:t>
            </a:r>
            <a:endParaRPr lang="en-US" sz="1200" dirty="0"/>
          </a:p>
        </p:txBody>
      </p:sp>
      <p:sp>
        <p:nvSpPr>
          <p:cNvPr id="31" name="Text 29"/>
          <p:cNvSpPr/>
          <p:nvPr/>
        </p:nvSpPr>
        <p:spPr>
          <a:xfrm>
            <a:off x="8842248" y="3931920"/>
            <a:ext cx="1609344" cy="338328"/>
          </a:xfrm>
          <a:prstGeom prst="rect">
            <a:avLst/>
          </a:prstGeom>
          <a:noFill/>
          <a:ln/>
        </p:spPr>
        <p:txBody>
          <a:bodyPr wrap="square" rtlCol="0" anchor="ctr"/>
          <a:lstStyle/>
          <a:p>
            <a:pPr algn="ctr" indent="0" marL="0">
              <a:buNone/>
            </a:pPr>
            <a:r>
              <a:rPr lang="en-US" sz="950" dirty="0">
                <a:solidFill>
                  <a:srgbClr val="0E1B2A"/>
                </a:solidFill>
                <a:latin typeface="Aptos" pitchFamily="34" charset="0"/>
                <a:ea typeface="Aptos" pitchFamily="34" charset="-122"/>
                <a:cs typeface="Aptos" pitchFamily="34" charset="-120"/>
              </a:rPr>
              <a:t>Thống kê benign, queue, active bundle</a:t>
            </a:r>
            <a:endParaRPr lang="en-US" sz="950" dirty="0"/>
          </a:p>
        </p:txBody>
      </p:sp>
      <p:sp>
        <p:nvSpPr>
          <p:cNvPr id="32" name="Shape 30"/>
          <p:cNvSpPr/>
          <p:nvPr/>
        </p:nvSpPr>
        <p:spPr>
          <a:xfrm>
            <a:off x="2441448" y="2537460"/>
            <a:ext cx="301752" cy="32004"/>
          </a:xfrm>
          <a:prstGeom prst="rect">
            <a:avLst/>
          </a:prstGeom>
          <a:solidFill>
            <a:srgbClr val="41576D"/>
          </a:solidFill>
          <a:ln w="12700">
            <a:solidFill>
              <a:srgbClr val="41576D"/>
            </a:solidFill>
            <a:prstDash val="solid"/>
          </a:ln>
        </p:spPr>
      </p:sp>
      <p:sp>
        <p:nvSpPr>
          <p:cNvPr id="33" name="Shape 31"/>
          <p:cNvSpPr/>
          <p:nvPr/>
        </p:nvSpPr>
        <p:spPr>
          <a:xfrm>
            <a:off x="4480560" y="2537460"/>
            <a:ext cx="274320" cy="32004"/>
          </a:xfrm>
          <a:prstGeom prst="rect">
            <a:avLst/>
          </a:prstGeom>
          <a:solidFill>
            <a:srgbClr val="41576D"/>
          </a:solidFill>
          <a:ln w="12700">
            <a:solidFill>
              <a:srgbClr val="41576D"/>
            </a:solidFill>
            <a:prstDash val="solid"/>
          </a:ln>
        </p:spPr>
      </p:sp>
      <p:sp>
        <p:nvSpPr>
          <p:cNvPr id="34" name="Shape 32"/>
          <p:cNvSpPr/>
          <p:nvPr/>
        </p:nvSpPr>
        <p:spPr>
          <a:xfrm>
            <a:off x="6537960" y="2537460"/>
            <a:ext cx="292608" cy="32004"/>
          </a:xfrm>
          <a:prstGeom prst="rect">
            <a:avLst/>
          </a:prstGeom>
          <a:solidFill>
            <a:srgbClr val="41576D"/>
          </a:solidFill>
          <a:ln w="12700">
            <a:solidFill>
              <a:srgbClr val="41576D"/>
            </a:solidFill>
            <a:prstDash val="solid"/>
          </a:ln>
        </p:spPr>
      </p:sp>
      <p:sp>
        <p:nvSpPr>
          <p:cNvPr id="35" name="Shape 33"/>
          <p:cNvSpPr/>
          <p:nvPr/>
        </p:nvSpPr>
        <p:spPr>
          <a:xfrm>
            <a:off x="8430768" y="2212848"/>
            <a:ext cx="301752" cy="32004"/>
          </a:xfrm>
          <a:prstGeom prst="rect">
            <a:avLst/>
          </a:prstGeom>
          <a:solidFill>
            <a:srgbClr val="41576D"/>
          </a:solidFill>
          <a:ln w="12700">
            <a:solidFill>
              <a:srgbClr val="41576D"/>
            </a:solidFill>
            <a:prstDash val="solid"/>
          </a:ln>
        </p:spPr>
      </p:sp>
      <p:sp>
        <p:nvSpPr>
          <p:cNvPr id="36" name="Shape 34"/>
          <p:cNvSpPr/>
          <p:nvPr/>
        </p:nvSpPr>
        <p:spPr>
          <a:xfrm>
            <a:off x="8430768" y="2715768"/>
            <a:ext cx="301752" cy="32004"/>
          </a:xfrm>
          <a:prstGeom prst="rect">
            <a:avLst/>
          </a:prstGeom>
          <a:solidFill>
            <a:srgbClr val="41576D"/>
          </a:solidFill>
          <a:ln w="12700">
            <a:solidFill>
              <a:srgbClr val="41576D"/>
            </a:solidFill>
            <a:prstDash val="solid"/>
          </a:ln>
        </p:spPr>
      </p:sp>
      <p:sp>
        <p:nvSpPr>
          <p:cNvPr id="37" name="Shape 35"/>
          <p:cNvSpPr/>
          <p:nvPr/>
        </p:nvSpPr>
        <p:spPr>
          <a:xfrm>
            <a:off x="8430768" y="3218688"/>
            <a:ext cx="301752" cy="32004"/>
          </a:xfrm>
          <a:prstGeom prst="rect">
            <a:avLst/>
          </a:prstGeom>
          <a:solidFill>
            <a:srgbClr val="41576D"/>
          </a:solidFill>
          <a:ln w="12700">
            <a:solidFill>
              <a:srgbClr val="41576D"/>
            </a:solidFill>
            <a:prstDash val="solid"/>
          </a:ln>
        </p:spPr>
      </p:sp>
      <p:sp>
        <p:nvSpPr>
          <p:cNvPr id="38" name="Shape 36"/>
          <p:cNvSpPr/>
          <p:nvPr/>
        </p:nvSpPr>
        <p:spPr>
          <a:xfrm>
            <a:off x="868680" y="4526280"/>
            <a:ext cx="3383280" cy="1207008"/>
          </a:xfrm>
          <a:prstGeom prst="rect">
            <a:avLst/>
          </a:prstGeom>
          <a:solidFill>
            <a:srgbClr val="F6E7DA"/>
          </a:solidFill>
          <a:ln w="12700">
            <a:solidFill>
              <a:srgbClr val="F6E7DA"/>
            </a:solidFill>
            <a:prstDash val="solid"/>
          </a:ln>
        </p:spPr>
      </p:sp>
      <p:sp>
        <p:nvSpPr>
          <p:cNvPr id="39" name="Shape 37"/>
          <p:cNvSpPr/>
          <p:nvPr/>
        </p:nvSpPr>
        <p:spPr>
          <a:xfrm>
            <a:off x="868680" y="4526280"/>
            <a:ext cx="73152" cy="1207008"/>
          </a:xfrm>
          <a:prstGeom prst="rect">
            <a:avLst/>
          </a:prstGeom>
          <a:solidFill>
            <a:srgbClr val="C96A2B"/>
          </a:solidFill>
          <a:ln w="12700">
            <a:solidFill>
              <a:srgbClr val="C96A2B"/>
            </a:solidFill>
            <a:prstDash val="solid"/>
          </a:ln>
        </p:spPr>
      </p:sp>
      <p:sp>
        <p:nvSpPr>
          <p:cNvPr id="40" name="Shape 38"/>
          <p:cNvSpPr/>
          <p:nvPr/>
        </p:nvSpPr>
        <p:spPr>
          <a:xfrm>
            <a:off x="1014984" y="4654296"/>
            <a:ext cx="475488" cy="27432"/>
          </a:xfrm>
          <a:prstGeom prst="rect">
            <a:avLst/>
          </a:prstGeom>
          <a:solidFill>
            <a:srgbClr val="C96A2B"/>
          </a:solidFill>
          <a:ln w="12700">
            <a:solidFill>
              <a:srgbClr val="C96A2B"/>
            </a:solidFill>
            <a:prstDash val="solid"/>
          </a:ln>
        </p:spPr>
      </p:sp>
      <p:sp>
        <p:nvSpPr>
          <p:cNvPr id="41" name="Text 39"/>
          <p:cNvSpPr/>
          <p:nvPr/>
        </p:nvSpPr>
        <p:spPr>
          <a:xfrm>
            <a:off x="1069848" y="4745736"/>
            <a:ext cx="3072384" cy="219456"/>
          </a:xfrm>
          <a:prstGeom prst="rect">
            <a:avLst/>
          </a:prstGeom>
          <a:noFill/>
          <a:ln/>
        </p:spPr>
        <p:txBody>
          <a:bodyPr wrap="square" rtlCol="0" anchor="ctr"/>
          <a:lstStyle/>
          <a:p>
            <a:pPr indent="0" marL="0">
              <a:buNone/>
            </a:pPr>
            <a:r>
              <a:rPr lang="en-US" sz="1450" b="1" dirty="0">
                <a:solidFill>
                  <a:srgbClr val="0E1B2A"/>
                </a:solidFill>
                <a:latin typeface="Bahnschrift" pitchFamily="34" charset="0"/>
                <a:ea typeface="Bahnschrift" pitchFamily="34" charset="-122"/>
                <a:cs typeface="Bahnschrift" pitchFamily="34" charset="-120"/>
              </a:rPr>
              <a:t>Phạm vi V1</a:t>
            </a:r>
            <a:endParaRPr lang="en-US" sz="1450" dirty="0"/>
          </a:p>
        </p:txBody>
      </p:sp>
      <p:sp>
        <p:nvSpPr>
          <p:cNvPr id="42" name="Text 40"/>
          <p:cNvSpPr/>
          <p:nvPr/>
        </p:nvSpPr>
        <p:spPr>
          <a:xfrm>
            <a:off x="1069848" y="5074920"/>
            <a:ext cx="3072384" cy="530352"/>
          </a:xfrm>
          <a:prstGeom prst="rect">
            <a:avLst/>
          </a:prstGeom>
          <a:noFill/>
          <a:ln/>
        </p:spPr>
        <p:txBody>
          <a:bodyPr wrap="square" lIns="254" tIns="254" rIns="254" bIns="254" rtlCol="0" anchor="t"/>
          <a:lstStyle/>
          <a:p>
            <a:pPr indent="0" marL="0">
              <a:buNone/>
            </a:pPr>
            <a:r>
              <a:rPr lang="en-US" sz="1050" dirty="0">
                <a:solidFill>
                  <a:srgbClr val="41576D"/>
                </a:solidFill>
                <a:latin typeface="Aptos" pitchFamily="34" charset="0"/>
                <a:ea typeface="Aptos" pitchFamily="34" charset="-122"/>
                <a:cs typeface="Aptos" pitchFamily="34" charset="-120"/>
              </a:rPr>
              <a:t>Single host, single interface, chỉ TCP/UDP, local outputs và fail-fast khi gặp lỗi capture/runtime nghiêm trọng.</a:t>
            </a:r>
            <a:endParaRPr lang="en-US" sz="1050" dirty="0"/>
          </a:p>
        </p:txBody>
      </p:sp>
      <p:sp>
        <p:nvSpPr>
          <p:cNvPr id="43" name="Shape 41"/>
          <p:cNvSpPr/>
          <p:nvPr/>
        </p:nvSpPr>
        <p:spPr>
          <a:xfrm>
            <a:off x="4434840" y="4526280"/>
            <a:ext cx="3246120" cy="1207008"/>
          </a:xfrm>
          <a:prstGeom prst="rect">
            <a:avLst/>
          </a:prstGeom>
          <a:solidFill>
            <a:srgbClr val="E2F3F1"/>
          </a:solidFill>
          <a:ln w="12700">
            <a:solidFill>
              <a:srgbClr val="E2F3F1"/>
            </a:solidFill>
            <a:prstDash val="solid"/>
          </a:ln>
        </p:spPr>
      </p:sp>
      <p:sp>
        <p:nvSpPr>
          <p:cNvPr id="44" name="Shape 42"/>
          <p:cNvSpPr/>
          <p:nvPr/>
        </p:nvSpPr>
        <p:spPr>
          <a:xfrm>
            <a:off x="4434840" y="4526280"/>
            <a:ext cx="73152" cy="1207008"/>
          </a:xfrm>
          <a:prstGeom prst="rect">
            <a:avLst/>
          </a:prstGeom>
          <a:solidFill>
            <a:srgbClr val="2B7A78"/>
          </a:solidFill>
          <a:ln w="12700">
            <a:solidFill>
              <a:srgbClr val="2B7A78"/>
            </a:solidFill>
            <a:prstDash val="solid"/>
          </a:ln>
        </p:spPr>
      </p:sp>
      <p:sp>
        <p:nvSpPr>
          <p:cNvPr id="45" name="Shape 43"/>
          <p:cNvSpPr/>
          <p:nvPr/>
        </p:nvSpPr>
        <p:spPr>
          <a:xfrm>
            <a:off x="4581144" y="4654296"/>
            <a:ext cx="475488" cy="27432"/>
          </a:xfrm>
          <a:prstGeom prst="rect">
            <a:avLst/>
          </a:prstGeom>
          <a:solidFill>
            <a:srgbClr val="2B7A78"/>
          </a:solidFill>
          <a:ln w="12700">
            <a:solidFill>
              <a:srgbClr val="2B7A78"/>
            </a:solidFill>
            <a:prstDash val="solid"/>
          </a:ln>
        </p:spPr>
      </p:sp>
      <p:sp>
        <p:nvSpPr>
          <p:cNvPr id="46" name="Text 44"/>
          <p:cNvSpPr/>
          <p:nvPr/>
        </p:nvSpPr>
        <p:spPr>
          <a:xfrm>
            <a:off x="4636008" y="4745736"/>
            <a:ext cx="2935224" cy="219456"/>
          </a:xfrm>
          <a:prstGeom prst="rect">
            <a:avLst/>
          </a:prstGeom>
          <a:noFill/>
          <a:ln/>
        </p:spPr>
        <p:txBody>
          <a:bodyPr wrap="square" rtlCol="0" anchor="ctr"/>
          <a:lstStyle/>
          <a:p>
            <a:pPr indent="0" marL="0">
              <a:buNone/>
            </a:pPr>
            <a:r>
              <a:rPr lang="en-US" sz="1450" b="1" dirty="0">
                <a:solidFill>
                  <a:srgbClr val="0E1B2A"/>
                </a:solidFill>
                <a:latin typeface="Bahnschrift" pitchFamily="34" charset="0"/>
                <a:ea typeface="Bahnschrift" pitchFamily="34" charset="-122"/>
                <a:cs typeface="Bahnschrift" pitchFamily="34" charset="-120"/>
              </a:rPr>
              <a:t>Ý nghĩa hệ thống</a:t>
            </a:r>
            <a:endParaRPr lang="en-US" sz="1450" dirty="0"/>
          </a:p>
        </p:txBody>
      </p:sp>
      <p:sp>
        <p:nvSpPr>
          <p:cNvPr id="47" name="Text 45"/>
          <p:cNvSpPr/>
          <p:nvPr/>
        </p:nvSpPr>
        <p:spPr>
          <a:xfrm>
            <a:off x="4636008" y="5074920"/>
            <a:ext cx="2935224" cy="530352"/>
          </a:xfrm>
          <a:prstGeom prst="rect">
            <a:avLst/>
          </a:prstGeom>
          <a:noFill/>
          <a:ln/>
        </p:spPr>
        <p:txBody>
          <a:bodyPr wrap="square" lIns="254" tIns="254" rIns="254" bIns="254" rtlCol="0" anchor="t"/>
          <a:lstStyle/>
          <a:p>
            <a:pPr indent="0" marL="0">
              <a:buNone/>
            </a:pPr>
            <a:r>
              <a:rPr lang="en-US" sz="1050" dirty="0">
                <a:solidFill>
                  <a:srgbClr val="41576D"/>
                </a:solidFill>
                <a:latin typeface="Aptos" pitchFamily="34" charset="0"/>
                <a:ea typeface="Aptos" pitchFamily="34" charset="-122"/>
                <a:cs typeface="Aptos" pitchFamily="34" charset="-120"/>
              </a:rPr>
              <a:t>Đây là cầu nối quan trọng giữa model offline và một IDS có khả năng chạy liên tục trên Linux host thật.</a:t>
            </a:r>
            <a:endParaRPr lang="en-US" sz="1050" dirty="0"/>
          </a:p>
        </p:txBody>
      </p:sp>
      <p:sp>
        <p:nvSpPr>
          <p:cNvPr id="48" name="Shape 46"/>
          <p:cNvSpPr/>
          <p:nvPr/>
        </p:nvSpPr>
        <p:spPr>
          <a:xfrm>
            <a:off x="7863840" y="4526280"/>
            <a:ext cx="3291840" cy="1207008"/>
          </a:xfrm>
          <a:prstGeom prst="rect">
            <a:avLst/>
          </a:prstGeom>
          <a:solidFill>
            <a:srgbClr val="E8F2EA"/>
          </a:solidFill>
          <a:ln w="12700">
            <a:solidFill>
              <a:srgbClr val="E8F2EA"/>
            </a:solidFill>
            <a:prstDash val="solid"/>
          </a:ln>
        </p:spPr>
      </p:sp>
      <p:sp>
        <p:nvSpPr>
          <p:cNvPr id="49" name="Shape 47"/>
          <p:cNvSpPr/>
          <p:nvPr/>
        </p:nvSpPr>
        <p:spPr>
          <a:xfrm>
            <a:off x="7863840" y="4526280"/>
            <a:ext cx="73152" cy="1207008"/>
          </a:xfrm>
          <a:prstGeom prst="rect">
            <a:avLst/>
          </a:prstGeom>
          <a:solidFill>
            <a:srgbClr val="4E8B61"/>
          </a:solidFill>
          <a:ln w="12700">
            <a:solidFill>
              <a:srgbClr val="4E8B61"/>
            </a:solidFill>
            <a:prstDash val="solid"/>
          </a:ln>
        </p:spPr>
      </p:sp>
      <p:sp>
        <p:nvSpPr>
          <p:cNvPr id="50" name="Shape 48"/>
          <p:cNvSpPr/>
          <p:nvPr/>
        </p:nvSpPr>
        <p:spPr>
          <a:xfrm>
            <a:off x="8010144" y="4654296"/>
            <a:ext cx="475488" cy="27432"/>
          </a:xfrm>
          <a:prstGeom prst="rect">
            <a:avLst/>
          </a:prstGeom>
          <a:solidFill>
            <a:srgbClr val="4E8B61"/>
          </a:solidFill>
          <a:ln w="12700">
            <a:solidFill>
              <a:srgbClr val="4E8B61"/>
            </a:solidFill>
            <a:prstDash val="solid"/>
          </a:ln>
        </p:spPr>
      </p:sp>
      <p:sp>
        <p:nvSpPr>
          <p:cNvPr id="51" name="Text 49"/>
          <p:cNvSpPr/>
          <p:nvPr/>
        </p:nvSpPr>
        <p:spPr>
          <a:xfrm>
            <a:off x="8065008" y="4745736"/>
            <a:ext cx="2980944" cy="219456"/>
          </a:xfrm>
          <a:prstGeom prst="rect">
            <a:avLst/>
          </a:prstGeom>
          <a:noFill/>
          <a:ln/>
        </p:spPr>
        <p:txBody>
          <a:bodyPr wrap="square" rtlCol="0" anchor="ctr"/>
          <a:lstStyle/>
          <a:p>
            <a:pPr indent="0" marL="0">
              <a:buNone/>
            </a:pPr>
            <a:r>
              <a:rPr lang="en-US" sz="1450" b="1" dirty="0">
                <a:solidFill>
                  <a:srgbClr val="0E1B2A"/>
                </a:solidFill>
                <a:latin typeface="Bahnschrift" pitchFamily="34" charset="0"/>
                <a:ea typeface="Bahnschrift" pitchFamily="34" charset="-122"/>
                <a:cs typeface="Bahnschrift" pitchFamily="34" charset="-120"/>
              </a:rPr>
              <a:t>Giá trị khi trình bày</a:t>
            </a:r>
            <a:endParaRPr lang="en-US" sz="1450" dirty="0"/>
          </a:p>
        </p:txBody>
      </p:sp>
      <p:sp>
        <p:nvSpPr>
          <p:cNvPr id="52" name="Text 50"/>
          <p:cNvSpPr/>
          <p:nvPr/>
        </p:nvSpPr>
        <p:spPr>
          <a:xfrm>
            <a:off x="8065008" y="5074920"/>
            <a:ext cx="2980944" cy="530352"/>
          </a:xfrm>
          <a:prstGeom prst="rect">
            <a:avLst/>
          </a:prstGeom>
          <a:noFill/>
          <a:ln/>
        </p:spPr>
        <p:txBody>
          <a:bodyPr wrap="square" lIns="254" tIns="254" rIns="254" bIns="254" rtlCol="0" anchor="t"/>
          <a:lstStyle/>
          <a:p>
            <a:pPr indent="0" marL="0">
              <a:buNone/>
            </a:pPr>
            <a:r>
              <a:rPr lang="en-US" sz="1050" dirty="0">
                <a:solidFill>
                  <a:srgbClr val="41576D"/>
                </a:solidFill>
                <a:latin typeface="Aptos" pitchFamily="34" charset="0"/>
                <a:ea typeface="Aptos" pitchFamily="34" charset="-122"/>
                <a:cs typeface="Aptos" pitchFamily="34" charset="-120"/>
              </a:rPr>
              <a:t>Bạn có thể nhấn mạnh repo đã tiến tới live sensing thay vì dừng ở replay hoặc batch scoring.</a:t>
            </a:r>
            <a:endParaRPr lang="en-US" sz="1050" dirty="0"/>
          </a:p>
        </p:txBody>
      </p:sp>
      <p:sp>
        <p:nvSpPr>
          <p:cNvPr id="53" name="Text 51"/>
          <p:cNvSpPr/>
          <p:nvPr/>
        </p:nvSpPr>
        <p:spPr>
          <a:xfrm>
            <a:off x="548640" y="6473952"/>
            <a:ext cx="9509760" cy="164592"/>
          </a:xfrm>
          <a:prstGeom prst="rect">
            <a:avLst/>
          </a:prstGeom>
          <a:noFill/>
          <a:ln/>
        </p:spPr>
        <p:txBody>
          <a:bodyPr wrap="square" rtlCol="0" anchor="ctr"/>
          <a:lstStyle/>
          <a:p>
            <a:pPr indent="0" marL="0">
              <a:buNone/>
            </a:pPr>
            <a:r>
              <a:rPr lang="en-US" sz="900" dirty="0">
                <a:solidFill>
                  <a:srgbClr val="7A7A76"/>
                </a:solidFill>
                <a:latin typeface="Aptos" pitchFamily="34" charset="0"/>
                <a:ea typeface="Aptos" pitchFamily="34" charset="-122"/>
                <a:cs typeface="Aptos" pitchFamily="34" charset="-120"/>
              </a:rPr>
              <a:t>Trong V1, hệ thống lưu alert và quarantine đầy đủ; benign được tổng hợp thành summary để giảm storage noise.</a:t>
            </a:r>
            <a:endParaRPr lang="en-US" sz="900" dirty="0"/>
          </a:p>
        </p:txBody>
      </p:sp>
      <p:sp>
        <p:nvSpPr>
          <p:cNvPr id="25" name="Slide Number Placeholder 0"/>
          <p:cNvSpPr>
            <a:spLocks noGrp="1"/>
          </p:cNvSpPr>
          <p:nvPr>
            <p:ph type="sldNum" sz="quarter" idx="4294967295"/>
          </p:nvPr>
        </p:nvSpPr>
        <p:spPr>
          <a:xfrm>
            <a:off x="11475720" y="6446520"/>
            <a:ext cx="32004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7A7A76"/>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CF8F2"/>
        </a:solidFill>
      </p:bgPr>
    </p:bg>
    <p:spTree>
      <p:nvGrpSpPr>
        <p:cNvPr id="1" name=""/>
        <p:cNvGrpSpPr/>
        <p:nvPr/>
      </p:nvGrpSpPr>
      <p:grpSpPr>
        <a:xfrm>
          <a:off x="0" y="0"/>
          <a:ext cx="0" cy="0"/>
          <a:chOff x="0" y="0"/>
          <a:chExt cx="0" cy="0"/>
        </a:xfrm>
      </p:grpSpPr>
      <p:sp>
        <p:nvSpPr>
          <p:cNvPr id="2" name="Shape 0"/>
          <p:cNvSpPr/>
          <p:nvPr/>
        </p:nvSpPr>
        <p:spPr>
          <a:xfrm>
            <a:off x="0" y="0"/>
            <a:ext cx="12191695" cy="219456"/>
          </a:xfrm>
          <a:prstGeom prst="rect">
            <a:avLst/>
          </a:prstGeom>
          <a:solidFill>
            <a:srgbClr val="0E1B2A"/>
          </a:solidFill>
          <a:ln w="12700">
            <a:solidFill>
              <a:srgbClr val="0E1B2A"/>
            </a:solidFill>
            <a:prstDash val="solid"/>
          </a:ln>
        </p:spPr>
      </p:sp>
      <p:sp>
        <p:nvSpPr>
          <p:cNvPr id="3" name="Shape 1"/>
          <p:cNvSpPr/>
          <p:nvPr/>
        </p:nvSpPr>
        <p:spPr>
          <a:xfrm>
            <a:off x="566928" y="713232"/>
            <a:ext cx="54864" cy="859536"/>
          </a:xfrm>
          <a:prstGeom prst="rect">
            <a:avLst/>
          </a:prstGeom>
          <a:solidFill>
            <a:srgbClr val="C96A2B"/>
          </a:solidFill>
          <a:ln w="12700">
            <a:solidFill>
              <a:srgbClr val="C96A2B"/>
            </a:solidFill>
            <a:prstDash val="solid"/>
          </a:ln>
        </p:spPr>
      </p:sp>
      <p:sp>
        <p:nvSpPr>
          <p:cNvPr id="4" name="Shape 2"/>
          <p:cNvSpPr/>
          <p:nvPr/>
        </p:nvSpPr>
        <p:spPr>
          <a:xfrm>
            <a:off x="9555480" y="822960"/>
            <a:ext cx="2011680" cy="36576"/>
          </a:xfrm>
          <a:prstGeom prst="rect">
            <a:avLst/>
          </a:prstGeom>
          <a:solidFill>
            <a:srgbClr val="C96A2B">
              <a:alpha val="72000"/>
            </a:srgbClr>
          </a:solidFill>
          <a:ln w="12700">
            <a:solidFill>
              <a:srgbClr val="C96A2B">
                <a:alpha val="72000"/>
              </a:srgbClr>
            </a:solidFill>
            <a:prstDash val="solid"/>
          </a:ln>
        </p:spPr>
      </p:sp>
      <p:sp>
        <p:nvSpPr>
          <p:cNvPr id="5" name="Shape 3"/>
          <p:cNvSpPr/>
          <p:nvPr/>
        </p:nvSpPr>
        <p:spPr>
          <a:xfrm>
            <a:off x="10469880" y="292608"/>
            <a:ext cx="1078992" cy="1078992"/>
          </a:xfrm>
          <a:prstGeom prst="ellipse">
            <a:avLst/>
          </a:prstGeom>
          <a:solidFill>
            <a:srgbClr val="C96A2B">
              <a:alpha val="0"/>
            </a:srgbClr>
          </a:solidFill>
          <a:ln w="12700">
            <a:solidFill>
              <a:srgbClr val="C96A2B">
                <a:alpha val="18000"/>
              </a:srgbClr>
            </a:solidFill>
            <a:prstDash val="solid"/>
          </a:ln>
        </p:spPr>
      </p:sp>
      <p:sp>
        <p:nvSpPr>
          <p:cNvPr id="6" name="Shape 4"/>
          <p:cNvSpPr/>
          <p:nvPr/>
        </p:nvSpPr>
        <p:spPr>
          <a:xfrm>
            <a:off x="73152" y="5257800"/>
            <a:ext cx="987552" cy="987552"/>
          </a:xfrm>
          <a:prstGeom prst="ellipse">
            <a:avLst/>
          </a:prstGeom>
          <a:solidFill>
            <a:srgbClr val="2B7A78">
              <a:alpha val="0"/>
            </a:srgbClr>
          </a:solidFill>
          <a:ln w="12700">
            <a:solidFill>
              <a:srgbClr val="2B7A78">
                <a:alpha val="14000"/>
              </a:srgbClr>
            </a:solidFill>
            <a:prstDash val="solid"/>
          </a:ln>
        </p:spPr>
      </p:sp>
      <p:sp>
        <p:nvSpPr>
          <p:cNvPr id="7" name="Text 5"/>
          <p:cNvSpPr/>
          <p:nvPr/>
        </p:nvSpPr>
        <p:spPr>
          <a:xfrm>
            <a:off x="768096" y="603504"/>
            <a:ext cx="4023360" cy="237744"/>
          </a:xfrm>
          <a:prstGeom prst="rect">
            <a:avLst/>
          </a:prstGeom>
          <a:noFill/>
          <a:ln/>
        </p:spPr>
        <p:txBody>
          <a:bodyPr wrap="square" rtlCol="0" anchor="ctr"/>
          <a:lstStyle/>
          <a:p>
            <a:pPr indent="0" marL="0">
              <a:buNone/>
            </a:pPr>
            <a:r>
              <a:rPr lang="en-US" sz="1100" b="1" dirty="0">
                <a:solidFill>
                  <a:srgbClr val="C96A2B"/>
                </a:solidFill>
                <a:latin typeface="Bahnschrift" pitchFamily="34" charset="0"/>
                <a:ea typeface="Bahnschrift" pitchFamily="34" charset="-122"/>
                <a:cs typeface="Bahnschrift" pitchFamily="34" charset="-120"/>
              </a:rPr>
              <a:t>11  OPERATIONS</a:t>
            </a:r>
            <a:endParaRPr lang="en-US" sz="1100" dirty="0"/>
          </a:p>
        </p:txBody>
      </p:sp>
      <p:sp>
        <p:nvSpPr>
          <p:cNvPr id="8" name="Text 6"/>
          <p:cNvSpPr/>
          <p:nvPr/>
        </p:nvSpPr>
        <p:spPr>
          <a:xfrm>
            <a:off x="768096" y="859536"/>
            <a:ext cx="8001000" cy="457200"/>
          </a:xfrm>
          <a:prstGeom prst="rect">
            <a:avLst/>
          </a:prstGeom>
          <a:noFill/>
          <a:ln/>
        </p:spPr>
        <p:txBody>
          <a:bodyPr wrap="square" rtlCol="0" anchor="ctr"/>
          <a:lstStyle/>
          <a:p>
            <a:pPr indent="0" marL="0">
              <a:buNone/>
            </a:pPr>
            <a:r>
              <a:rPr lang="en-US" sz="2500" b="1" dirty="0">
                <a:solidFill>
                  <a:srgbClr val="0E1B2A"/>
                </a:solidFill>
                <a:latin typeface="Bahnschrift" pitchFamily="34" charset="0"/>
                <a:ea typeface="Bahnschrift" pitchFamily="34" charset="-122"/>
                <a:cs typeface="Bahnschrift" pitchFamily="34" charset="-120"/>
              </a:rPr>
              <a:t>Operator console và same-host deployment</a:t>
            </a:r>
            <a:endParaRPr lang="en-US" sz="2500" dirty="0"/>
          </a:p>
        </p:txBody>
      </p:sp>
      <p:sp>
        <p:nvSpPr>
          <p:cNvPr id="9" name="Shape 7"/>
          <p:cNvSpPr/>
          <p:nvPr/>
        </p:nvSpPr>
        <p:spPr>
          <a:xfrm>
            <a:off x="768096" y="1389888"/>
            <a:ext cx="1965960" cy="36576"/>
          </a:xfrm>
          <a:prstGeom prst="rect">
            <a:avLst/>
          </a:prstGeom>
          <a:solidFill>
            <a:srgbClr val="C96A2B"/>
          </a:solidFill>
          <a:ln w="12700">
            <a:solidFill>
              <a:srgbClr val="C96A2B"/>
            </a:solidFill>
            <a:prstDash val="solid"/>
          </a:ln>
        </p:spPr>
      </p:sp>
      <p:sp>
        <p:nvSpPr>
          <p:cNvPr id="10" name="Text 8"/>
          <p:cNvSpPr/>
          <p:nvPr/>
        </p:nvSpPr>
        <p:spPr>
          <a:xfrm>
            <a:off x="10808208" y="566928"/>
            <a:ext cx="502920" cy="237744"/>
          </a:xfrm>
          <a:prstGeom prst="rect">
            <a:avLst/>
          </a:prstGeom>
          <a:noFill/>
          <a:ln/>
        </p:spPr>
        <p:txBody>
          <a:bodyPr wrap="square" rtlCol="0" anchor="ctr"/>
          <a:lstStyle/>
          <a:p>
            <a:pPr algn="r" indent="0" marL="0">
              <a:buNone/>
            </a:pPr>
            <a:r>
              <a:rPr lang="en-US" sz="1200" b="1" dirty="0">
                <a:solidFill>
                  <a:srgbClr val="7A7A76"/>
                </a:solidFill>
                <a:latin typeface="Bahnschrift" pitchFamily="34" charset="0"/>
                <a:ea typeface="Bahnschrift" pitchFamily="34" charset="-122"/>
                <a:cs typeface="Bahnschrift" pitchFamily="34" charset="-120"/>
              </a:rPr>
              <a:t>12</a:t>
            </a:r>
            <a:endParaRPr lang="en-US" sz="1200" dirty="0"/>
          </a:p>
        </p:txBody>
      </p:sp>
      <p:sp>
        <p:nvSpPr>
          <p:cNvPr id="11" name="Shape 9"/>
          <p:cNvSpPr/>
          <p:nvPr/>
        </p:nvSpPr>
        <p:spPr>
          <a:xfrm>
            <a:off x="914400" y="1874520"/>
            <a:ext cx="2011680" cy="1097280"/>
          </a:xfrm>
          <a:prstGeom prst="rect">
            <a:avLst/>
          </a:prstGeom>
          <a:solidFill>
            <a:srgbClr val="E7F0F6"/>
          </a:solidFill>
          <a:ln w="12700">
            <a:solidFill>
              <a:srgbClr val="E7F0F6"/>
            </a:solidFill>
            <a:prstDash val="solid"/>
          </a:ln>
        </p:spPr>
      </p:sp>
      <p:sp>
        <p:nvSpPr>
          <p:cNvPr id="12" name="Text 10"/>
          <p:cNvSpPr/>
          <p:nvPr/>
        </p:nvSpPr>
        <p:spPr>
          <a:xfrm>
            <a:off x="1024128" y="2020824"/>
            <a:ext cx="1792224" cy="201168"/>
          </a:xfrm>
          <a:prstGeom prst="rect">
            <a:avLst/>
          </a:prstGeom>
          <a:noFill/>
          <a:ln/>
        </p:spPr>
        <p:txBody>
          <a:bodyPr wrap="square" rtlCol="0" anchor="ctr"/>
          <a:lstStyle/>
          <a:p>
            <a:pPr algn="ctr" indent="0" marL="0">
              <a:buNone/>
            </a:pPr>
            <a:r>
              <a:rPr lang="en-US" sz="1200" b="1" dirty="0">
                <a:solidFill>
                  <a:srgbClr val="0E1B2A"/>
                </a:solidFill>
                <a:latin typeface="Bahnschrift" pitchFamily="34" charset="0"/>
                <a:ea typeface="Bahnschrift" pitchFamily="34" charset="-122"/>
                <a:cs typeface="Bahnschrift" pitchFamily="34" charset="-120"/>
              </a:rPr>
              <a:t>ids-live-sensor.service</a:t>
            </a:r>
            <a:endParaRPr lang="en-US" sz="1200" dirty="0"/>
          </a:p>
        </p:txBody>
      </p:sp>
      <p:sp>
        <p:nvSpPr>
          <p:cNvPr id="13" name="Text 11"/>
          <p:cNvSpPr/>
          <p:nvPr/>
        </p:nvSpPr>
        <p:spPr>
          <a:xfrm>
            <a:off x="1024128" y="2313432"/>
            <a:ext cx="1792224" cy="566928"/>
          </a:xfrm>
          <a:prstGeom prst="rect">
            <a:avLst/>
          </a:prstGeom>
          <a:noFill/>
          <a:ln/>
        </p:spPr>
        <p:txBody>
          <a:bodyPr wrap="square" rtlCol="0" anchor="ctr"/>
          <a:lstStyle/>
          <a:p>
            <a:pPr algn="ctr" indent="0" marL="0">
              <a:buNone/>
            </a:pPr>
            <a:r>
              <a:rPr lang="en-US" sz="950" dirty="0">
                <a:solidFill>
                  <a:srgbClr val="0E1B2A"/>
                </a:solidFill>
                <a:latin typeface="Aptos" pitchFamily="34" charset="0"/>
                <a:ea typeface="Aptos" pitchFamily="34" charset="-122"/>
                <a:cs typeface="Aptos" pitchFamily="34" charset="-120"/>
              </a:rPr>
              <a:t>Daemon capture + scoring</a:t>
            </a:r>
            <a:endParaRPr lang="en-US" sz="950" dirty="0"/>
          </a:p>
        </p:txBody>
      </p:sp>
      <p:sp>
        <p:nvSpPr>
          <p:cNvPr id="14" name="Shape 12"/>
          <p:cNvSpPr/>
          <p:nvPr/>
        </p:nvSpPr>
        <p:spPr>
          <a:xfrm>
            <a:off x="3291840" y="1874520"/>
            <a:ext cx="2057400" cy="1097280"/>
          </a:xfrm>
          <a:prstGeom prst="rect">
            <a:avLst/>
          </a:prstGeom>
          <a:solidFill>
            <a:srgbClr val="E2F3F1"/>
          </a:solidFill>
          <a:ln w="12700">
            <a:solidFill>
              <a:srgbClr val="E2F3F1"/>
            </a:solidFill>
            <a:prstDash val="solid"/>
          </a:ln>
        </p:spPr>
      </p:sp>
      <p:sp>
        <p:nvSpPr>
          <p:cNvPr id="15" name="Text 13"/>
          <p:cNvSpPr/>
          <p:nvPr/>
        </p:nvSpPr>
        <p:spPr>
          <a:xfrm>
            <a:off x="3401568" y="2020824"/>
            <a:ext cx="1837944" cy="201168"/>
          </a:xfrm>
          <a:prstGeom prst="rect">
            <a:avLst/>
          </a:prstGeom>
          <a:noFill/>
          <a:ln/>
        </p:spPr>
        <p:txBody>
          <a:bodyPr wrap="square" rtlCol="0" anchor="ctr"/>
          <a:lstStyle/>
          <a:p>
            <a:pPr algn="ctr" indent="0" marL="0">
              <a:buNone/>
            </a:pPr>
            <a:r>
              <a:rPr lang="en-US" sz="1200" b="1" dirty="0">
                <a:solidFill>
                  <a:srgbClr val="0E1B2A"/>
                </a:solidFill>
                <a:latin typeface="Bahnschrift" pitchFamily="34" charset="0"/>
                <a:ea typeface="Bahnschrift" pitchFamily="34" charset="-122"/>
                <a:cs typeface="Bahnschrift" pitchFamily="34" charset="-120"/>
              </a:rPr>
              <a:t>SQLite + summaries</a:t>
            </a:r>
            <a:endParaRPr lang="en-US" sz="1200" dirty="0"/>
          </a:p>
        </p:txBody>
      </p:sp>
      <p:sp>
        <p:nvSpPr>
          <p:cNvPr id="16" name="Text 14"/>
          <p:cNvSpPr/>
          <p:nvPr/>
        </p:nvSpPr>
        <p:spPr>
          <a:xfrm>
            <a:off x="3401568" y="2313432"/>
            <a:ext cx="1837944" cy="566928"/>
          </a:xfrm>
          <a:prstGeom prst="rect">
            <a:avLst/>
          </a:prstGeom>
          <a:noFill/>
          <a:ln/>
        </p:spPr>
        <p:txBody>
          <a:bodyPr wrap="square" rtlCol="0" anchor="ctr"/>
          <a:lstStyle/>
          <a:p>
            <a:pPr algn="ctr" indent="0" marL="0">
              <a:buNone/>
            </a:pPr>
            <a:r>
              <a:rPr lang="en-US" sz="950" dirty="0">
                <a:solidFill>
                  <a:srgbClr val="0E1B2A"/>
                </a:solidFill>
                <a:latin typeface="Aptos" pitchFamily="34" charset="0"/>
                <a:ea typeface="Aptos" pitchFamily="34" charset="-122"/>
                <a:cs typeface="Aptos" pitchFamily="34" charset="-120"/>
              </a:rPr>
              <a:t>Nguồn dữ liệu cho quan sát</a:t>
            </a:r>
            <a:endParaRPr lang="en-US" sz="950" dirty="0"/>
          </a:p>
        </p:txBody>
      </p:sp>
      <p:sp>
        <p:nvSpPr>
          <p:cNvPr id="17" name="Shape 15"/>
          <p:cNvSpPr/>
          <p:nvPr/>
        </p:nvSpPr>
        <p:spPr>
          <a:xfrm>
            <a:off x="5687568" y="1874520"/>
            <a:ext cx="2194560" cy="1097280"/>
          </a:xfrm>
          <a:prstGeom prst="rect">
            <a:avLst/>
          </a:prstGeom>
          <a:solidFill>
            <a:srgbClr val="F6E7DA"/>
          </a:solidFill>
          <a:ln w="12700">
            <a:solidFill>
              <a:srgbClr val="F6E7DA"/>
            </a:solidFill>
            <a:prstDash val="solid"/>
          </a:ln>
        </p:spPr>
      </p:sp>
      <p:sp>
        <p:nvSpPr>
          <p:cNvPr id="18" name="Text 16"/>
          <p:cNvSpPr/>
          <p:nvPr/>
        </p:nvSpPr>
        <p:spPr>
          <a:xfrm>
            <a:off x="5797296" y="2020824"/>
            <a:ext cx="1975104" cy="201168"/>
          </a:xfrm>
          <a:prstGeom prst="rect">
            <a:avLst/>
          </a:prstGeom>
          <a:noFill/>
          <a:ln/>
        </p:spPr>
        <p:txBody>
          <a:bodyPr wrap="square" rtlCol="0" anchor="ctr"/>
          <a:lstStyle/>
          <a:p>
            <a:pPr algn="ctr" indent="0" marL="0">
              <a:buNone/>
            </a:pPr>
            <a:r>
              <a:rPr lang="en-US" sz="1200" b="1" dirty="0">
                <a:solidFill>
                  <a:srgbClr val="0E1B2A"/>
                </a:solidFill>
                <a:latin typeface="Bahnschrift" pitchFamily="34" charset="0"/>
                <a:ea typeface="Bahnschrift" pitchFamily="34" charset="-122"/>
                <a:cs typeface="Bahnschrift" pitchFamily="34" charset="-120"/>
              </a:rPr>
              <a:t>Operator Console</a:t>
            </a:r>
            <a:endParaRPr lang="en-US" sz="1200" dirty="0"/>
          </a:p>
        </p:txBody>
      </p:sp>
      <p:sp>
        <p:nvSpPr>
          <p:cNvPr id="19" name="Text 17"/>
          <p:cNvSpPr/>
          <p:nvPr/>
        </p:nvSpPr>
        <p:spPr>
          <a:xfrm>
            <a:off x="5797296" y="2313432"/>
            <a:ext cx="1975104" cy="566928"/>
          </a:xfrm>
          <a:prstGeom prst="rect">
            <a:avLst/>
          </a:prstGeom>
          <a:noFill/>
          <a:ln/>
        </p:spPr>
        <p:txBody>
          <a:bodyPr wrap="square" rtlCol="0" anchor="ctr"/>
          <a:lstStyle/>
          <a:p>
            <a:pPr algn="ctr" indent="0" marL="0">
              <a:buNone/>
            </a:pPr>
            <a:r>
              <a:rPr lang="en-US" sz="950" dirty="0">
                <a:solidFill>
                  <a:srgbClr val="0E1B2A"/>
                </a:solidFill>
                <a:latin typeface="Aptos" pitchFamily="34" charset="0"/>
                <a:ea typeface="Aptos" pitchFamily="34" charset="-122"/>
                <a:cs typeface="Aptos" pitchFamily="34" charset="-120"/>
              </a:rPr>
              <a:t>FastAPI + Jinja2 + auth admin</a:t>
            </a:r>
            <a:endParaRPr lang="en-US" sz="950" dirty="0"/>
          </a:p>
        </p:txBody>
      </p:sp>
      <p:sp>
        <p:nvSpPr>
          <p:cNvPr id="20" name="Shape 18"/>
          <p:cNvSpPr/>
          <p:nvPr/>
        </p:nvSpPr>
        <p:spPr>
          <a:xfrm>
            <a:off x="8229600" y="1874520"/>
            <a:ext cx="2148840" cy="1097280"/>
          </a:xfrm>
          <a:prstGeom prst="rect">
            <a:avLst/>
          </a:prstGeom>
          <a:solidFill>
            <a:srgbClr val="E8F2EA"/>
          </a:solidFill>
          <a:ln w="12700">
            <a:solidFill>
              <a:srgbClr val="E8F2EA"/>
            </a:solidFill>
            <a:prstDash val="solid"/>
          </a:ln>
        </p:spPr>
      </p:sp>
      <p:sp>
        <p:nvSpPr>
          <p:cNvPr id="21" name="Text 19"/>
          <p:cNvSpPr/>
          <p:nvPr/>
        </p:nvSpPr>
        <p:spPr>
          <a:xfrm>
            <a:off x="8339328" y="2020824"/>
            <a:ext cx="1929384" cy="201168"/>
          </a:xfrm>
          <a:prstGeom prst="rect">
            <a:avLst/>
          </a:prstGeom>
          <a:noFill/>
          <a:ln/>
        </p:spPr>
        <p:txBody>
          <a:bodyPr wrap="square" rtlCol="0" anchor="ctr"/>
          <a:lstStyle/>
          <a:p>
            <a:pPr algn="ctr" indent="0" marL="0">
              <a:buNone/>
            </a:pPr>
            <a:r>
              <a:rPr lang="en-US" sz="1200" b="1" dirty="0">
                <a:solidFill>
                  <a:srgbClr val="0E1B2A"/>
                </a:solidFill>
                <a:latin typeface="Bahnschrift" pitchFamily="34" charset="0"/>
                <a:ea typeface="Bahnschrift" pitchFamily="34" charset="-122"/>
                <a:cs typeface="Bahnschrift" pitchFamily="34" charset="-120"/>
              </a:rPr>
              <a:t>Notify Worker</a:t>
            </a:r>
            <a:endParaRPr lang="en-US" sz="1200" dirty="0"/>
          </a:p>
        </p:txBody>
      </p:sp>
      <p:sp>
        <p:nvSpPr>
          <p:cNvPr id="22" name="Text 20"/>
          <p:cNvSpPr/>
          <p:nvPr/>
        </p:nvSpPr>
        <p:spPr>
          <a:xfrm>
            <a:off x="8339328" y="2313432"/>
            <a:ext cx="1929384" cy="566928"/>
          </a:xfrm>
          <a:prstGeom prst="rect">
            <a:avLst/>
          </a:prstGeom>
          <a:noFill/>
          <a:ln/>
        </p:spPr>
        <p:txBody>
          <a:bodyPr wrap="square" rtlCol="0" anchor="ctr"/>
          <a:lstStyle/>
          <a:p>
            <a:pPr algn="ctr" indent="0" marL="0">
              <a:buNone/>
            </a:pPr>
            <a:r>
              <a:rPr lang="en-US" sz="950" dirty="0">
                <a:solidFill>
                  <a:srgbClr val="0E1B2A"/>
                </a:solidFill>
                <a:latin typeface="Aptos" pitchFamily="34" charset="0"/>
                <a:ea typeface="Aptos" pitchFamily="34" charset="-122"/>
                <a:cs typeface="Aptos" pitchFamily="34" charset="-120"/>
              </a:rPr>
              <a:t>Telegram runtime tách riêng</a:t>
            </a:r>
            <a:endParaRPr lang="en-US" sz="950" dirty="0"/>
          </a:p>
        </p:txBody>
      </p:sp>
      <p:sp>
        <p:nvSpPr>
          <p:cNvPr id="23" name="Shape 21"/>
          <p:cNvSpPr/>
          <p:nvPr/>
        </p:nvSpPr>
        <p:spPr>
          <a:xfrm>
            <a:off x="10607040" y="1874520"/>
            <a:ext cx="914400" cy="1097280"/>
          </a:xfrm>
          <a:prstGeom prst="rect">
            <a:avLst/>
          </a:prstGeom>
          <a:solidFill>
            <a:srgbClr val="F2E8DC"/>
          </a:solidFill>
          <a:ln w="12700">
            <a:solidFill>
              <a:srgbClr val="F2E8DC"/>
            </a:solidFill>
            <a:prstDash val="solid"/>
          </a:ln>
        </p:spPr>
      </p:sp>
      <p:sp>
        <p:nvSpPr>
          <p:cNvPr id="24" name="Text 22"/>
          <p:cNvSpPr/>
          <p:nvPr/>
        </p:nvSpPr>
        <p:spPr>
          <a:xfrm>
            <a:off x="10716768" y="2020824"/>
            <a:ext cx="694944" cy="201168"/>
          </a:xfrm>
          <a:prstGeom prst="rect">
            <a:avLst/>
          </a:prstGeom>
          <a:noFill/>
          <a:ln/>
        </p:spPr>
        <p:txBody>
          <a:bodyPr wrap="square" rtlCol="0" anchor="ctr"/>
          <a:lstStyle/>
          <a:p>
            <a:pPr algn="ctr" indent="0" marL="0">
              <a:buNone/>
            </a:pPr>
            <a:r>
              <a:rPr lang="en-US" sz="1200" b="1" dirty="0">
                <a:solidFill>
                  <a:srgbClr val="0E1B2A"/>
                </a:solidFill>
                <a:latin typeface="Bahnschrift" pitchFamily="34" charset="0"/>
                <a:ea typeface="Bahnschrift" pitchFamily="34" charset="-122"/>
                <a:cs typeface="Bahnschrift" pitchFamily="34" charset="-120"/>
              </a:rPr>
              <a:t>Nginx</a:t>
            </a:r>
            <a:endParaRPr lang="en-US" sz="1200" dirty="0"/>
          </a:p>
        </p:txBody>
      </p:sp>
      <p:sp>
        <p:nvSpPr>
          <p:cNvPr id="25" name="Text 23"/>
          <p:cNvSpPr/>
          <p:nvPr/>
        </p:nvSpPr>
        <p:spPr>
          <a:xfrm>
            <a:off x="10716768" y="2313432"/>
            <a:ext cx="694944" cy="566928"/>
          </a:xfrm>
          <a:prstGeom prst="rect">
            <a:avLst/>
          </a:prstGeom>
          <a:noFill/>
          <a:ln/>
        </p:spPr>
        <p:txBody>
          <a:bodyPr wrap="square" rtlCol="0" anchor="ctr"/>
          <a:lstStyle/>
          <a:p>
            <a:pPr algn="ctr" indent="0" marL="0">
              <a:buNone/>
            </a:pPr>
            <a:r>
              <a:rPr lang="en-US" sz="950" dirty="0">
                <a:solidFill>
                  <a:srgbClr val="0E1B2A"/>
                </a:solidFill>
                <a:latin typeface="Aptos" pitchFamily="34" charset="0"/>
                <a:ea typeface="Aptos" pitchFamily="34" charset="-122"/>
                <a:cs typeface="Aptos" pitchFamily="34" charset="-120"/>
              </a:rPr>
              <a:t>TLS / reverse proxy</a:t>
            </a:r>
            <a:endParaRPr lang="en-US" sz="950" dirty="0"/>
          </a:p>
        </p:txBody>
      </p:sp>
      <p:sp>
        <p:nvSpPr>
          <p:cNvPr id="26" name="Shape 24"/>
          <p:cNvSpPr/>
          <p:nvPr/>
        </p:nvSpPr>
        <p:spPr>
          <a:xfrm>
            <a:off x="2926080" y="2409444"/>
            <a:ext cx="365760" cy="32004"/>
          </a:xfrm>
          <a:prstGeom prst="rect">
            <a:avLst/>
          </a:prstGeom>
          <a:solidFill>
            <a:srgbClr val="41576D"/>
          </a:solidFill>
          <a:ln w="12700">
            <a:solidFill>
              <a:srgbClr val="41576D"/>
            </a:solidFill>
            <a:prstDash val="solid"/>
          </a:ln>
        </p:spPr>
      </p:sp>
      <p:sp>
        <p:nvSpPr>
          <p:cNvPr id="27" name="Shape 25"/>
          <p:cNvSpPr/>
          <p:nvPr/>
        </p:nvSpPr>
        <p:spPr>
          <a:xfrm>
            <a:off x="5349240" y="2409444"/>
            <a:ext cx="338328" cy="32004"/>
          </a:xfrm>
          <a:prstGeom prst="rect">
            <a:avLst/>
          </a:prstGeom>
          <a:solidFill>
            <a:srgbClr val="41576D"/>
          </a:solidFill>
          <a:ln w="12700">
            <a:solidFill>
              <a:srgbClr val="41576D"/>
            </a:solidFill>
            <a:prstDash val="solid"/>
          </a:ln>
        </p:spPr>
      </p:sp>
      <p:sp>
        <p:nvSpPr>
          <p:cNvPr id="28" name="Shape 26"/>
          <p:cNvSpPr/>
          <p:nvPr/>
        </p:nvSpPr>
        <p:spPr>
          <a:xfrm>
            <a:off x="7909560" y="2409444"/>
            <a:ext cx="320040" cy="32004"/>
          </a:xfrm>
          <a:prstGeom prst="rect">
            <a:avLst/>
          </a:prstGeom>
          <a:solidFill>
            <a:srgbClr val="41576D"/>
          </a:solidFill>
          <a:ln w="12700">
            <a:solidFill>
              <a:srgbClr val="41576D"/>
            </a:solidFill>
            <a:prstDash val="solid"/>
          </a:ln>
        </p:spPr>
      </p:sp>
      <p:sp>
        <p:nvSpPr>
          <p:cNvPr id="29" name="Shape 27"/>
          <p:cNvSpPr/>
          <p:nvPr/>
        </p:nvSpPr>
        <p:spPr>
          <a:xfrm>
            <a:off x="10378440" y="2409444"/>
            <a:ext cx="228600" cy="32004"/>
          </a:xfrm>
          <a:prstGeom prst="rect">
            <a:avLst/>
          </a:prstGeom>
          <a:solidFill>
            <a:srgbClr val="41576D"/>
          </a:solidFill>
          <a:ln w="12700">
            <a:solidFill>
              <a:srgbClr val="41576D"/>
            </a:solidFill>
            <a:prstDash val="solid"/>
          </a:ln>
        </p:spPr>
      </p:sp>
      <p:sp>
        <p:nvSpPr>
          <p:cNvPr id="30" name="Shape 28"/>
          <p:cNvSpPr/>
          <p:nvPr/>
        </p:nvSpPr>
        <p:spPr>
          <a:xfrm>
            <a:off x="841248" y="3611880"/>
            <a:ext cx="3337560" cy="1609344"/>
          </a:xfrm>
          <a:prstGeom prst="rect">
            <a:avLst/>
          </a:prstGeom>
          <a:solidFill>
            <a:srgbClr val="E7F0F6"/>
          </a:solidFill>
          <a:ln w="12700">
            <a:solidFill>
              <a:srgbClr val="E7F0F6"/>
            </a:solidFill>
            <a:prstDash val="solid"/>
          </a:ln>
        </p:spPr>
      </p:sp>
      <p:sp>
        <p:nvSpPr>
          <p:cNvPr id="31" name="Shape 29"/>
          <p:cNvSpPr/>
          <p:nvPr/>
        </p:nvSpPr>
        <p:spPr>
          <a:xfrm>
            <a:off x="841248" y="3611880"/>
            <a:ext cx="73152" cy="1609344"/>
          </a:xfrm>
          <a:prstGeom prst="rect">
            <a:avLst/>
          </a:prstGeom>
          <a:solidFill>
            <a:srgbClr val="3D6C8D"/>
          </a:solidFill>
          <a:ln w="12700">
            <a:solidFill>
              <a:srgbClr val="3D6C8D"/>
            </a:solidFill>
            <a:prstDash val="solid"/>
          </a:ln>
        </p:spPr>
      </p:sp>
      <p:sp>
        <p:nvSpPr>
          <p:cNvPr id="32" name="Shape 30"/>
          <p:cNvSpPr/>
          <p:nvPr/>
        </p:nvSpPr>
        <p:spPr>
          <a:xfrm>
            <a:off x="987552" y="3739896"/>
            <a:ext cx="475488" cy="27432"/>
          </a:xfrm>
          <a:prstGeom prst="rect">
            <a:avLst/>
          </a:prstGeom>
          <a:solidFill>
            <a:srgbClr val="3D6C8D"/>
          </a:solidFill>
          <a:ln w="12700">
            <a:solidFill>
              <a:srgbClr val="3D6C8D"/>
            </a:solidFill>
            <a:prstDash val="solid"/>
          </a:ln>
        </p:spPr>
      </p:sp>
      <p:sp>
        <p:nvSpPr>
          <p:cNvPr id="33" name="Text 31"/>
          <p:cNvSpPr/>
          <p:nvPr/>
        </p:nvSpPr>
        <p:spPr>
          <a:xfrm>
            <a:off x="1042416" y="3831336"/>
            <a:ext cx="3026664" cy="219456"/>
          </a:xfrm>
          <a:prstGeom prst="rect">
            <a:avLst/>
          </a:prstGeom>
          <a:noFill/>
          <a:ln/>
        </p:spPr>
        <p:txBody>
          <a:bodyPr wrap="square" rtlCol="0" anchor="ctr"/>
          <a:lstStyle/>
          <a:p>
            <a:pPr indent="0" marL="0">
              <a:buNone/>
            </a:pPr>
            <a:r>
              <a:rPr lang="en-US" sz="1450" b="1" dirty="0">
                <a:solidFill>
                  <a:srgbClr val="0E1B2A"/>
                </a:solidFill>
                <a:latin typeface="Bahnschrift" pitchFamily="34" charset="0"/>
                <a:ea typeface="Bahnschrift" pitchFamily="34" charset="-122"/>
                <a:cs typeface="Bahnschrift" pitchFamily="34" charset="-120"/>
              </a:rPr>
              <a:t>Web UI thực sự</a:t>
            </a:r>
            <a:endParaRPr lang="en-US" sz="1450" dirty="0"/>
          </a:p>
        </p:txBody>
      </p:sp>
      <p:sp>
        <p:nvSpPr>
          <p:cNvPr id="34" name="Text 32"/>
          <p:cNvSpPr/>
          <p:nvPr/>
        </p:nvSpPr>
        <p:spPr>
          <a:xfrm>
            <a:off x="1042416" y="4160520"/>
            <a:ext cx="3026664" cy="932688"/>
          </a:xfrm>
          <a:prstGeom prst="rect">
            <a:avLst/>
          </a:prstGeom>
          <a:noFill/>
          <a:ln/>
        </p:spPr>
        <p:txBody>
          <a:bodyPr wrap="square" lIns="254" tIns="254" rIns="254" bIns="254" rtlCol="0" anchor="t"/>
          <a:lstStyle/>
          <a:p>
            <a:pPr indent="0" marL="0">
              <a:buNone/>
            </a:pPr>
            <a:r>
              <a:rPr lang="en-US" sz="1050" dirty="0">
                <a:solidFill>
                  <a:srgbClr val="41576D"/>
                </a:solidFill>
                <a:latin typeface="Aptos" pitchFamily="34" charset="0"/>
                <a:ea typeface="Aptos" pitchFamily="34" charset="-122"/>
                <a:cs typeface="Aptos" pitchFamily="34" charset="-120"/>
              </a:rPr>
              <a:t>Console không phải placeholder: có dashboard, alert detail, anomalies, reports và API /api/v1/* để xem snapshot vận hành, trạng thái sensor và active bundle.</a:t>
            </a:r>
            <a:endParaRPr lang="en-US" sz="1050" dirty="0"/>
          </a:p>
        </p:txBody>
      </p:sp>
      <p:sp>
        <p:nvSpPr>
          <p:cNvPr id="35" name="Shape 33"/>
          <p:cNvSpPr/>
          <p:nvPr/>
        </p:nvSpPr>
        <p:spPr>
          <a:xfrm>
            <a:off x="4407408" y="3611880"/>
            <a:ext cx="3383280" cy="1609344"/>
          </a:xfrm>
          <a:prstGeom prst="rect">
            <a:avLst/>
          </a:prstGeom>
          <a:solidFill>
            <a:srgbClr val="E2F3F1"/>
          </a:solidFill>
          <a:ln w="12700">
            <a:solidFill>
              <a:srgbClr val="E2F3F1"/>
            </a:solidFill>
            <a:prstDash val="solid"/>
          </a:ln>
        </p:spPr>
      </p:sp>
      <p:sp>
        <p:nvSpPr>
          <p:cNvPr id="36" name="Shape 34"/>
          <p:cNvSpPr/>
          <p:nvPr/>
        </p:nvSpPr>
        <p:spPr>
          <a:xfrm>
            <a:off x="4407408" y="3611880"/>
            <a:ext cx="73152" cy="1609344"/>
          </a:xfrm>
          <a:prstGeom prst="rect">
            <a:avLst/>
          </a:prstGeom>
          <a:solidFill>
            <a:srgbClr val="2B7A78"/>
          </a:solidFill>
          <a:ln w="12700">
            <a:solidFill>
              <a:srgbClr val="2B7A78"/>
            </a:solidFill>
            <a:prstDash val="solid"/>
          </a:ln>
        </p:spPr>
      </p:sp>
      <p:sp>
        <p:nvSpPr>
          <p:cNvPr id="37" name="Shape 35"/>
          <p:cNvSpPr/>
          <p:nvPr/>
        </p:nvSpPr>
        <p:spPr>
          <a:xfrm>
            <a:off x="4553712" y="3739896"/>
            <a:ext cx="475488" cy="27432"/>
          </a:xfrm>
          <a:prstGeom prst="rect">
            <a:avLst/>
          </a:prstGeom>
          <a:solidFill>
            <a:srgbClr val="2B7A78"/>
          </a:solidFill>
          <a:ln w="12700">
            <a:solidFill>
              <a:srgbClr val="2B7A78"/>
            </a:solidFill>
            <a:prstDash val="solid"/>
          </a:ln>
        </p:spPr>
      </p:sp>
      <p:sp>
        <p:nvSpPr>
          <p:cNvPr id="38" name="Text 36"/>
          <p:cNvSpPr/>
          <p:nvPr/>
        </p:nvSpPr>
        <p:spPr>
          <a:xfrm>
            <a:off x="4608576" y="3831336"/>
            <a:ext cx="3072384" cy="219456"/>
          </a:xfrm>
          <a:prstGeom prst="rect">
            <a:avLst/>
          </a:prstGeom>
          <a:noFill/>
          <a:ln/>
        </p:spPr>
        <p:txBody>
          <a:bodyPr wrap="square" rtlCol="0" anchor="ctr"/>
          <a:lstStyle/>
          <a:p>
            <a:pPr indent="0" marL="0">
              <a:buNone/>
            </a:pPr>
            <a:r>
              <a:rPr lang="en-US" sz="1450" b="1" dirty="0">
                <a:solidFill>
                  <a:srgbClr val="0E1B2A"/>
                </a:solidFill>
                <a:latin typeface="Bahnschrift" pitchFamily="34" charset="0"/>
                <a:ea typeface="Bahnschrift" pitchFamily="34" charset="-122"/>
                <a:cs typeface="Bahnschrift" pitchFamily="34" charset="-120"/>
              </a:rPr>
              <a:t>Readiness và backup</a:t>
            </a:r>
            <a:endParaRPr lang="en-US" sz="1450" dirty="0"/>
          </a:p>
        </p:txBody>
      </p:sp>
      <p:sp>
        <p:nvSpPr>
          <p:cNvPr id="39" name="Text 37"/>
          <p:cNvSpPr/>
          <p:nvPr/>
        </p:nvSpPr>
        <p:spPr>
          <a:xfrm>
            <a:off x="4608576" y="4160520"/>
            <a:ext cx="3072384" cy="932688"/>
          </a:xfrm>
          <a:prstGeom prst="rect">
            <a:avLst/>
          </a:prstGeom>
          <a:noFill/>
          <a:ln/>
        </p:spPr>
        <p:txBody>
          <a:bodyPr wrap="square" lIns="254" tIns="254" rIns="254" bIns="254" rtlCol="0" anchor="t"/>
          <a:lstStyle/>
          <a:p>
            <a:pPr indent="0" marL="0">
              <a:buNone/>
            </a:pPr>
            <a:r>
              <a:rPr lang="en-US" sz="1050" dirty="0">
                <a:solidFill>
                  <a:srgbClr val="41576D"/>
                </a:solidFill>
                <a:latin typeface="Aptos" pitchFamily="34" charset="0"/>
                <a:ea typeface="Aptos" pitchFamily="34" charset="-122"/>
                <a:cs typeface="Aptos" pitchFamily="34" charset="-120"/>
              </a:rPr>
              <a:t>Có /healthz, /readyz, backup/restore SQLite, preflight gate, worker status và phân tách rõ các failure domain trong quá trình vận hành.</a:t>
            </a:r>
            <a:endParaRPr lang="en-US" sz="1050" dirty="0"/>
          </a:p>
        </p:txBody>
      </p:sp>
      <p:sp>
        <p:nvSpPr>
          <p:cNvPr id="40" name="Shape 38"/>
          <p:cNvSpPr/>
          <p:nvPr/>
        </p:nvSpPr>
        <p:spPr>
          <a:xfrm>
            <a:off x="8001000" y="3611880"/>
            <a:ext cx="3246120" cy="1609344"/>
          </a:xfrm>
          <a:prstGeom prst="rect">
            <a:avLst/>
          </a:prstGeom>
          <a:solidFill>
            <a:srgbClr val="F6E7DA"/>
          </a:solidFill>
          <a:ln w="12700">
            <a:solidFill>
              <a:srgbClr val="F6E7DA"/>
            </a:solidFill>
            <a:prstDash val="solid"/>
          </a:ln>
        </p:spPr>
      </p:sp>
      <p:sp>
        <p:nvSpPr>
          <p:cNvPr id="41" name="Shape 39"/>
          <p:cNvSpPr/>
          <p:nvPr/>
        </p:nvSpPr>
        <p:spPr>
          <a:xfrm>
            <a:off x="8001000" y="3611880"/>
            <a:ext cx="73152" cy="1609344"/>
          </a:xfrm>
          <a:prstGeom prst="rect">
            <a:avLst/>
          </a:prstGeom>
          <a:solidFill>
            <a:srgbClr val="C96A2B"/>
          </a:solidFill>
          <a:ln w="12700">
            <a:solidFill>
              <a:srgbClr val="C96A2B"/>
            </a:solidFill>
            <a:prstDash val="solid"/>
          </a:ln>
        </p:spPr>
      </p:sp>
      <p:sp>
        <p:nvSpPr>
          <p:cNvPr id="42" name="Shape 40"/>
          <p:cNvSpPr/>
          <p:nvPr/>
        </p:nvSpPr>
        <p:spPr>
          <a:xfrm>
            <a:off x="8147304" y="3739896"/>
            <a:ext cx="475488" cy="27432"/>
          </a:xfrm>
          <a:prstGeom prst="rect">
            <a:avLst/>
          </a:prstGeom>
          <a:solidFill>
            <a:srgbClr val="C96A2B"/>
          </a:solidFill>
          <a:ln w="12700">
            <a:solidFill>
              <a:srgbClr val="C96A2B"/>
            </a:solidFill>
            <a:prstDash val="solid"/>
          </a:ln>
        </p:spPr>
      </p:sp>
      <p:sp>
        <p:nvSpPr>
          <p:cNvPr id="43" name="Text 41"/>
          <p:cNvSpPr/>
          <p:nvPr/>
        </p:nvSpPr>
        <p:spPr>
          <a:xfrm>
            <a:off x="8202168" y="3831336"/>
            <a:ext cx="2935224" cy="219456"/>
          </a:xfrm>
          <a:prstGeom prst="rect">
            <a:avLst/>
          </a:prstGeom>
          <a:noFill/>
          <a:ln/>
        </p:spPr>
        <p:txBody>
          <a:bodyPr wrap="square" rtlCol="0" anchor="ctr"/>
          <a:lstStyle/>
          <a:p>
            <a:pPr indent="0" marL="0">
              <a:buNone/>
            </a:pPr>
            <a:r>
              <a:rPr lang="en-US" sz="1450" b="1" dirty="0">
                <a:solidFill>
                  <a:srgbClr val="0E1B2A"/>
                </a:solidFill>
                <a:latin typeface="Bahnschrift" pitchFamily="34" charset="0"/>
                <a:ea typeface="Bahnschrift" pitchFamily="34" charset="-122"/>
                <a:cs typeface="Bahnschrift" pitchFamily="34" charset="-120"/>
              </a:rPr>
              <a:t>Same-host stack</a:t>
            </a:r>
            <a:endParaRPr lang="en-US" sz="1450" dirty="0"/>
          </a:p>
        </p:txBody>
      </p:sp>
      <p:sp>
        <p:nvSpPr>
          <p:cNvPr id="44" name="Text 42"/>
          <p:cNvSpPr/>
          <p:nvPr/>
        </p:nvSpPr>
        <p:spPr>
          <a:xfrm>
            <a:off x="8202168" y="4160520"/>
            <a:ext cx="2935224" cy="932688"/>
          </a:xfrm>
          <a:prstGeom prst="rect">
            <a:avLst/>
          </a:prstGeom>
          <a:noFill/>
          <a:ln/>
        </p:spPr>
        <p:txBody>
          <a:bodyPr wrap="square" lIns="254" tIns="254" rIns="254" bIns="254" rtlCol="0" anchor="t"/>
          <a:lstStyle/>
          <a:p>
            <a:pPr indent="0" marL="0">
              <a:buNone/>
            </a:pPr>
            <a:r>
              <a:rPr lang="en-US" sz="1050" dirty="0">
                <a:solidFill>
                  <a:srgbClr val="41576D"/>
                </a:solidFill>
                <a:latin typeface="Aptos" pitchFamily="34" charset="0"/>
                <a:ea typeface="Aptos" pitchFamily="34" charset="-122"/>
                <a:cs typeface="Aptos" pitchFamily="34" charset="-120"/>
              </a:rPr>
              <a:t>Runbook thống nhất bootstrap, status, smoke, recover và post-restore-check cho toàn bộ stack model + sensor + console + notification.</a:t>
            </a:r>
            <a:endParaRPr lang="en-US" sz="1050" dirty="0"/>
          </a:p>
        </p:txBody>
      </p:sp>
      <p:sp>
        <p:nvSpPr>
          <p:cNvPr id="45" name="Text 43"/>
          <p:cNvSpPr/>
          <p:nvPr/>
        </p:nvSpPr>
        <p:spPr>
          <a:xfrm>
            <a:off x="548640" y="6473952"/>
            <a:ext cx="9509760" cy="164592"/>
          </a:xfrm>
          <a:prstGeom prst="rect">
            <a:avLst/>
          </a:prstGeom>
          <a:noFill/>
          <a:ln/>
        </p:spPr>
        <p:txBody>
          <a:bodyPr wrap="square" rtlCol="0" anchor="ctr"/>
          <a:lstStyle/>
          <a:p>
            <a:pPr indent="0" marL="0">
              <a:buNone/>
            </a:pPr>
            <a:r>
              <a:rPr lang="en-US" sz="900" dirty="0">
                <a:solidFill>
                  <a:srgbClr val="7A7A76"/>
                </a:solidFill>
                <a:latin typeface="Aptos" pitchFamily="34" charset="0"/>
                <a:ea typeface="Aptos" pitchFamily="34" charset="-122"/>
                <a:cs typeface="Aptos" pitchFamily="34" charset="-120"/>
              </a:rPr>
              <a:t>Giá trị của phần operations là chứng minh hệ thống không chỉ phát hiện, mà còn có thể được vận hành, khởi động và kiểm tra.</a:t>
            </a:r>
            <a:endParaRPr lang="en-US" sz="900" dirty="0"/>
          </a:p>
        </p:txBody>
      </p:sp>
      <p:sp>
        <p:nvSpPr>
          <p:cNvPr id="25" name="Slide Number Placeholder 0"/>
          <p:cNvSpPr>
            <a:spLocks noGrp="1"/>
          </p:cNvSpPr>
          <p:nvPr>
            <p:ph type="sldNum" sz="quarter" idx="4294967295"/>
          </p:nvPr>
        </p:nvSpPr>
        <p:spPr>
          <a:xfrm>
            <a:off x="11475720" y="6446520"/>
            <a:ext cx="32004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7A7A76"/>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CF8F2"/>
        </a:solidFill>
      </p:bgPr>
    </p:bg>
    <p:spTree>
      <p:nvGrpSpPr>
        <p:cNvPr id="1" name=""/>
        <p:cNvGrpSpPr/>
        <p:nvPr/>
      </p:nvGrpSpPr>
      <p:grpSpPr>
        <a:xfrm>
          <a:off x="0" y="0"/>
          <a:ext cx="0" cy="0"/>
          <a:chOff x="0" y="0"/>
          <a:chExt cx="0" cy="0"/>
        </a:xfrm>
      </p:grpSpPr>
      <p:sp>
        <p:nvSpPr>
          <p:cNvPr id="2" name="Shape 0"/>
          <p:cNvSpPr/>
          <p:nvPr/>
        </p:nvSpPr>
        <p:spPr>
          <a:xfrm>
            <a:off x="0" y="0"/>
            <a:ext cx="12191695" cy="219456"/>
          </a:xfrm>
          <a:prstGeom prst="rect">
            <a:avLst/>
          </a:prstGeom>
          <a:solidFill>
            <a:srgbClr val="0E1B2A"/>
          </a:solidFill>
          <a:ln w="12700">
            <a:solidFill>
              <a:srgbClr val="0E1B2A"/>
            </a:solidFill>
            <a:prstDash val="solid"/>
          </a:ln>
        </p:spPr>
      </p:sp>
      <p:sp>
        <p:nvSpPr>
          <p:cNvPr id="3" name="Shape 1"/>
          <p:cNvSpPr/>
          <p:nvPr/>
        </p:nvSpPr>
        <p:spPr>
          <a:xfrm>
            <a:off x="566928" y="713232"/>
            <a:ext cx="54864" cy="859536"/>
          </a:xfrm>
          <a:prstGeom prst="rect">
            <a:avLst/>
          </a:prstGeom>
          <a:solidFill>
            <a:srgbClr val="C96A2B"/>
          </a:solidFill>
          <a:ln w="12700">
            <a:solidFill>
              <a:srgbClr val="C96A2B"/>
            </a:solidFill>
            <a:prstDash val="solid"/>
          </a:ln>
        </p:spPr>
      </p:sp>
      <p:sp>
        <p:nvSpPr>
          <p:cNvPr id="4" name="Shape 2"/>
          <p:cNvSpPr/>
          <p:nvPr/>
        </p:nvSpPr>
        <p:spPr>
          <a:xfrm>
            <a:off x="9555480" y="822960"/>
            <a:ext cx="2011680" cy="36576"/>
          </a:xfrm>
          <a:prstGeom prst="rect">
            <a:avLst/>
          </a:prstGeom>
          <a:solidFill>
            <a:srgbClr val="C96A2B">
              <a:alpha val="72000"/>
            </a:srgbClr>
          </a:solidFill>
          <a:ln w="12700">
            <a:solidFill>
              <a:srgbClr val="C96A2B">
                <a:alpha val="72000"/>
              </a:srgbClr>
            </a:solidFill>
            <a:prstDash val="solid"/>
          </a:ln>
        </p:spPr>
      </p:sp>
      <p:sp>
        <p:nvSpPr>
          <p:cNvPr id="5" name="Shape 3"/>
          <p:cNvSpPr/>
          <p:nvPr/>
        </p:nvSpPr>
        <p:spPr>
          <a:xfrm>
            <a:off x="10469880" y="292608"/>
            <a:ext cx="1078992" cy="1078992"/>
          </a:xfrm>
          <a:prstGeom prst="ellipse">
            <a:avLst/>
          </a:prstGeom>
          <a:solidFill>
            <a:srgbClr val="C96A2B">
              <a:alpha val="0"/>
            </a:srgbClr>
          </a:solidFill>
          <a:ln w="12700">
            <a:solidFill>
              <a:srgbClr val="C96A2B">
                <a:alpha val="18000"/>
              </a:srgbClr>
            </a:solidFill>
            <a:prstDash val="solid"/>
          </a:ln>
        </p:spPr>
      </p:sp>
      <p:sp>
        <p:nvSpPr>
          <p:cNvPr id="6" name="Shape 4"/>
          <p:cNvSpPr/>
          <p:nvPr/>
        </p:nvSpPr>
        <p:spPr>
          <a:xfrm>
            <a:off x="73152" y="5257800"/>
            <a:ext cx="987552" cy="987552"/>
          </a:xfrm>
          <a:prstGeom prst="ellipse">
            <a:avLst/>
          </a:prstGeom>
          <a:solidFill>
            <a:srgbClr val="2B7A78">
              <a:alpha val="0"/>
            </a:srgbClr>
          </a:solidFill>
          <a:ln w="12700">
            <a:solidFill>
              <a:srgbClr val="2B7A78">
                <a:alpha val="14000"/>
              </a:srgbClr>
            </a:solidFill>
            <a:prstDash val="solid"/>
          </a:ln>
        </p:spPr>
      </p:sp>
      <p:sp>
        <p:nvSpPr>
          <p:cNvPr id="7" name="Text 5"/>
          <p:cNvSpPr/>
          <p:nvPr/>
        </p:nvSpPr>
        <p:spPr>
          <a:xfrm>
            <a:off x="768096" y="603504"/>
            <a:ext cx="4023360" cy="237744"/>
          </a:xfrm>
          <a:prstGeom prst="rect">
            <a:avLst/>
          </a:prstGeom>
          <a:noFill/>
          <a:ln/>
        </p:spPr>
        <p:txBody>
          <a:bodyPr wrap="square" rtlCol="0" anchor="ctr"/>
          <a:lstStyle/>
          <a:p>
            <a:pPr indent="0" marL="0">
              <a:buNone/>
            </a:pPr>
            <a:r>
              <a:rPr lang="en-US" sz="1100" b="1" dirty="0">
                <a:solidFill>
                  <a:srgbClr val="C96A2B"/>
                </a:solidFill>
                <a:latin typeface="Bahnschrift" pitchFamily="34" charset="0"/>
                <a:ea typeface="Bahnschrift" pitchFamily="34" charset="-122"/>
                <a:cs typeface="Bahnschrift" pitchFamily="34" charset="-120"/>
              </a:rPr>
              <a:t>12  EVIDENCE</a:t>
            </a:r>
            <a:endParaRPr lang="en-US" sz="1100" dirty="0"/>
          </a:p>
        </p:txBody>
      </p:sp>
      <p:sp>
        <p:nvSpPr>
          <p:cNvPr id="8" name="Text 6"/>
          <p:cNvSpPr/>
          <p:nvPr/>
        </p:nvSpPr>
        <p:spPr>
          <a:xfrm>
            <a:off x="768096" y="859536"/>
            <a:ext cx="8001000" cy="457200"/>
          </a:xfrm>
          <a:prstGeom prst="rect">
            <a:avLst/>
          </a:prstGeom>
          <a:noFill/>
          <a:ln/>
        </p:spPr>
        <p:txBody>
          <a:bodyPr wrap="square" rtlCol="0" anchor="ctr"/>
          <a:lstStyle/>
          <a:p>
            <a:pPr indent="0" marL="0">
              <a:buNone/>
            </a:pPr>
            <a:r>
              <a:rPr lang="en-US" sz="2500" b="1" dirty="0">
                <a:solidFill>
                  <a:srgbClr val="0E1B2A"/>
                </a:solidFill>
                <a:latin typeface="Bahnschrift" pitchFamily="34" charset="0"/>
                <a:ea typeface="Bahnschrift" pitchFamily="34" charset="-122"/>
                <a:cs typeface="Bahnschrift" pitchFamily="34" charset="-120"/>
              </a:rPr>
              <a:t>Bằng chứng validation và demo</a:t>
            </a:r>
            <a:endParaRPr lang="en-US" sz="2500" dirty="0"/>
          </a:p>
        </p:txBody>
      </p:sp>
      <p:sp>
        <p:nvSpPr>
          <p:cNvPr id="9" name="Shape 7"/>
          <p:cNvSpPr/>
          <p:nvPr/>
        </p:nvSpPr>
        <p:spPr>
          <a:xfrm>
            <a:off x="768096" y="1389888"/>
            <a:ext cx="1965960" cy="36576"/>
          </a:xfrm>
          <a:prstGeom prst="rect">
            <a:avLst/>
          </a:prstGeom>
          <a:solidFill>
            <a:srgbClr val="C96A2B"/>
          </a:solidFill>
          <a:ln w="12700">
            <a:solidFill>
              <a:srgbClr val="C96A2B"/>
            </a:solidFill>
            <a:prstDash val="solid"/>
          </a:ln>
        </p:spPr>
      </p:sp>
      <p:sp>
        <p:nvSpPr>
          <p:cNvPr id="10" name="Text 8"/>
          <p:cNvSpPr/>
          <p:nvPr/>
        </p:nvSpPr>
        <p:spPr>
          <a:xfrm>
            <a:off x="10808208" y="566928"/>
            <a:ext cx="502920" cy="237744"/>
          </a:xfrm>
          <a:prstGeom prst="rect">
            <a:avLst/>
          </a:prstGeom>
          <a:noFill/>
          <a:ln/>
        </p:spPr>
        <p:txBody>
          <a:bodyPr wrap="square" rtlCol="0" anchor="ctr"/>
          <a:lstStyle/>
          <a:p>
            <a:pPr algn="r" indent="0" marL="0">
              <a:buNone/>
            </a:pPr>
            <a:r>
              <a:rPr lang="en-US" sz="1200" b="1" dirty="0">
                <a:solidFill>
                  <a:srgbClr val="7A7A76"/>
                </a:solidFill>
                <a:latin typeface="Bahnschrift" pitchFamily="34" charset="0"/>
                <a:ea typeface="Bahnschrift" pitchFamily="34" charset="-122"/>
                <a:cs typeface="Bahnschrift" pitchFamily="34" charset="-120"/>
              </a:rPr>
              <a:t>13</a:t>
            </a:r>
            <a:endParaRPr lang="en-US" sz="1200" dirty="0"/>
          </a:p>
        </p:txBody>
      </p:sp>
      <p:sp>
        <p:nvSpPr>
          <p:cNvPr id="11" name="Shape 9"/>
          <p:cNvSpPr/>
          <p:nvPr/>
        </p:nvSpPr>
        <p:spPr>
          <a:xfrm>
            <a:off x="822960" y="1508760"/>
            <a:ext cx="2011680" cy="987552"/>
          </a:xfrm>
          <a:prstGeom prst="rect">
            <a:avLst/>
          </a:prstGeom>
          <a:solidFill>
            <a:srgbClr val="E7F0F6"/>
          </a:solidFill>
          <a:ln w="12700">
            <a:solidFill>
              <a:srgbClr val="E7F0F6"/>
            </a:solidFill>
            <a:prstDash val="solid"/>
          </a:ln>
        </p:spPr>
      </p:sp>
      <p:sp>
        <p:nvSpPr>
          <p:cNvPr id="12" name="Shape 10"/>
          <p:cNvSpPr/>
          <p:nvPr/>
        </p:nvSpPr>
        <p:spPr>
          <a:xfrm>
            <a:off x="822960" y="1508760"/>
            <a:ext cx="2011680" cy="36576"/>
          </a:xfrm>
          <a:prstGeom prst="rect">
            <a:avLst/>
          </a:prstGeom>
          <a:solidFill>
            <a:srgbClr val="3D6C8D"/>
          </a:solidFill>
          <a:ln w="12700">
            <a:solidFill>
              <a:srgbClr val="3D6C8D"/>
            </a:solidFill>
            <a:prstDash val="solid"/>
          </a:ln>
        </p:spPr>
      </p:sp>
      <p:sp>
        <p:nvSpPr>
          <p:cNvPr id="13" name="Text 11"/>
          <p:cNvSpPr/>
          <p:nvPr/>
        </p:nvSpPr>
        <p:spPr>
          <a:xfrm>
            <a:off x="969264" y="1618488"/>
            <a:ext cx="1719072" cy="182880"/>
          </a:xfrm>
          <a:prstGeom prst="rect">
            <a:avLst/>
          </a:prstGeom>
          <a:noFill/>
          <a:ln/>
        </p:spPr>
        <p:txBody>
          <a:bodyPr wrap="square" rtlCol="0" anchor="ctr"/>
          <a:lstStyle/>
          <a:p>
            <a:pPr indent="0" marL="0">
              <a:buNone/>
            </a:pPr>
            <a:r>
              <a:rPr lang="en-US" sz="1030" b="1" dirty="0">
                <a:solidFill>
                  <a:srgbClr val="7A7A76"/>
                </a:solidFill>
                <a:latin typeface="Aptos" pitchFamily="34" charset="0"/>
                <a:ea typeface="Aptos" pitchFamily="34" charset="-122"/>
                <a:cs typeface="Aptos" pitchFamily="34" charset="-120"/>
              </a:rPr>
              <a:t>Test module</a:t>
            </a:r>
            <a:endParaRPr lang="en-US" sz="1030" dirty="0"/>
          </a:p>
        </p:txBody>
      </p:sp>
      <p:sp>
        <p:nvSpPr>
          <p:cNvPr id="14" name="Text 12"/>
          <p:cNvSpPr/>
          <p:nvPr/>
        </p:nvSpPr>
        <p:spPr>
          <a:xfrm>
            <a:off x="969264" y="1819656"/>
            <a:ext cx="1719072" cy="384048"/>
          </a:xfrm>
          <a:prstGeom prst="rect">
            <a:avLst/>
          </a:prstGeom>
          <a:noFill/>
          <a:ln/>
        </p:spPr>
        <p:txBody>
          <a:bodyPr wrap="square" rtlCol="0" anchor="ctr"/>
          <a:lstStyle/>
          <a:p>
            <a:pPr indent="0" marL="0">
              <a:buNone/>
            </a:pPr>
            <a:r>
              <a:rPr lang="en-US" sz="2200" b="1" dirty="0">
                <a:solidFill>
                  <a:srgbClr val="3D6C8D"/>
                </a:solidFill>
                <a:latin typeface="Bahnschrift" pitchFamily="34" charset="0"/>
                <a:ea typeface="Bahnschrift" pitchFamily="34" charset="-122"/>
                <a:cs typeface="Bahnschrift" pitchFamily="34" charset="-120"/>
              </a:rPr>
              <a:t>28</a:t>
            </a:r>
            <a:endParaRPr lang="en-US" sz="2200" dirty="0"/>
          </a:p>
        </p:txBody>
      </p:sp>
      <p:sp>
        <p:nvSpPr>
          <p:cNvPr id="15" name="Text 13"/>
          <p:cNvSpPr/>
          <p:nvPr/>
        </p:nvSpPr>
        <p:spPr>
          <a:xfrm>
            <a:off x="969264" y="2267712"/>
            <a:ext cx="1719072" cy="146304"/>
          </a:xfrm>
          <a:prstGeom prst="rect">
            <a:avLst/>
          </a:prstGeom>
          <a:noFill/>
          <a:ln/>
        </p:spPr>
        <p:txBody>
          <a:bodyPr wrap="square" rtlCol="0" anchor="ctr"/>
          <a:lstStyle/>
          <a:p>
            <a:pPr indent="0" marL="0">
              <a:buNone/>
            </a:pPr>
            <a:r>
              <a:rPr lang="en-US" sz="950" dirty="0">
                <a:solidFill>
                  <a:srgbClr val="41576D"/>
                </a:solidFill>
                <a:latin typeface="Aptos" pitchFamily="34" charset="0"/>
                <a:ea typeface="Aptos" pitchFamily="34" charset="-122"/>
                <a:cs typeface="Aptos" pitchFamily="34" charset="-120"/>
              </a:rPr>
              <a:t>Bao gồm inference, realtime, live sensor, console</a:t>
            </a:r>
            <a:endParaRPr lang="en-US" sz="950" dirty="0"/>
          </a:p>
        </p:txBody>
      </p:sp>
      <p:sp>
        <p:nvSpPr>
          <p:cNvPr id="16" name="Shape 14"/>
          <p:cNvSpPr/>
          <p:nvPr/>
        </p:nvSpPr>
        <p:spPr>
          <a:xfrm>
            <a:off x="3063240" y="1508760"/>
            <a:ext cx="2011680" cy="987552"/>
          </a:xfrm>
          <a:prstGeom prst="rect">
            <a:avLst/>
          </a:prstGeom>
          <a:solidFill>
            <a:srgbClr val="E2F3F1"/>
          </a:solidFill>
          <a:ln w="12700">
            <a:solidFill>
              <a:srgbClr val="E2F3F1"/>
            </a:solidFill>
            <a:prstDash val="solid"/>
          </a:ln>
        </p:spPr>
      </p:sp>
      <p:sp>
        <p:nvSpPr>
          <p:cNvPr id="17" name="Shape 15"/>
          <p:cNvSpPr/>
          <p:nvPr/>
        </p:nvSpPr>
        <p:spPr>
          <a:xfrm>
            <a:off x="3063240" y="1508760"/>
            <a:ext cx="2011680" cy="36576"/>
          </a:xfrm>
          <a:prstGeom prst="rect">
            <a:avLst/>
          </a:prstGeom>
          <a:solidFill>
            <a:srgbClr val="2B7A78"/>
          </a:solidFill>
          <a:ln w="12700">
            <a:solidFill>
              <a:srgbClr val="2B7A78"/>
            </a:solidFill>
            <a:prstDash val="solid"/>
          </a:ln>
        </p:spPr>
      </p:sp>
      <p:sp>
        <p:nvSpPr>
          <p:cNvPr id="18" name="Text 16"/>
          <p:cNvSpPr/>
          <p:nvPr/>
        </p:nvSpPr>
        <p:spPr>
          <a:xfrm>
            <a:off x="3209544" y="1618488"/>
            <a:ext cx="1719072" cy="182880"/>
          </a:xfrm>
          <a:prstGeom prst="rect">
            <a:avLst/>
          </a:prstGeom>
          <a:noFill/>
          <a:ln/>
        </p:spPr>
        <p:txBody>
          <a:bodyPr wrap="square" rtlCol="0" anchor="ctr"/>
          <a:lstStyle/>
          <a:p>
            <a:pPr indent="0" marL="0">
              <a:buNone/>
            </a:pPr>
            <a:r>
              <a:rPr lang="en-US" sz="1030" b="1" dirty="0">
                <a:solidFill>
                  <a:srgbClr val="7A7A76"/>
                </a:solidFill>
                <a:latin typeface="Aptos" pitchFamily="34" charset="0"/>
                <a:ea typeface="Aptos" pitchFamily="34" charset="-122"/>
                <a:cs typeface="Aptos" pitchFamily="34" charset="-120"/>
              </a:rPr>
              <a:t>Dry-run bundle</a:t>
            </a:r>
            <a:endParaRPr lang="en-US" sz="1030" dirty="0"/>
          </a:p>
        </p:txBody>
      </p:sp>
      <p:sp>
        <p:nvSpPr>
          <p:cNvPr id="19" name="Text 17"/>
          <p:cNvSpPr/>
          <p:nvPr/>
        </p:nvSpPr>
        <p:spPr>
          <a:xfrm>
            <a:off x="3209544" y="1819656"/>
            <a:ext cx="1719072" cy="384048"/>
          </a:xfrm>
          <a:prstGeom prst="rect">
            <a:avLst/>
          </a:prstGeom>
          <a:noFill/>
          <a:ln/>
        </p:spPr>
        <p:txBody>
          <a:bodyPr wrap="square" rtlCol="0" anchor="ctr"/>
          <a:lstStyle/>
          <a:p>
            <a:pPr indent="0" marL="0">
              <a:buNone/>
            </a:pPr>
            <a:r>
              <a:rPr lang="en-US" sz="2200" b="1" dirty="0">
                <a:solidFill>
                  <a:srgbClr val="2B7A78"/>
                </a:solidFill>
                <a:latin typeface="Bahnschrift" pitchFamily="34" charset="0"/>
                <a:ea typeface="Bahnschrift" pitchFamily="34" charset="-122"/>
                <a:cs typeface="Bahnschrift" pitchFamily="34" charset="-120"/>
              </a:rPr>
              <a:t>1000 rows</a:t>
            </a:r>
            <a:endParaRPr lang="en-US" sz="2200" dirty="0"/>
          </a:p>
        </p:txBody>
      </p:sp>
      <p:sp>
        <p:nvSpPr>
          <p:cNvPr id="20" name="Text 18"/>
          <p:cNvSpPr/>
          <p:nvPr/>
        </p:nvSpPr>
        <p:spPr>
          <a:xfrm>
            <a:off x="3209544" y="2267712"/>
            <a:ext cx="1719072" cy="146304"/>
          </a:xfrm>
          <a:prstGeom prst="rect">
            <a:avLst/>
          </a:prstGeom>
          <a:noFill/>
          <a:ln/>
        </p:spPr>
        <p:txBody>
          <a:bodyPr wrap="square" rtlCol="0" anchor="ctr"/>
          <a:lstStyle/>
          <a:p>
            <a:pPr indent="0" marL="0">
              <a:buNone/>
            </a:pPr>
            <a:r>
              <a:rPr lang="en-US" sz="950" dirty="0">
                <a:solidFill>
                  <a:srgbClr val="41576D"/>
                </a:solidFill>
                <a:latin typeface="Aptos" pitchFamily="34" charset="0"/>
                <a:ea typeface="Aptos" pitchFamily="34" charset="-122"/>
                <a:cs typeface="Aptos" pitchFamily="34" charset="-120"/>
              </a:rPr>
              <a:t>Score thành công từ bundle final</a:t>
            </a:r>
            <a:endParaRPr lang="en-US" sz="950" dirty="0"/>
          </a:p>
        </p:txBody>
      </p:sp>
      <p:sp>
        <p:nvSpPr>
          <p:cNvPr id="21" name="Shape 19"/>
          <p:cNvSpPr/>
          <p:nvPr/>
        </p:nvSpPr>
        <p:spPr>
          <a:xfrm>
            <a:off x="5303520" y="1508760"/>
            <a:ext cx="2011680" cy="987552"/>
          </a:xfrm>
          <a:prstGeom prst="rect">
            <a:avLst/>
          </a:prstGeom>
          <a:solidFill>
            <a:srgbClr val="F6E7DA"/>
          </a:solidFill>
          <a:ln w="12700">
            <a:solidFill>
              <a:srgbClr val="F6E7DA"/>
            </a:solidFill>
            <a:prstDash val="solid"/>
          </a:ln>
        </p:spPr>
      </p:sp>
      <p:sp>
        <p:nvSpPr>
          <p:cNvPr id="22" name="Shape 20"/>
          <p:cNvSpPr/>
          <p:nvPr/>
        </p:nvSpPr>
        <p:spPr>
          <a:xfrm>
            <a:off x="5303520" y="1508760"/>
            <a:ext cx="2011680" cy="36576"/>
          </a:xfrm>
          <a:prstGeom prst="rect">
            <a:avLst/>
          </a:prstGeom>
          <a:solidFill>
            <a:srgbClr val="C96A2B"/>
          </a:solidFill>
          <a:ln w="12700">
            <a:solidFill>
              <a:srgbClr val="C96A2B"/>
            </a:solidFill>
            <a:prstDash val="solid"/>
          </a:ln>
        </p:spPr>
      </p:sp>
      <p:sp>
        <p:nvSpPr>
          <p:cNvPr id="23" name="Text 21"/>
          <p:cNvSpPr/>
          <p:nvPr/>
        </p:nvSpPr>
        <p:spPr>
          <a:xfrm>
            <a:off x="5449824" y="1618488"/>
            <a:ext cx="1719072" cy="182880"/>
          </a:xfrm>
          <a:prstGeom prst="rect">
            <a:avLst/>
          </a:prstGeom>
          <a:noFill/>
          <a:ln/>
        </p:spPr>
        <p:txBody>
          <a:bodyPr wrap="square" rtlCol="0" anchor="ctr"/>
          <a:lstStyle/>
          <a:p>
            <a:pPr indent="0" marL="0">
              <a:buNone/>
            </a:pPr>
            <a:r>
              <a:rPr lang="en-US" sz="1030" b="1" dirty="0">
                <a:solidFill>
                  <a:srgbClr val="7A7A76"/>
                </a:solidFill>
                <a:latin typeface="Aptos" pitchFamily="34" charset="0"/>
                <a:ea typeface="Aptos" pitchFamily="34" charset="-122"/>
                <a:cs typeface="Aptos" pitchFamily="34" charset="-120"/>
              </a:rPr>
              <a:t>Demo fixture</a:t>
            </a:r>
            <a:endParaRPr lang="en-US" sz="1030" dirty="0"/>
          </a:p>
        </p:txBody>
      </p:sp>
      <p:sp>
        <p:nvSpPr>
          <p:cNvPr id="24" name="Text 22"/>
          <p:cNvSpPr/>
          <p:nvPr/>
        </p:nvSpPr>
        <p:spPr>
          <a:xfrm>
            <a:off x="5449824" y="1819656"/>
            <a:ext cx="1719072" cy="384048"/>
          </a:xfrm>
          <a:prstGeom prst="rect">
            <a:avLst/>
          </a:prstGeom>
          <a:noFill/>
          <a:ln/>
        </p:spPr>
        <p:txBody>
          <a:bodyPr wrap="square" rtlCol="0" anchor="ctr"/>
          <a:lstStyle/>
          <a:p>
            <a:pPr indent="0" marL="0">
              <a:buNone/>
            </a:pPr>
            <a:r>
              <a:rPr lang="en-US" sz="2200" b="1" dirty="0">
                <a:solidFill>
                  <a:srgbClr val="C96A2B"/>
                </a:solidFill>
                <a:latin typeface="Bahnschrift" pitchFamily="34" charset="0"/>
                <a:ea typeface="Bahnschrift" pitchFamily="34" charset="-122"/>
                <a:cs typeface="Bahnschrift" pitchFamily="34" charset="-120"/>
              </a:rPr>
              <a:t>5 JSONL</a:t>
            </a:r>
            <a:endParaRPr lang="en-US" sz="2200" dirty="0"/>
          </a:p>
        </p:txBody>
      </p:sp>
      <p:sp>
        <p:nvSpPr>
          <p:cNvPr id="25" name="Text 23"/>
          <p:cNvSpPr/>
          <p:nvPr/>
        </p:nvSpPr>
        <p:spPr>
          <a:xfrm>
            <a:off x="5449824" y="2267712"/>
            <a:ext cx="1719072" cy="146304"/>
          </a:xfrm>
          <a:prstGeom prst="rect">
            <a:avLst/>
          </a:prstGeom>
          <a:noFill/>
          <a:ln/>
        </p:spPr>
        <p:txBody>
          <a:bodyPr wrap="square" rtlCol="0" anchor="ctr"/>
          <a:lstStyle/>
          <a:p>
            <a:pPr indent="0" marL="0">
              <a:buNone/>
            </a:pPr>
            <a:r>
              <a:rPr lang="en-US" sz="950" dirty="0">
                <a:solidFill>
                  <a:srgbClr val="41576D"/>
                </a:solidFill>
                <a:latin typeface="Aptos" pitchFamily="34" charset="0"/>
                <a:ea typeface="Aptos" pitchFamily="34" charset="-122"/>
                <a:cs typeface="Aptos" pitchFamily="34" charset="-120"/>
              </a:rPr>
              <a:t>Adapter / realtime / live sensor</a:t>
            </a:r>
            <a:endParaRPr lang="en-US" sz="950" dirty="0"/>
          </a:p>
        </p:txBody>
      </p:sp>
      <p:sp>
        <p:nvSpPr>
          <p:cNvPr id="26" name="Shape 24"/>
          <p:cNvSpPr/>
          <p:nvPr/>
        </p:nvSpPr>
        <p:spPr>
          <a:xfrm>
            <a:off x="7543800" y="1508760"/>
            <a:ext cx="2011680" cy="987552"/>
          </a:xfrm>
          <a:prstGeom prst="rect">
            <a:avLst/>
          </a:prstGeom>
          <a:solidFill>
            <a:srgbClr val="E8F2EA"/>
          </a:solidFill>
          <a:ln w="12700">
            <a:solidFill>
              <a:srgbClr val="E8F2EA"/>
            </a:solidFill>
            <a:prstDash val="solid"/>
          </a:ln>
        </p:spPr>
      </p:sp>
      <p:sp>
        <p:nvSpPr>
          <p:cNvPr id="27" name="Shape 25"/>
          <p:cNvSpPr/>
          <p:nvPr/>
        </p:nvSpPr>
        <p:spPr>
          <a:xfrm>
            <a:off x="7543800" y="1508760"/>
            <a:ext cx="2011680" cy="36576"/>
          </a:xfrm>
          <a:prstGeom prst="rect">
            <a:avLst/>
          </a:prstGeom>
          <a:solidFill>
            <a:srgbClr val="4E8B61"/>
          </a:solidFill>
          <a:ln w="12700">
            <a:solidFill>
              <a:srgbClr val="4E8B61"/>
            </a:solidFill>
            <a:prstDash val="solid"/>
          </a:ln>
        </p:spPr>
      </p:sp>
      <p:sp>
        <p:nvSpPr>
          <p:cNvPr id="28" name="Text 26"/>
          <p:cNvSpPr/>
          <p:nvPr/>
        </p:nvSpPr>
        <p:spPr>
          <a:xfrm>
            <a:off x="7690104" y="1618488"/>
            <a:ext cx="1719072" cy="182880"/>
          </a:xfrm>
          <a:prstGeom prst="rect">
            <a:avLst/>
          </a:prstGeom>
          <a:noFill/>
          <a:ln/>
        </p:spPr>
        <p:txBody>
          <a:bodyPr wrap="square" rtlCol="0" anchor="ctr"/>
          <a:lstStyle/>
          <a:p>
            <a:pPr indent="0" marL="0">
              <a:buNone/>
            </a:pPr>
            <a:r>
              <a:rPr lang="en-US" sz="1030" b="1" dirty="0">
                <a:solidFill>
                  <a:srgbClr val="7A7A76"/>
                </a:solidFill>
                <a:latin typeface="Aptos" pitchFamily="34" charset="0"/>
                <a:ea typeface="Aptos" pitchFamily="34" charset="-122"/>
                <a:cs typeface="Aptos" pitchFamily="34" charset="-120"/>
              </a:rPr>
              <a:t>Deploy files</a:t>
            </a:r>
            <a:endParaRPr lang="en-US" sz="1030" dirty="0"/>
          </a:p>
        </p:txBody>
      </p:sp>
      <p:sp>
        <p:nvSpPr>
          <p:cNvPr id="29" name="Text 27"/>
          <p:cNvSpPr/>
          <p:nvPr/>
        </p:nvSpPr>
        <p:spPr>
          <a:xfrm>
            <a:off x="7690104" y="1819656"/>
            <a:ext cx="1719072" cy="384048"/>
          </a:xfrm>
          <a:prstGeom prst="rect">
            <a:avLst/>
          </a:prstGeom>
          <a:noFill/>
          <a:ln/>
        </p:spPr>
        <p:txBody>
          <a:bodyPr wrap="square" rtlCol="0" anchor="ctr"/>
          <a:lstStyle/>
          <a:p>
            <a:pPr indent="0" marL="0">
              <a:buNone/>
            </a:pPr>
            <a:r>
              <a:rPr lang="en-US" sz="2200" b="1" dirty="0">
                <a:solidFill>
                  <a:srgbClr val="4E8B61"/>
                </a:solidFill>
                <a:latin typeface="Bahnschrift" pitchFamily="34" charset="0"/>
                <a:ea typeface="Bahnschrift" pitchFamily="34" charset="-122"/>
                <a:cs typeface="Bahnschrift" pitchFamily="34" charset="-120"/>
              </a:rPr>
              <a:t>systemd + nginx</a:t>
            </a:r>
            <a:endParaRPr lang="en-US" sz="2200" dirty="0"/>
          </a:p>
        </p:txBody>
      </p:sp>
      <p:sp>
        <p:nvSpPr>
          <p:cNvPr id="30" name="Text 28"/>
          <p:cNvSpPr/>
          <p:nvPr/>
        </p:nvSpPr>
        <p:spPr>
          <a:xfrm>
            <a:off x="7690104" y="2267712"/>
            <a:ext cx="1719072" cy="146304"/>
          </a:xfrm>
          <a:prstGeom prst="rect">
            <a:avLst/>
          </a:prstGeom>
          <a:noFill/>
          <a:ln/>
        </p:spPr>
        <p:txBody>
          <a:bodyPr wrap="square" rtlCol="0" anchor="ctr"/>
          <a:lstStyle/>
          <a:p>
            <a:pPr indent="0" marL="0">
              <a:buNone/>
            </a:pPr>
            <a:r>
              <a:rPr lang="en-US" sz="950" dirty="0">
                <a:solidFill>
                  <a:srgbClr val="41576D"/>
                </a:solidFill>
                <a:latin typeface="Aptos" pitchFamily="34" charset="0"/>
                <a:ea typeface="Aptos" pitchFamily="34" charset="-122"/>
                <a:cs typeface="Aptos" pitchFamily="34" charset="-120"/>
              </a:rPr>
              <a:t>Dùng được trên host Linux</a:t>
            </a:r>
            <a:endParaRPr lang="en-US" sz="950" dirty="0"/>
          </a:p>
        </p:txBody>
      </p:sp>
      <p:pic>
        <p:nvPicPr>
          <p:cNvPr id="31" name="Image 0" descr="F:\Work\IDS_ML_New\docs\figures\catboost_full_pr_roc.png">    </p:cNvPr>
          <p:cNvPicPr>
            <a:picLocks noChangeAspect="1"/>
          </p:cNvPicPr>
          <p:nvPr/>
        </p:nvPicPr>
        <p:blipFill>
          <a:blip r:embed="rId1"/>
          <a:stretch>
            <a:fillRect/>
          </a:stretch>
        </p:blipFill>
        <p:spPr>
          <a:xfrm>
            <a:off x="777240" y="2980521"/>
            <a:ext cx="5303520" cy="2177117"/>
          </a:xfrm>
          <a:prstGeom prst="rect">
            <a:avLst/>
          </a:prstGeom>
        </p:spPr>
      </p:pic>
      <p:sp>
        <p:nvSpPr>
          <p:cNvPr id="32" name="Text 29"/>
          <p:cNvSpPr/>
          <p:nvPr/>
        </p:nvSpPr>
        <p:spPr>
          <a:xfrm>
            <a:off x="6492240" y="2926080"/>
            <a:ext cx="4572000" cy="2011680"/>
          </a:xfrm>
          <a:prstGeom prst="rect">
            <a:avLst/>
          </a:prstGeom>
          <a:noFill/>
          <a:ln/>
        </p:spPr>
        <p:txBody>
          <a:bodyPr wrap="square" lIns="635" tIns="635" rIns="635" bIns="635" rtlCol="0" anchor="t"/>
          <a:lstStyle/>
          <a:p>
            <a:pPr marL="342900" indent="-342900">
              <a:buSzPct val="100000"/>
              <a:buChar char="•"/>
            </a:pPr>
            <a:r>
              <a:rPr lang="en-US" sz="1080" dirty="0">
                <a:solidFill>
                  <a:srgbClr val="41576D"/>
                </a:solidFill>
                <a:latin typeface="Aptos" pitchFamily="34" charset="0"/>
                <a:ea typeface="Aptos" pitchFamily="34" charset="-122"/>
                <a:cs typeface="Aptos" pitchFamily="34" charset="-120"/>
              </a:rPr>
              <a:t>Repo có artifacts demo để trình diễn đường JSONL -&gt; alert/quarantine mà không cần chuẩn bị dataset nặng.</a:t>
            </a:r>
            <a:endParaRPr lang="en-US" sz="1080" dirty="0"/>
          </a:p>
          <a:p>
            <a:pPr marL="342900" indent="-342900">
              <a:buSzPct val="100000"/>
              <a:buChar char="•"/>
            </a:pPr>
            <a:r>
              <a:rPr lang="en-US" sz="1080" dirty="0">
                <a:solidFill>
                  <a:srgbClr val="41576D"/>
                </a:solidFill>
                <a:latin typeface="Aptos" pitchFamily="34" charset="0"/>
                <a:ea typeface="Aptos" pitchFamily="34" charset="-122"/>
                <a:cs typeface="Aptos" pitchFamily="34" charset="-120"/>
              </a:rPr>
              <a:t>Có dry-run inference từ bundle final và contract versioned để kiểm thử đường deploy.</a:t>
            </a:r>
            <a:endParaRPr lang="en-US" sz="1080" dirty="0"/>
          </a:p>
          <a:p>
            <a:pPr marL="342900" indent="-342900">
              <a:buSzPct val="100000"/>
              <a:buChar char="•"/>
            </a:pPr>
            <a:r>
              <a:rPr lang="en-US" sz="1080" dirty="0">
                <a:solidFill>
                  <a:srgbClr val="41576D"/>
                </a:solidFill>
                <a:latin typeface="Aptos" pitchFamily="34" charset="0"/>
                <a:ea typeface="Aptos" pitchFamily="34" charset="-122"/>
                <a:cs typeface="Aptos" pitchFamily="34" charset="-120"/>
              </a:rPr>
              <a:t>Hệ thống vận hành có preflight, smoke, health/readiness và runbook recover rõ ràng, nên phần demo thuyết phục hơn nhiều so với một mô hình thuần offline.</a:t>
            </a:r>
            <a:endParaRPr lang="en-US" sz="1080" dirty="0"/>
          </a:p>
        </p:txBody>
      </p:sp>
      <p:sp>
        <p:nvSpPr>
          <p:cNvPr id="33" name="Shape 30"/>
          <p:cNvSpPr/>
          <p:nvPr/>
        </p:nvSpPr>
        <p:spPr>
          <a:xfrm>
            <a:off x="6473952" y="4983480"/>
            <a:ext cx="4617720" cy="749808"/>
          </a:xfrm>
          <a:prstGeom prst="rect">
            <a:avLst/>
          </a:prstGeom>
          <a:solidFill>
            <a:srgbClr val="F2E8DC"/>
          </a:solidFill>
          <a:ln w="12700">
            <a:solidFill>
              <a:srgbClr val="F2E8DC"/>
            </a:solidFill>
            <a:prstDash val="solid"/>
          </a:ln>
        </p:spPr>
      </p:sp>
      <p:sp>
        <p:nvSpPr>
          <p:cNvPr id="34" name="Shape 31"/>
          <p:cNvSpPr/>
          <p:nvPr/>
        </p:nvSpPr>
        <p:spPr>
          <a:xfrm>
            <a:off x="6473952" y="4983480"/>
            <a:ext cx="73152" cy="749808"/>
          </a:xfrm>
          <a:prstGeom prst="rect">
            <a:avLst/>
          </a:prstGeom>
          <a:solidFill>
            <a:srgbClr val="0E1B2A"/>
          </a:solidFill>
          <a:ln w="12700">
            <a:solidFill>
              <a:srgbClr val="0E1B2A"/>
            </a:solidFill>
            <a:prstDash val="solid"/>
          </a:ln>
        </p:spPr>
      </p:sp>
      <p:sp>
        <p:nvSpPr>
          <p:cNvPr id="35" name="Shape 32"/>
          <p:cNvSpPr/>
          <p:nvPr/>
        </p:nvSpPr>
        <p:spPr>
          <a:xfrm>
            <a:off x="6620256" y="5111496"/>
            <a:ext cx="347472" cy="27432"/>
          </a:xfrm>
          <a:prstGeom prst="rect">
            <a:avLst/>
          </a:prstGeom>
          <a:solidFill>
            <a:srgbClr val="0E1B2A"/>
          </a:solidFill>
          <a:ln w="12700">
            <a:solidFill>
              <a:srgbClr val="0E1B2A"/>
            </a:solidFill>
            <a:prstDash val="solid"/>
          </a:ln>
        </p:spPr>
      </p:sp>
      <p:sp>
        <p:nvSpPr>
          <p:cNvPr id="36" name="Text 33"/>
          <p:cNvSpPr/>
          <p:nvPr/>
        </p:nvSpPr>
        <p:spPr>
          <a:xfrm>
            <a:off x="6675120" y="5166360"/>
            <a:ext cx="4306824" cy="219456"/>
          </a:xfrm>
          <a:prstGeom prst="rect">
            <a:avLst/>
          </a:prstGeom>
          <a:noFill/>
          <a:ln/>
        </p:spPr>
        <p:txBody>
          <a:bodyPr wrap="square" rtlCol="0" anchor="ctr"/>
          <a:lstStyle/>
          <a:p>
            <a:pPr indent="0" marL="0">
              <a:buNone/>
            </a:pPr>
            <a:r>
              <a:rPr lang="en-US" sz="1280" b="1" dirty="0">
                <a:solidFill>
                  <a:srgbClr val="0E1B2A"/>
                </a:solidFill>
                <a:latin typeface="Bahnschrift" pitchFamily="34" charset="0"/>
                <a:ea typeface="Bahnschrift" pitchFamily="34" charset="-122"/>
                <a:cs typeface="Bahnschrift" pitchFamily="34" charset="-120"/>
              </a:rPr>
              <a:t>Thông điệp trình bày</a:t>
            </a:r>
            <a:endParaRPr lang="en-US" sz="1280" dirty="0"/>
          </a:p>
        </p:txBody>
      </p:sp>
      <p:sp>
        <p:nvSpPr>
          <p:cNvPr id="37" name="Text 34"/>
          <p:cNvSpPr/>
          <p:nvPr/>
        </p:nvSpPr>
        <p:spPr>
          <a:xfrm>
            <a:off x="6675120" y="5349240"/>
            <a:ext cx="4306824" cy="292608"/>
          </a:xfrm>
          <a:prstGeom prst="rect">
            <a:avLst/>
          </a:prstGeom>
          <a:noFill/>
          <a:ln/>
        </p:spPr>
        <p:txBody>
          <a:bodyPr wrap="square" lIns="254" tIns="254" rIns="254" bIns="254" rtlCol="0" anchor="t"/>
          <a:lstStyle/>
          <a:p>
            <a:pPr indent="0" marL="0">
              <a:buNone/>
            </a:pPr>
            <a:r>
              <a:rPr lang="en-US" sz="960" dirty="0">
                <a:solidFill>
                  <a:srgbClr val="41576D"/>
                </a:solidFill>
                <a:latin typeface="Aptos" pitchFamily="34" charset="0"/>
                <a:ea typeface="Aptos" pitchFamily="34" charset="-122"/>
                <a:cs typeface="Aptos" pitchFamily="34" charset="-120"/>
              </a:rPr>
              <a:t>Bằng chứng validation giúp khẳng định đây là hệ thống IDS đã được harden, không chỉ là kết quả train model.</a:t>
            </a:r>
            <a:endParaRPr lang="en-US" sz="960" dirty="0"/>
          </a:p>
        </p:txBody>
      </p:sp>
      <p:sp>
        <p:nvSpPr>
          <p:cNvPr id="38" name="Text 35"/>
          <p:cNvSpPr/>
          <p:nvPr/>
        </p:nvSpPr>
        <p:spPr>
          <a:xfrm>
            <a:off x="548640" y="6473952"/>
            <a:ext cx="9509760" cy="164592"/>
          </a:xfrm>
          <a:prstGeom prst="rect">
            <a:avLst/>
          </a:prstGeom>
          <a:noFill/>
          <a:ln/>
        </p:spPr>
        <p:txBody>
          <a:bodyPr wrap="square" rtlCol="0" anchor="ctr"/>
          <a:lstStyle/>
          <a:p>
            <a:pPr indent="0" marL="0">
              <a:buNone/>
            </a:pPr>
            <a:r>
              <a:rPr lang="en-US" sz="900" dirty="0">
                <a:solidFill>
                  <a:srgbClr val="7A7A76"/>
                </a:solidFill>
                <a:latin typeface="Aptos" pitchFamily="34" charset="0"/>
                <a:ea typeface="Aptos" pitchFamily="34" charset="-122"/>
                <a:cs typeface="Aptos" pitchFamily="34" charset="-120"/>
              </a:rPr>
              <a:t>PR-AUC và ROC-AUC của CatBoost full-data rất cao; phần hạn chế còn lại chủ yếu nằm ở OOD recall và phạm vi triển khai V1.</a:t>
            </a:r>
            <a:endParaRPr lang="en-US" sz="900" dirty="0"/>
          </a:p>
        </p:txBody>
      </p:sp>
      <p:sp>
        <p:nvSpPr>
          <p:cNvPr id="25" name="Slide Number Placeholder 0"/>
          <p:cNvSpPr>
            <a:spLocks noGrp="1"/>
          </p:cNvSpPr>
          <p:nvPr>
            <p:ph type="sldNum" sz="quarter" idx="4294967295"/>
          </p:nvPr>
        </p:nvSpPr>
        <p:spPr>
          <a:xfrm>
            <a:off x="11475720" y="6446520"/>
            <a:ext cx="32004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7A7A76"/>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CF8F2"/>
        </a:solidFill>
      </p:bgPr>
    </p:bg>
    <p:spTree>
      <p:nvGrpSpPr>
        <p:cNvPr id="1" name=""/>
        <p:cNvGrpSpPr/>
        <p:nvPr/>
      </p:nvGrpSpPr>
      <p:grpSpPr>
        <a:xfrm>
          <a:off x="0" y="0"/>
          <a:ext cx="0" cy="0"/>
          <a:chOff x="0" y="0"/>
          <a:chExt cx="0" cy="0"/>
        </a:xfrm>
      </p:grpSpPr>
      <p:sp>
        <p:nvSpPr>
          <p:cNvPr id="2" name="Shape 0"/>
          <p:cNvSpPr/>
          <p:nvPr/>
        </p:nvSpPr>
        <p:spPr>
          <a:xfrm>
            <a:off x="0" y="0"/>
            <a:ext cx="12191695" cy="219456"/>
          </a:xfrm>
          <a:prstGeom prst="rect">
            <a:avLst/>
          </a:prstGeom>
          <a:solidFill>
            <a:srgbClr val="0E1B2A"/>
          </a:solidFill>
          <a:ln w="12700">
            <a:solidFill>
              <a:srgbClr val="0E1B2A"/>
            </a:solidFill>
            <a:prstDash val="solid"/>
          </a:ln>
        </p:spPr>
      </p:sp>
      <p:sp>
        <p:nvSpPr>
          <p:cNvPr id="3" name="Shape 1"/>
          <p:cNvSpPr/>
          <p:nvPr/>
        </p:nvSpPr>
        <p:spPr>
          <a:xfrm>
            <a:off x="566928" y="713232"/>
            <a:ext cx="54864" cy="859536"/>
          </a:xfrm>
          <a:prstGeom prst="rect">
            <a:avLst/>
          </a:prstGeom>
          <a:solidFill>
            <a:srgbClr val="C96A2B"/>
          </a:solidFill>
          <a:ln w="12700">
            <a:solidFill>
              <a:srgbClr val="C96A2B"/>
            </a:solidFill>
            <a:prstDash val="solid"/>
          </a:ln>
        </p:spPr>
      </p:sp>
      <p:sp>
        <p:nvSpPr>
          <p:cNvPr id="4" name="Shape 2"/>
          <p:cNvSpPr/>
          <p:nvPr/>
        </p:nvSpPr>
        <p:spPr>
          <a:xfrm>
            <a:off x="9555480" y="822960"/>
            <a:ext cx="2011680" cy="36576"/>
          </a:xfrm>
          <a:prstGeom prst="rect">
            <a:avLst/>
          </a:prstGeom>
          <a:solidFill>
            <a:srgbClr val="C96A2B">
              <a:alpha val="72000"/>
            </a:srgbClr>
          </a:solidFill>
          <a:ln w="12700">
            <a:solidFill>
              <a:srgbClr val="C96A2B">
                <a:alpha val="72000"/>
              </a:srgbClr>
            </a:solidFill>
            <a:prstDash val="solid"/>
          </a:ln>
        </p:spPr>
      </p:sp>
      <p:sp>
        <p:nvSpPr>
          <p:cNvPr id="5" name="Shape 3"/>
          <p:cNvSpPr/>
          <p:nvPr/>
        </p:nvSpPr>
        <p:spPr>
          <a:xfrm>
            <a:off x="10469880" y="292608"/>
            <a:ext cx="1078992" cy="1078992"/>
          </a:xfrm>
          <a:prstGeom prst="ellipse">
            <a:avLst/>
          </a:prstGeom>
          <a:solidFill>
            <a:srgbClr val="C96A2B">
              <a:alpha val="0"/>
            </a:srgbClr>
          </a:solidFill>
          <a:ln w="12700">
            <a:solidFill>
              <a:srgbClr val="C96A2B">
                <a:alpha val="18000"/>
              </a:srgbClr>
            </a:solidFill>
            <a:prstDash val="solid"/>
          </a:ln>
        </p:spPr>
      </p:sp>
      <p:sp>
        <p:nvSpPr>
          <p:cNvPr id="6" name="Shape 4"/>
          <p:cNvSpPr/>
          <p:nvPr/>
        </p:nvSpPr>
        <p:spPr>
          <a:xfrm>
            <a:off x="73152" y="5257800"/>
            <a:ext cx="987552" cy="987552"/>
          </a:xfrm>
          <a:prstGeom prst="ellipse">
            <a:avLst/>
          </a:prstGeom>
          <a:solidFill>
            <a:srgbClr val="2B7A78">
              <a:alpha val="0"/>
            </a:srgbClr>
          </a:solidFill>
          <a:ln w="12700">
            <a:solidFill>
              <a:srgbClr val="2B7A78">
                <a:alpha val="14000"/>
              </a:srgbClr>
            </a:solidFill>
            <a:prstDash val="solid"/>
          </a:ln>
        </p:spPr>
      </p:sp>
      <p:sp>
        <p:nvSpPr>
          <p:cNvPr id="7" name="Text 5"/>
          <p:cNvSpPr/>
          <p:nvPr/>
        </p:nvSpPr>
        <p:spPr>
          <a:xfrm>
            <a:off x="768096" y="603504"/>
            <a:ext cx="4023360" cy="237744"/>
          </a:xfrm>
          <a:prstGeom prst="rect">
            <a:avLst/>
          </a:prstGeom>
          <a:noFill/>
          <a:ln/>
        </p:spPr>
        <p:txBody>
          <a:bodyPr wrap="square" rtlCol="0" anchor="ctr"/>
          <a:lstStyle/>
          <a:p>
            <a:pPr indent="0" marL="0">
              <a:buNone/>
            </a:pPr>
            <a:r>
              <a:rPr lang="en-US" sz="1100" b="1" dirty="0">
                <a:solidFill>
                  <a:srgbClr val="C96A2B"/>
                </a:solidFill>
                <a:latin typeface="Bahnschrift" pitchFamily="34" charset="0"/>
                <a:ea typeface="Bahnschrift" pitchFamily="34" charset="-122"/>
                <a:cs typeface="Bahnschrift" pitchFamily="34" charset="-120"/>
              </a:rPr>
              <a:t>13  LIMITATIONS &amp; FUTURE WORK</a:t>
            </a:r>
            <a:endParaRPr lang="en-US" sz="1100" dirty="0"/>
          </a:p>
        </p:txBody>
      </p:sp>
      <p:sp>
        <p:nvSpPr>
          <p:cNvPr id="8" name="Text 6"/>
          <p:cNvSpPr/>
          <p:nvPr/>
        </p:nvSpPr>
        <p:spPr>
          <a:xfrm>
            <a:off x="768096" y="859536"/>
            <a:ext cx="8001000" cy="457200"/>
          </a:xfrm>
          <a:prstGeom prst="rect">
            <a:avLst/>
          </a:prstGeom>
          <a:noFill/>
          <a:ln/>
        </p:spPr>
        <p:txBody>
          <a:bodyPr wrap="square" rtlCol="0" anchor="ctr"/>
          <a:lstStyle/>
          <a:p>
            <a:pPr indent="0" marL="0">
              <a:buNone/>
            </a:pPr>
            <a:r>
              <a:rPr lang="en-US" sz="2500" b="1" dirty="0">
                <a:solidFill>
                  <a:srgbClr val="0E1B2A"/>
                </a:solidFill>
                <a:latin typeface="Bahnschrift" pitchFamily="34" charset="0"/>
                <a:ea typeface="Bahnschrift" pitchFamily="34" charset="-122"/>
                <a:cs typeface="Bahnschrift" pitchFamily="34" charset="-120"/>
              </a:rPr>
              <a:t>Hạn chế hiện tại và hướng phát triển</a:t>
            </a:r>
            <a:endParaRPr lang="en-US" sz="2500" dirty="0"/>
          </a:p>
        </p:txBody>
      </p:sp>
      <p:sp>
        <p:nvSpPr>
          <p:cNvPr id="9" name="Shape 7"/>
          <p:cNvSpPr/>
          <p:nvPr/>
        </p:nvSpPr>
        <p:spPr>
          <a:xfrm>
            <a:off x="768096" y="1389888"/>
            <a:ext cx="1965960" cy="36576"/>
          </a:xfrm>
          <a:prstGeom prst="rect">
            <a:avLst/>
          </a:prstGeom>
          <a:solidFill>
            <a:srgbClr val="C96A2B"/>
          </a:solidFill>
          <a:ln w="12700">
            <a:solidFill>
              <a:srgbClr val="C96A2B"/>
            </a:solidFill>
            <a:prstDash val="solid"/>
          </a:ln>
        </p:spPr>
      </p:sp>
      <p:sp>
        <p:nvSpPr>
          <p:cNvPr id="10" name="Text 8"/>
          <p:cNvSpPr/>
          <p:nvPr/>
        </p:nvSpPr>
        <p:spPr>
          <a:xfrm>
            <a:off x="10808208" y="566928"/>
            <a:ext cx="502920" cy="237744"/>
          </a:xfrm>
          <a:prstGeom prst="rect">
            <a:avLst/>
          </a:prstGeom>
          <a:noFill/>
          <a:ln/>
        </p:spPr>
        <p:txBody>
          <a:bodyPr wrap="square" rtlCol="0" anchor="ctr"/>
          <a:lstStyle/>
          <a:p>
            <a:pPr algn="r" indent="0" marL="0">
              <a:buNone/>
            </a:pPr>
            <a:r>
              <a:rPr lang="en-US" sz="1200" b="1" dirty="0">
                <a:solidFill>
                  <a:srgbClr val="7A7A76"/>
                </a:solidFill>
                <a:latin typeface="Bahnschrift" pitchFamily="34" charset="0"/>
                <a:ea typeface="Bahnschrift" pitchFamily="34" charset="-122"/>
                <a:cs typeface="Bahnschrift" pitchFamily="34" charset="-120"/>
              </a:rPr>
              <a:t>14</a:t>
            </a:r>
            <a:endParaRPr lang="en-US" sz="1200" dirty="0"/>
          </a:p>
        </p:txBody>
      </p:sp>
      <p:sp>
        <p:nvSpPr>
          <p:cNvPr id="11" name="Shape 9"/>
          <p:cNvSpPr/>
          <p:nvPr/>
        </p:nvSpPr>
        <p:spPr>
          <a:xfrm>
            <a:off x="731520" y="1554480"/>
            <a:ext cx="3474720" cy="2011680"/>
          </a:xfrm>
          <a:prstGeom prst="rect">
            <a:avLst/>
          </a:prstGeom>
          <a:solidFill>
            <a:srgbClr val="F6E7DA"/>
          </a:solidFill>
          <a:ln w="12700">
            <a:solidFill>
              <a:srgbClr val="F6E7DA"/>
            </a:solidFill>
            <a:prstDash val="solid"/>
          </a:ln>
        </p:spPr>
      </p:sp>
      <p:sp>
        <p:nvSpPr>
          <p:cNvPr id="12" name="Shape 10"/>
          <p:cNvSpPr/>
          <p:nvPr/>
        </p:nvSpPr>
        <p:spPr>
          <a:xfrm>
            <a:off x="731520" y="1554480"/>
            <a:ext cx="73152" cy="2011680"/>
          </a:xfrm>
          <a:prstGeom prst="rect">
            <a:avLst/>
          </a:prstGeom>
          <a:solidFill>
            <a:srgbClr val="C96A2B"/>
          </a:solidFill>
          <a:ln w="12700">
            <a:solidFill>
              <a:srgbClr val="C96A2B"/>
            </a:solidFill>
            <a:prstDash val="solid"/>
          </a:ln>
        </p:spPr>
      </p:sp>
      <p:sp>
        <p:nvSpPr>
          <p:cNvPr id="13" name="Shape 11"/>
          <p:cNvSpPr/>
          <p:nvPr/>
        </p:nvSpPr>
        <p:spPr>
          <a:xfrm>
            <a:off x="877824" y="1682496"/>
            <a:ext cx="475488" cy="27432"/>
          </a:xfrm>
          <a:prstGeom prst="rect">
            <a:avLst/>
          </a:prstGeom>
          <a:solidFill>
            <a:srgbClr val="C96A2B"/>
          </a:solidFill>
          <a:ln w="12700">
            <a:solidFill>
              <a:srgbClr val="C96A2B"/>
            </a:solidFill>
            <a:prstDash val="solid"/>
          </a:ln>
        </p:spPr>
      </p:sp>
      <p:sp>
        <p:nvSpPr>
          <p:cNvPr id="14" name="Text 12"/>
          <p:cNvSpPr/>
          <p:nvPr/>
        </p:nvSpPr>
        <p:spPr>
          <a:xfrm>
            <a:off x="932688" y="1773936"/>
            <a:ext cx="3163824" cy="219456"/>
          </a:xfrm>
          <a:prstGeom prst="rect">
            <a:avLst/>
          </a:prstGeom>
          <a:noFill/>
          <a:ln/>
        </p:spPr>
        <p:txBody>
          <a:bodyPr wrap="square" rtlCol="0" anchor="ctr"/>
          <a:lstStyle/>
          <a:p>
            <a:pPr indent="0" marL="0">
              <a:buNone/>
            </a:pPr>
            <a:r>
              <a:rPr lang="en-US" sz="1450" b="1" dirty="0">
                <a:solidFill>
                  <a:srgbClr val="0E1B2A"/>
                </a:solidFill>
                <a:latin typeface="Bahnschrift" pitchFamily="34" charset="0"/>
                <a:ea typeface="Bahnschrift" pitchFamily="34" charset="-122"/>
                <a:cs typeface="Bahnschrift" pitchFamily="34" charset="-120"/>
              </a:rPr>
              <a:t>Hạn chế về mô hình</a:t>
            </a:r>
            <a:endParaRPr lang="en-US" sz="1450" dirty="0"/>
          </a:p>
        </p:txBody>
      </p:sp>
      <p:sp>
        <p:nvSpPr>
          <p:cNvPr id="15" name="Text 13"/>
          <p:cNvSpPr/>
          <p:nvPr/>
        </p:nvSpPr>
        <p:spPr>
          <a:xfrm>
            <a:off x="932688" y="2103120"/>
            <a:ext cx="3163824" cy="1335024"/>
          </a:xfrm>
          <a:prstGeom prst="rect">
            <a:avLst/>
          </a:prstGeom>
          <a:noFill/>
          <a:ln/>
        </p:spPr>
        <p:txBody>
          <a:bodyPr wrap="square" lIns="254" tIns="254" rIns="254" bIns="254" rtlCol="0" anchor="t"/>
          <a:lstStyle/>
          <a:p>
            <a:pPr indent="0" marL="0">
              <a:buNone/>
            </a:pPr>
            <a:r>
              <a:rPr lang="en-US" sz="1050" dirty="0">
                <a:solidFill>
                  <a:srgbClr val="41576D"/>
                </a:solidFill>
                <a:latin typeface="Aptos" pitchFamily="34" charset="0"/>
                <a:ea typeface="Aptos" pitchFamily="34" charset="-122"/>
                <a:cs typeface="Aptos" pitchFamily="34" charset="-120"/>
              </a:rPr>
              <a:t>OOD recall của model chốt mới ở mức 49.96%. Điều đó cho thấy vẫn còn khoảng trống nếu hệ thống phải đối mặt với các kiểu attack mới khác phân bố train.</a:t>
            </a:r>
            <a:endParaRPr lang="en-US" sz="1050" dirty="0"/>
          </a:p>
        </p:txBody>
      </p:sp>
      <p:sp>
        <p:nvSpPr>
          <p:cNvPr id="16" name="Shape 14"/>
          <p:cNvSpPr/>
          <p:nvPr/>
        </p:nvSpPr>
        <p:spPr>
          <a:xfrm>
            <a:off x="4407408" y="1554480"/>
            <a:ext cx="3474720" cy="2011680"/>
          </a:xfrm>
          <a:prstGeom prst="rect">
            <a:avLst/>
          </a:prstGeom>
          <a:solidFill>
            <a:srgbClr val="E7F0F6"/>
          </a:solidFill>
          <a:ln w="12700">
            <a:solidFill>
              <a:srgbClr val="E7F0F6"/>
            </a:solidFill>
            <a:prstDash val="solid"/>
          </a:ln>
        </p:spPr>
      </p:sp>
      <p:sp>
        <p:nvSpPr>
          <p:cNvPr id="17" name="Shape 15"/>
          <p:cNvSpPr/>
          <p:nvPr/>
        </p:nvSpPr>
        <p:spPr>
          <a:xfrm>
            <a:off x="4407408" y="1554480"/>
            <a:ext cx="73152" cy="2011680"/>
          </a:xfrm>
          <a:prstGeom prst="rect">
            <a:avLst/>
          </a:prstGeom>
          <a:solidFill>
            <a:srgbClr val="3D6C8D"/>
          </a:solidFill>
          <a:ln w="12700">
            <a:solidFill>
              <a:srgbClr val="3D6C8D"/>
            </a:solidFill>
            <a:prstDash val="solid"/>
          </a:ln>
        </p:spPr>
      </p:sp>
      <p:sp>
        <p:nvSpPr>
          <p:cNvPr id="18" name="Shape 16"/>
          <p:cNvSpPr/>
          <p:nvPr/>
        </p:nvSpPr>
        <p:spPr>
          <a:xfrm>
            <a:off x="4553712" y="1682496"/>
            <a:ext cx="475488" cy="27432"/>
          </a:xfrm>
          <a:prstGeom prst="rect">
            <a:avLst/>
          </a:prstGeom>
          <a:solidFill>
            <a:srgbClr val="3D6C8D"/>
          </a:solidFill>
          <a:ln w="12700">
            <a:solidFill>
              <a:srgbClr val="3D6C8D"/>
            </a:solidFill>
            <a:prstDash val="solid"/>
          </a:ln>
        </p:spPr>
      </p:sp>
      <p:sp>
        <p:nvSpPr>
          <p:cNvPr id="19" name="Text 17"/>
          <p:cNvSpPr/>
          <p:nvPr/>
        </p:nvSpPr>
        <p:spPr>
          <a:xfrm>
            <a:off x="4608576" y="1773936"/>
            <a:ext cx="3163824" cy="219456"/>
          </a:xfrm>
          <a:prstGeom prst="rect">
            <a:avLst/>
          </a:prstGeom>
          <a:noFill/>
          <a:ln/>
        </p:spPr>
        <p:txBody>
          <a:bodyPr wrap="square" rtlCol="0" anchor="ctr"/>
          <a:lstStyle/>
          <a:p>
            <a:pPr indent="0" marL="0">
              <a:buNone/>
            </a:pPr>
            <a:r>
              <a:rPr lang="en-US" sz="1450" b="1" dirty="0">
                <a:solidFill>
                  <a:srgbClr val="0E1B2A"/>
                </a:solidFill>
                <a:latin typeface="Bahnschrift" pitchFamily="34" charset="0"/>
                <a:ea typeface="Bahnschrift" pitchFamily="34" charset="-122"/>
                <a:cs typeface="Bahnschrift" pitchFamily="34" charset="-120"/>
              </a:rPr>
              <a:t>Hạn chế về hệ thống</a:t>
            </a:r>
            <a:endParaRPr lang="en-US" sz="1450" dirty="0"/>
          </a:p>
        </p:txBody>
      </p:sp>
      <p:sp>
        <p:nvSpPr>
          <p:cNvPr id="20" name="Text 18"/>
          <p:cNvSpPr/>
          <p:nvPr/>
        </p:nvSpPr>
        <p:spPr>
          <a:xfrm>
            <a:off x="4608576" y="2103120"/>
            <a:ext cx="3163824" cy="1335024"/>
          </a:xfrm>
          <a:prstGeom prst="rect">
            <a:avLst/>
          </a:prstGeom>
          <a:noFill/>
          <a:ln/>
        </p:spPr>
        <p:txBody>
          <a:bodyPr wrap="square" lIns="254" tIns="254" rIns="254" bIns="254" rtlCol="0" anchor="t"/>
          <a:lstStyle/>
          <a:p>
            <a:pPr indent="0" marL="0">
              <a:buNone/>
            </a:pPr>
            <a:r>
              <a:rPr lang="en-US" sz="1050" dirty="0">
                <a:solidFill>
                  <a:srgbClr val="41576D"/>
                </a:solidFill>
                <a:latin typeface="Aptos" pitchFamily="34" charset="0"/>
                <a:ea typeface="Aptos" pitchFamily="34" charset="-122"/>
                <a:cs typeface="Aptos" pitchFamily="34" charset="-120"/>
              </a:rPr>
              <a:t>V1 mới dừng ở same-host, single NIC, TCP/UDP-only và local outputs; chưa có SIEM bus, fleet rollout hay threshold thích nghi theo môi trường vận hành.</a:t>
            </a:r>
            <a:endParaRPr lang="en-US" sz="1050" dirty="0"/>
          </a:p>
        </p:txBody>
      </p:sp>
      <p:sp>
        <p:nvSpPr>
          <p:cNvPr id="21" name="Shape 19"/>
          <p:cNvSpPr/>
          <p:nvPr/>
        </p:nvSpPr>
        <p:spPr>
          <a:xfrm>
            <a:off x="8083296" y="1554480"/>
            <a:ext cx="3291840" cy="2011680"/>
          </a:xfrm>
          <a:prstGeom prst="rect">
            <a:avLst/>
          </a:prstGeom>
          <a:solidFill>
            <a:srgbClr val="E2F3F1"/>
          </a:solidFill>
          <a:ln w="12700">
            <a:solidFill>
              <a:srgbClr val="E2F3F1"/>
            </a:solidFill>
            <a:prstDash val="solid"/>
          </a:ln>
        </p:spPr>
      </p:sp>
      <p:sp>
        <p:nvSpPr>
          <p:cNvPr id="22" name="Shape 20"/>
          <p:cNvSpPr/>
          <p:nvPr/>
        </p:nvSpPr>
        <p:spPr>
          <a:xfrm>
            <a:off x="8083296" y="1554480"/>
            <a:ext cx="73152" cy="2011680"/>
          </a:xfrm>
          <a:prstGeom prst="rect">
            <a:avLst/>
          </a:prstGeom>
          <a:solidFill>
            <a:srgbClr val="2B7A78"/>
          </a:solidFill>
          <a:ln w="12700">
            <a:solidFill>
              <a:srgbClr val="2B7A78"/>
            </a:solidFill>
            <a:prstDash val="solid"/>
          </a:ln>
        </p:spPr>
      </p:sp>
      <p:sp>
        <p:nvSpPr>
          <p:cNvPr id="23" name="Shape 21"/>
          <p:cNvSpPr/>
          <p:nvPr/>
        </p:nvSpPr>
        <p:spPr>
          <a:xfrm>
            <a:off x="8229600" y="1682496"/>
            <a:ext cx="475488" cy="27432"/>
          </a:xfrm>
          <a:prstGeom prst="rect">
            <a:avLst/>
          </a:prstGeom>
          <a:solidFill>
            <a:srgbClr val="2B7A78"/>
          </a:solidFill>
          <a:ln w="12700">
            <a:solidFill>
              <a:srgbClr val="2B7A78"/>
            </a:solidFill>
            <a:prstDash val="solid"/>
          </a:ln>
        </p:spPr>
      </p:sp>
      <p:sp>
        <p:nvSpPr>
          <p:cNvPr id="24" name="Text 22"/>
          <p:cNvSpPr/>
          <p:nvPr/>
        </p:nvSpPr>
        <p:spPr>
          <a:xfrm>
            <a:off x="8284464" y="1773936"/>
            <a:ext cx="2980944" cy="219456"/>
          </a:xfrm>
          <a:prstGeom prst="rect">
            <a:avLst/>
          </a:prstGeom>
          <a:noFill/>
          <a:ln/>
        </p:spPr>
        <p:txBody>
          <a:bodyPr wrap="square" rtlCol="0" anchor="ctr"/>
          <a:lstStyle/>
          <a:p>
            <a:pPr indent="0" marL="0">
              <a:buNone/>
            </a:pPr>
            <a:r>
              <a:rPr lang="en-US" sz="1450" b="1" dirty="0">
                <a:solidFill>
                  <a:srgbClr val="0E1B2A"/>
                </a:solidFill>
                <a:latin typeface="Bahnschrift" pitchFamily="34" charset="0"/>
                <a:ea typeface="Bahnschrift" pitchFamily="34" charset="-122"/>
                <a:cs typeface="Bahnschrift" pitchFamily="34" charset="-120"/>
              </a:rPr>
              <a:t>Hạn chế về dữ liệu</a:t>
            </a:r>
            <a:endParaRPr lang="en-US" sz="1450" dirty="0"/>
          </a:p>
        </p:txBody>
      </p:sp>
      <p:sp>
        <p:nvSpPr>
          <p:cNvPr id="25" name="Text 23"/>
          <p:cNvSpPr/>
          <p:nvPr/>
        </p:nvSpPr>
        <p:spPr>
          <a:xfrm>
            <a:off x="8284464" y="2103120"/>
            <a:ext cx="2980944" cy="1335024"/>
          </a:xfrm>
          <a:prstGeom prst="rect">
            <a:avLst/>
          </a:prstGeom>
          <a:noFill/>
          <a:ln/>
        </p:spPr>
        <p:txBody>
          <a:bodyPr wrap="square" lIns="254" tIns="254" rIns="254" bIns="254" rtlCol="0" anchor="t"/>
          <a:lstStyle/>
          <a:p>
            <a:pPr indent="0" marL="0">
              <a:buNone/>
            </a:pPr>
            <a:r>
              <a:rPr lang="en-US" sz="1050" dirty="0">
                <a:solidFill>
                  <a:srgbClr val="41576D"/>
                </a:solidFill>
                <a:latin typeface="Aptos" pitchFamily="34" charset="0"/>
                <a:ea typeface="Aptos" pitchFamily="34" charset="-122"/>
                <a:cs typeface="Aptos" pitchFamily="34" charset="-120"/>
              </a:rPr>
              <a:t>Hệ thống vẫn dựa trên flow-based features và binary classification; chưa khai thác attack family classification hoặc online drift adaptation.</a:t>
            </a:r>
            <a:endParaRPr lang="en-US" sz="1050" dirty="0"/>
          </a:p>
        </p:txBody>
      </p:sp>
      <p:sp>
        <p:nvSpPr>
          <p:cNvPr id="26" name="Text 24"/>
          <p:cNvSpPr/>
          <p:nvPr/>
        </p:nvSpPr>
        <p:spPr>
          <a:xfrm>
            <a:off x="877824" y="3977640"/>
            <a:ext cx="10332720" cy="1737360"/>
          </a:xfrm>
          <a:prstGeom prst="rect">
            <a:avLst/>
          </a:prstGeom>
          <a:noFill/>
          <a:ln/>
        </p:spPr>
        <p:txBody>
          <a:bodyPr wrap="square" lIns="635" tIns="635" rIns="635" bIns="635" rtlCol="0" anchor="t"/>
          <a:lstStyle/>
          <a:p>
            <a:pPr marL="342900" indent="-342900">
              <a:buSzPct val="100000"/>
              <a:buChar char="•"/>
            </a:pPr>
            <a:r>
              <a:rPr lang="en-US" sz="1100" dirty="0">
                <a:solidFill>
                  <a:srgbClr val="41576D"/>
                </a:solidFill>
                <a:latin typeface="Aptos" pitchFamily="34" charset="0"/>
                <a:ea typeface="Aptos" pitchFamily="34" charset="-122"/>
                <a:cs typeface="Aptos" pitchFamily="34" charset="-120"/>
              </a:rPr>
              <a:t>Hướng 1: mở rộng sang SIEM / message bus / fleet deployment để đưa IDS vào vận hành thật trên nhiều host.</a:t>
            </a:r>
            <a:endParaRPr lang="en-US" sz="1100" dirty="0"/>
          </a:p>
          <a:p>
            <a:pPr marL="342900" indent="-342900">
              <a:buSzPct val="100000"/>
              <a:buChar char="•"/>
            </a:pPr>
            <a:r>
              <a:rPr lang="en-US" sz="1100" dirty="0">
                <a:solidFill>
                  <a:srgbClr val="41576D"/>
                </a:solidFill>
                <a:latin typeface="Aptos" pitchFamily="34" charset="0"/>
                <a:ea typeface="Aptos" pitchFamily="34" charset="-122"/>
                <a:cs typeface="Aptos" pitchFamily="34" charset="-120"/>
              </a:rPr>
              <a:t>Hướng 2: đánh giá threshold theo traffic thật và bổ sung giám sát drift / recalibration định kỳ.</a:t>
            </a:r>
            <a:endParaRPr lang="en-US" sz="1100" dirty="0"/>
          </a:p>
          <a:p>
            <a:pPr marL="342900" indent="-342900">
              <a:buSzPct val="100000"/>
              <a:buChar char="•"/>
            </a:pPr>
            <a:r>
              <a:rPr lang="en-US" sz="1100" dirty="0">
                <a:solidFill>
                  <a:srgbClr val="41576D"/>
                </a:solidFill>
                <a:latin typeface="Aptos" pitchFamily="34" charset="0"/>
                <a:ea typeface="Aptos" pitchFamily="34" charset="-122"/>
                <a:cs typeface="Aptos" pitchFamily="34" charset="-120"/>
              </a:rPr>
              <a:t>Hướng 3: nghiên cứu thêm OOD robustness, attack-family classification và adaptation cho môi trường IIoT đa dạng hơn.</a:t>
            </a:r>
            <a:endParaRPr lang="en-US" sz="1100" dirty="0"/>
          </a:p>
        </p:txBody>
      </p:sp>
      <p:sp>
        <p:nvSpPr>
          <p:cNvPr id="27" name="Text 25"/>
          <p:cNvSpPr/>
          <p:nvPr/>
        </p:nvSpPr>
        <p:spPr>
          <a:xfrm>
            <a:off x="548640" y="6473952"/>
            <a:ext cx="9509760" cy="164592"/>
          </a:xfrm>
          <a:prstGeom prst="rect">
            <a:avLst/>
          </a:prstGeom>
          <a:noFill/>
          <a:ln/>
        </p:spPr>
        <p:txBody>
          <a:bodyPr wrap="square" rtlCol="0" anchor="ctr"/>
          <a:lstStyle/>
          <a:p>
            <a:pPr indent="0" marL="0">
              <a:buNone/>
            </a:pPr>
            <a:r>
              <a:rPr lang="en-US" sz="900" dirty="0">
                <a:solidFill>
                  <a:srgbClr val="7A7A76"/>
                </a:solidFill>
                <a:latin typeface="Aptos" pitchFamily="34" charset="0"/>
                <a:ea typeface="Aptos" pitchFamily="34" charset="-122"/>
                <a:cs typeface="Aptos" pitchFamily="34" charset="-120"/>
              </a:rPr>
              <a:t>Nói phần hạn chế một cách trung thực sẽ làm bài bảo vệ thuyết phục hơn: repo đã rất dày, nhưng vẫn còn roadmap rõ ràng.</a:t>
            </a:r>
            <a:endParaRPr lang="en-US" sz="900" dirty="0"/>
          </a:p>
        </p:txBody>
      </p:sp>
      <p:sp>
        <p:nvSpPr>
          <p:cNvPr id="25" name="Slide Number Placeholder 0"/>
          <p:cNvSpPr>
            <a:spLocks noGrp="1"/>
          </p:cNvSpPr>
          <p:nvPr>
            <p:ph type="sldNum" sz="quarter" idx="4294967295"/>
          </p:nvPr>
        </p:nvSpPr>
        <p:spPr>
          <a:xfrm>
            <a:off x="11475720" y="6446520"/>
            <a:ext cx="32004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7A7A76"/>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CF8F2"/>
        </a:solidFill>
      </p:bgPr>
    </p:bg>
    <p:spTree>
      <p:nvGrpSpPr>
        <p:cNvPr id="1" name=""/>
        <p:cNvGrpSpPr/>
        <p:nvPr/>
      </p:nvGrpSpPr>
      <p:grpSpPr>
        <a:xfrm>
          <a:off x="0" y="0"/>
          <a:ext cx="0" cy="0"/>
          <a:chOff x="0" y="0"/>
          <a:chExt cx="0" cy="0"/>
        </a:xfrm>
      </p:grpSpPr>
      <p:sp>
        <p:nvSpPr>
          <p:cNvPr id="2" name="Shape 0"/>
          <p:cNvSpPr/>
          <p:nvPr/>
        </p:nvSpPr>
        <p:spPr>
          <a:xfrm>
            <a:off x="0" y="0"/>
            <a:ext cx="12191695" cy="219456"/>
          </a:xfrm>
          <a:prstGeom prst="rect">
            <a:avLst/>
          </a:prstGeom>
          <a:solidFill>
            <a:srgbClr val="0E1B2A"/>
          </a:solidFill>
          <a:ln w="12700">
            <a:solidFill>
              <a:srgbClr val="0E1B2A"/>
            </a:solidFill>
            <a:prstDash val="solid"/>
          </a:ln>
        </p:spPr>
      </p:sp>
      <p:sp>
        <p:nvSpPr>
          <p:cNvPr id="3" name="Shape 1"/>
          <p:cNvSpPr/>
          <p:nvPr/>
        </p:nvSpPr>
        <p:spPr>
          <a:xfrm>
            <a:off x="566928" y="713232"/>
            <a:ext cx="54864" cy="859536"/>
          </a:xfrm>
          <a:prstGeom prst="rect">
            <a:avLst/>
          </a:prstGeom>
          <a:solidFill>
            <a:srgbClr val="C96A2B"/>
          </a:solidFill>
          <a:ln w="12700">
            <a:solidFill>
              <a:srgbClr val="C96A2B"/>
            </a:solidFill>
            <a:prstDash val="solid"/>
          </a:ln>
        </p:spPr>
      </p:sp>
      <p:sp>
        <p:nvSpPr>
          <p:cNvPr id="4" name="Shape 2"/>
          <p:cNvSpPr/>
          <p:nvPr/>
        </p:nvSpPr>
        <p:spPr>
          <a:xfrm>
            <a:off x="9555480" y="822960"/>
            <a:ext cx="2011680" cy="36576"/>
          </a:xfrm>
          <a:prstGeom prst="rect">
            <a:avLst/>
          </a:prstGeom>
          <a:solidFill>
            <a:srgbClr val="C96A2B">
              <a:alpha val="72000"/>
            </a:srgbClr>
          </a:solidFill>
          <a:ln w="12700">
            <a:solidFill>
              <a:srgbClr val="C96A2B">
                <a:alpha val="72000"/>
              </a:srgbClr>
            </a:solidFill>
            <a:prstDash val="solid"/>
          </a:ln>
        </p:spPr>
      </p:sp>
      <p:sp>
        <p:nvSpPr>
          <p:cNvPr id="5" name="Shape 3"/>
          <p:cNvSpPr/>
          <p:nvPr/>
        </p:nvSpPr>
        <p:spPr>
          <a:xfrm>
            <a:off x="10469880" y="292608"/>
            <a:ext cx="1078992" cy="1078992"/>
          </a:xfrm>
          <a:prstGeom prst="ellipse">
            <a:avLst/>
          </a:prstGeom>
          <a:solidFill>
            <a:srgbClr val="C96A2B">
              <a:alpha val="0"/>
            </a:srgbClr>
          </a:solidFill>
          <a:ln w="12700">
            <a:solidFill>
              <a:srgbClr val="C96A2B">
                <a:alpha val="18000"/>
              </a:srgbClr>
            </a:solidFill>
            <a:prstDash val="solid"/>
          </a:ln>
        </p:spPr>
      </p:sp>
      <p:sp>
        <p:nvSpPr>
          <p:cNvPr id="6" name="Shape 4"/>
          <p:cNvSpPr/>
          <p:nvPr/>
        </p:nvSpPr>
        <p:spPr>
          <a:xfrm>
            <a:off x="73152" y="5257800"/>
            <a:ext cx="987552" cy="987552"/>
          </a:xfrm>
          <a:prstGeom prst="ellipse">
            <a:avLst/>
          </a:prstGeom>
          <a:solidFill>
            <a:srgbClr val="2B7A78">
              <a:alpha val="0"/>
            </a:srgbClr>
          </a:solidFill>
          <a:ln w="12700">
            <a:solidFill>
              <a:srgbClr val="2B7A78">
                <a:alpha val="14000"/>
              </a:srgbClr>
            </a:solidFill>
            <a:prstDash val="solid"/>
          </a:ln>
        </p:spPr>
      </p:sp>
      <p:sp>
        <p:nvSpPr>
          <p:cNvPr id="7" name="Text 5"/>
          <p:cNvSpPr/>
          <p:nvPr/>
        </p:nvSpPr>
        <p:spPr>
          <a:xfrm>
            <a:off x="768096" y="603504"/>
            <a:ext cx="4023360" cy="237744"/>
          </a:xfrm>
          <a:prstGeom prst="rect">
            <a:avLst/>
          </a:prstGeom>
          <a:noFill/>
          <a:ln/>
        </p:spPr>
        <p:txBody>
          <a:bodyPr wrap="square" rtlCol="0" anchor="ctr"/>
          <a:lstStyle/>
          <a:p>
            <a:pPr indent="0" marL="0">
              <a:buNone/>
            </a:pPr>
            <a:r>
              <a:rPr lang="en-US" sz="1100" b="1" dirty="0">
                <a:solidFill>
                  <a:srgbClr val="C96A2B"/>
                </a:solidFill>
                <a:latin typeface="Bahnschrift" pitchFamily="34" charset="0"/>
                <a:ea typeface="Bahnschrift" pitchFamily="34" charset="-122"/>
                <a:cs typeface="Bahnschrift" pitchFamily="34" charset="-120"/>
              </a:rPr>
              <a:t>14  CLOSING</a:t>
            </a:r>
            <a:endParaRPr lang="en-US" sz="1100" dirty="0"/>
          </a:p>
        </p:txBody>
      </p:sp>
      <p:sp>
        <p:nvSpPr>
          <p:cNvPr id="8" name="Text 6"/>
          <p:cNvSpPr/>
          <p:nvPr/>
        </p:nvSpPr>
        <p:spPr>
          <a:xfrm>
            <a:off x="768096" y="859536"/>
            <a:ext cx="8001000" cy="457200"/>
          </a:xfrm>
          <a:prstGeom prst="rect">
            <a:avLst/>
          </a:prstGeom>
          <a:noFill/>
          <a:ln/>
        </p:spPr>
        <p:txBody>
          <a:bodyPr wrap="square" rtlCol="0" anchor="ctr"/>
          <a:lstStyle/>
          <a:p>
            <a:pPr indent="0" marL="0">
              <a:buNone/>
            </a:pPr>
            <a:r>
              <a:rPr lang="en-US" sz="2500" b="1" dirty="0">
                <a:solidFill>
                  <a:srgbClr val="0E1B2A"/>
                </a:solidFill>
                <a:latin typeface="Bahnschrift" pitchFamily="34" charset="0"/>
                <a:ea typeface="Bahnschrift" pitchFamily="34" charset="-122"/>
                <a:cs typeface="Bahnschrift" pitchFamily="34" charset="-120"/>
              </a:rPr>
              <a:t>Kết luận</a:t>
            </a:r>
            <a:endParaRPr lang="en-US" sz="2500" dirty="0"/>
          </a:p>
        </p:txBody>
      </p:sp>
      <p:sp>
        <p:nvSpPr>
          <p:cNvPr id="9" name="Shape 7"/>
          <p:cNvSpPr/>
          <p:nvPr/>
        </p:nvSpPr>
        <p:spPr>
          <a:xfrm>
            <a:off x="768096" y="1389888"/>
            <a:ext cx="1965960" cy="36576"/>
          </a:xfrm>
          <a:prstGeom prst="rect">
            <a:avLst/>
          </a:prstGeom>
          <a:solidFill>
            <a:srgbClr val="C96A2B"/>
          </a:solidFill>
          <a:ln w="12700">
            <a:solidFill>
              <a:srgbClr val="C96A2B"/>
            </a:solidFill>
            <a:prstDash val="solid"/>
          </a:ln>
        </p:spPr>
      </p:sp>
      <p:sp>
        <p:nvSpPr>
          <p:cNvPr id="10" name="Text 8"/>
          <p:cNvSpPr/>
          <p:nvPr/>
        </p:nvSpPr>
        <p:spPr>
          <a:xfrm>
            <a:off x="10808208" y="566928"/>
            <a:ext cx="502920" cy="237744"/>
          </a:xfrm>
          <a:prstGeom prst="rect">
            <a:avLst/>
          </a:prstGeom>
          <a:noFill/>
          <a:ln/>
        </p:spPr>
        <p:txBody>
          <a:bodyPr wrap="square" rtlCol="0" anchor="ctr"/>
          <a:lstStyle/>
          <a:p>
            <a:pPr algn="r" indent="0" marL="0">
              <a:buNone/>
            </a:pPr>
            <a:r>
              <a:rPr lang="en-US" sz="1200" b="1" dirty="0">
                <a:solidFill>
                  <a:srgbClr val="7A7A76"/>
                </a:solidFill>
                <a:latin typeface="Bahnschrift" pitchFamily="34" charset="0"/>
                <a:ea typeface="Bahnschrift" pitchFamily="34" charset="-122"/>
                <a:cs typeface="Bahnschrift" pitchFamily="34" charset="-120"/>
              </a:rPr>
              <a:t>15</a:t>
            </a:r>
            <a:endParaRPr lang="en-US" sz="1200" dirty="0"/>
          </a:p>
        </p:txBody>
      </p:sp>
      <p:sp>
        <p:nvSpPr>
          <p:cNvPr id="11" name="Shape 9"/>
          <p:cNvSpPr/>
          <p:nvPr/>
        </p:nvSpPr>
        <p:spPr>
          <a:xfrm>
            <a:off x="822960" y="1645920"/>
            <a:ext cx="3474720" cy="1417320"/>
          </a:xfrm>
          <a:prstGeom prst="rect">
            <a:avLst/>
          </a:prstGeom>
          <a:solidFill>
            <a:srgbClr val="E7F0F6"/>
          </a:solidFill>
          <a:ln w="12700">
            <a:solidFill>
              <a:srgbClr val="E7F0F6"/>
            </a:solidFill>
            <a:prstDash val="solid"/>
          </a:ln>
        </p:spPr>
      </p:sp>
      <p:sp>
        <p:nvSpPr>
          <p:cNvPr id="12" name="Shape 10"/>
          <p:cNvSpPr/>
          <p:nvPr/>
        </p:nvSpPr>
        <p:spPr>
          <a:xfrm>
            <a:off x="822960" y="1645920"/>
            <a:ext cx="73152" cy="1417320"/>
          </a:xfrm>
          <a:prstGeom prst="rect">
            <a:avLst/>
          </a:prstGeom>
          <a:solidFill>
            <a:srgbClr val="3D6C8D"/>
          </a:solidFill>
          <a:ln w="12700">
            <a:solidFill>
              <a:srgbClr val="3D6C8D"/>
            </a:solidFill>
            <a:prstDash val="solid"/>
          </a:ln>
        </p:spPr>
      </p:sp>
      <p:sp>
        <p:nvSpPr>
          <p:cNvPr id="13" name="Shape 11"/>
          <p:cNvSpPr/>
          <p:nvPr/>
        </p:nvSpPr>
        <p:spPr>
          <a:xfrm>
            <a:off x="969264" y="1773936"/>
            <a:ext cx="475488" cy="27432"/>
          </a:xfrm>
          <a:prstGeom prst="rect">
            <a:avLst/>
          </a:prstGeom>
          <a:solidFill>
            <a:srgbClr val="3D6C8D"/>
          </a:solidFill>
          <a:ln w="12700">
            <a:solidFill>
              <a:srgbClr val="3D6C8D"/>
            </a:solidFill>
            <a:prstDash val="solid"/>
          </a:ln>
        </p:spPr>
      </p:sp>
      <p:sp>
        <p:nvSpPr>
          <p:cNvPr id="14" name="Text 12"/>
          <p:cNvSpPr/>
          <p:nvPr/>
        </p:nvSpPr>
        <p:spPr>
          <a:xfrm>
            <a:off x="1024128" y="1865376"/>
            <a:ext cx="3163824" cy="219456"/>
          </a:xfrm>
          <a:prstGeom prst="rect">
            <a:avLst/>
          </a:prstGeom>
          <a:noFill/>
          <a:ln/>
        </p:spPr>
        <p:txBody>
          <a:bodyPr wrap="square" rtlCol="0" anchor="ctr"/>
          <a:lstStyle/>
          <a:p>
            <a:pPr indent="0" marL="0">
              <a:buNone/>
            </a:pPr>
            <a:r>
              <a:rPr lang="en-US" sz="1450" b="1" dirty="0">
                <a:solidFill>
                  <a:srgbClr val="0E1B2A"/>
                </a:solidFill>
                <a:latin typeface="Bahnschrift" pitchFamily="34" charset="0"/>
                <a:ea typeface="Bahnschrift" pitchFamily="34" charset="-122"/>
                <a:cs typeface="Bahnschrift" pitchFamily="34" charset="-120"/>
              </a:rPr>
              <a:t>Kết quả học thuật</a:t>
            </a:r>
            <a:endParaRPr lang="en-US" sz="1450" dirty="0"/>
          </a:p>
        </p:txBody>
      </p:sp>
      <p:sp>
        <p:nvSpPr>
          <p:cNvPr id="15" name="Text 13"/>
          <p:cNvSpPr/>
          <p:nvPr/>
        </p:nvSpPr>
        <p:spPr>
          <a:xfrm>
            <a:off x="1024128" y="2194560"/>
            <a:ext cx="3163824" cy="740664"/>
          </a:xfrm>
          <a:prstGeom prst="rect">
            <a:avLst/>
          </a:prstGeom>
          <a:noFill/>
          <a:ln/>
        </p:spPr>
        <p:txBody>
          <a:bodyPr wrap="square" lIns="254" tIns="254" rIns="254" bIns="254" rtlCol="0" anchor="t"/>
          <a:lstStyle/>
          <a:p>
            <a:pPr indent="0" marL="0">
              <a:buNone/>
            </a:pPr>
            <a:r>
              <a:rPr lang="en-US" sz="1050" dirty="0">
                <a:solidFill>
                  <a:srgbClr val="41576D"/>
                </a:solidFill>
                <a:latin typeface="Aptos" pitchFamily="34" charset="0"/>
                <a:ea typeface="Aptos" pitchFamily="34" charset="-122"/>
                <a:cs typeface="Aptos" pitchFamily="34" charset="-120"/>
              </a:rPr>
              <a:t>Đã xây dựng protocol thực nghiệm đầy đủ trên CIC IoT-DIAD 2024 và chốt CatBoost full-data là mô hình cân bằng nhất cho IDS.</a:t>
            </a:r>
            <a:endParaRPr lang="en-US" sz="1050" dirty="0"/>
          </a:p>
        </p:txBody>
      </p:sp>
      <p:sp>
        <p:nvSpPr>
          <p:cNvPr id="16" name="Shape 14"/>
          <p:cNvSpPr/>
          <p:nvPr/>
        </p:nvSpPr>
        <p:spPr>
          <a:xfrm>
            <a:off x="4526280" y="1645920"/>
            <a:ext cx="3474720" cy="1417320"/>
          </a:xfrm>
          <a:prstGeom prst="rect">
            <a:avLst/>
          </a:prstGeom>
          <a:solidFill>
            <a:srgbClr val="E2F3F1"/>
          </a:solidFill>
          <a:ln w="12700">
            <a:solidFill>
              <a:srgbClr val="E2F3F1"/>
            </a:solidFill>
            <a:prstDash val="solid"/>
          </a:ln>
        </p:spPr>
      </p:sp>
      <p:sp>
        <p:nvSpPr>
          <p:cNvPr id="17" name="Shape 15"/>
          <p:cNvSpPr/>
          <p:nvPr/>
        </p:nvSpPr>
        <p:spPr>
          <a:xfrm>
            <a:off x="4526280" y="1645920"/>
            <a:ext cx="73152" cy="1417320"/>
          </a:xfrm>
          <a:prstGeom prst="rect">
            <a:avLst/>
          </a:prstGeom>
          <a:solidFill>
            <a:srgbClr val="2B7A78"/>
          </a:solidFill>
          <a:ln w="12700">
            <a:solidFill>
              <a:srgbClr val="2B7A78"/>
            </a:solidFill>
            <a:prstDash val="solid"/>
          </a:ln>
        </p:spPr>
      </p:sp>
      <p:sp>
        <p:nvSpPr>
          <p:cNvPr id="18" name="Shape 16"/>
          <p:cNvSpPr/>
          <p:nvPr/>
        </p:nvSpPr>
        <p:spPr>
          <a:xfrm>
            <a:off x="4672584" y="1773936"/>
            <a:ext cx="475488" cy="27432"/>
          </a:xfrm>
          <a:prstGeom prst="rect">
            <a:avLst/>
          </a:prstGeom>
          <a:solidFill>
            <a:srgbClr val="2B7A78"/>
          </a:solidFill>
          <a:ln w="12700">
            <a:solidFill>
              <a:srgbClr val="2B7A78"/>
            </a:solidFill>
            <a:prstDash val="solid"/>
          </a:ln>
        </p:spPr>
      </p:sp>
      <p:sp>
        <p:nvSpPr>
          <p:cNvPr id="19" name="Text 17"/>
          <p:cNvSpPr/>
          <p:nvPr/>
        </p:nvSpPr>
        <p:spPr>
          <a:xfrm>
            <a:off x="4727448" y="1865376"/>
            <a:ext cx="3163824" cy="219456"/>
          </a:xfrm>
          <a:prstGeom prst="rect">
            <a:avLst/>
          </a:prstGeom>
          <a:noFill/>
          <a:ln/>
        </p:spPr>
        <p:txBody>
          <a:bodyPr wrap="square" rtlCol="0" anchor="ctr"/>
          <a:lstStyle/>
          <a:p>
            <a:pPr indent="0" marL="0">
              <a:buNone/>
            </a:pPr>
            <a:r>
              <a:rPr lang="en-US" sz="1450" b="1" dirty="0">
                <a:solidFill>
                  <a:srgbClr val="0E1B2A"/>
                </a:solidFill>
                <a:latin typeface="Bahnschrift" pitchFamily="34" charset="0"/>
                <a:ea typeface="Bahnschrift" pitchFamily="34" charset="-122"/>
                <a:cs typeface="Bahnschrift" pitchFamily="34" charset="-120"/>
              </a:rPr>
              <a:t>Kết quả kỹ thuật</a:t>
            </a:r>
            <a:endParaRPr lang="en-US" sz="1450" dirty="0"/>
          </a:p>
        </p:txBody>
      </p:sp>
      <p:sp>
        <p:nvSpPr>
          <p:cNvPr id="20" name="Text 18"/>
          <p:cNvSpPr/>
          <p:nvPr/>
        </p:nvSpPr>
        <p:spPr>
          <a:xfrm>
            <a:off x="4727448" y="2194560"/>
            <a:ext cx="3163824" cy="740664"/>
          </a:xfrm>
          <a:prstGeom prst="rect">
            <a:avLst/>
          </a:prstGeom>
          <a:noFill/>
          <a:ln/>
        </p:spPr>
        <p:txBody>
          <a:bodyPr wrap="square" lIns="254" tIns="254" rIns="254" bIns="254" rtlCol="0" anchor="t"/>
          <a:lstStyle/>
          <a:p>
            <a:pPr indent="0" marL="0">
              <a:buNone/>
            </a:pPr>
            <a:r>
              <a:rPr lang="en-US" sz="1050" dirty="0">
                <a:solidFill>
                  <a:srgbClr val="41576D"/>
                </a:solidFill>
                <a:latin typeface="Aptos" pitchFamily="34" charset="0"/>
                <a:ea typeface="Aptos" pitchFamily="34" charset="-122"/>
                <a:cs typeface="Aptos" pitchFamily="34" charset="-120"/>
              </a:rPr>
              <a:t>Đã đóng gói model bundle versioned, hoàn thiện batch inference, realtime pipeline, structured adapter và live sensor host-based.</a:t>
            </a:r>
            <a:endParaRPr lang="en-US" sz="1050" dirty="0"/>
          </a:p>
        </p:txBody>
      </p:sp>
      <p:sp>
        <p:nvSpPr>
          <p:cNvPr id="21" name="Shape 19"/>
          <p:cNvSpPr/>
          <p:nvPr/>
        </p:nvSpPr>
        <p:spPr>
          <a:xfrm>
            <a:off x="8229600" y="1645920"/>
            <a:ext cx="3063240" cy="1417320"/>
          </a:xfrm>
          <a:prstGeom prst="rect">
            <a:avLst/>
          </a:prstGeom>
          <a:solidFill>
            <a:srgbClr val="F6E7DA"/>
          </a:solidFill>
          <a:ln w="12700">
            <a:solidFill>
              <a:srgbClr val="F6E7DA"/>
            </a:solidFill>
            <a:prstDash val="solid"/>
          </a:ln>
        </p:spPr>
      </p:sp>
      <p:sp>
        <p:nvSpPr>
          <p:cNvPr id="22" name="Shape 20"/>
          <p:cNvSpPr/>
          <p:nvPr/>
        </p:nvSpPr>
        <p:spPr>
          <a:xfrm>
            <a:off x="8229600" y="1645920"/>
            <a:ext cx="73152" cy="1417320"/>
          </a:xfrm>
          <a:prstGeom prst="rect">
            <a:avLst/>
          </a:prstGeom>
          <a:solidFill>
            <a:srgbClr val="C96A2B"/>
          </a:solidFill>
          <a:ln w="12700">
            <a:solidFill>
              <a:srgbClr val="C96A2B"/>
            </a:solidFill>
            <a:prstDash val="solid"/>
          </a:ln>
        </p:spPr>
      </p:sp>
      <p:sp>
        <p:nvSpPr>
          <p:cNvPr id="23" name="Shape 21"/>
          <p:cNvSpPr/>
          <p:nvPr/>
        </p:nvSpPr>
        <p:spPr>
          <a:xfrm>
            <a:off x="8375904" y="1773936"/>
            <a:ext cx="475488" cy="27432"/>
          </a:xfrm>
          <a:prstGeom prst="rect">
            <a:avLst/>
          </a:prstGeom>
          <a:solidFill>
            <a:srgbClr val="C96A2B"/>
          </a:solidFill>
          <a:ln w="12700">
            <a:solidFill>
              <a:srgbClr val="C96A2B"/>
            </a:solidFill>
            <a:prstDash val="solid"/>
          </a:ln>
        </p:spPr>
      </p:sp>
      <p:sp>
        <p:nvSpPr>
          <p:cNvPr id="24" name="Text 22"/>
          <p:cNvSpPr/>
          <p:nvPr/>
        </p:nvSpPr>
        <p:spPr>
          <a:xfrm>
            <a:off x="8430768" y="1865376"/>
            <a:ext cx="2752344" cy="219456"/>
          </a:xfrm>
          <a:prstGeom prst="rect">
            <a:avLst/>
          </a:prstGeom>
          <a:noFill/>
          <a:ln/>
        </p:spPr>
        <p:txBody>
          <a:bodyPr wrap="square" rtlCol="0" anchor="ctr"/>
          <a:lstStyle/>
          <a:p>
            <a:pPr indent="0" marL="0">
              <a:buNone/>
            </a:pPr>
            <a:r>
              <a:rPr lang="en-US" sz="1450" b="1" dirty="0">
                <a:solidFill>
                  <a:srgbClr val="0E1B2A"/>
                </a:solidFill>
                <a:latin typeface="Bahnschrift" pitchFamily="34" charset="0"/>
                <a:ea typeface="Bahnschrift" pitchFamily="34" charset="-122"/>
                <a:cs typeface="Bahnschrift" pitchFamily="34" charset="-120"/>
              </a:rPr>
              <a:t>Kết quả vận hành</a:t>
            </a:r>
            <a:endParaRPr lang="en-US" sz="1450" dirty="0"/>
          </a:p>
        </p:txBody>
      </p:sp>
      <p:sp>
        <p:nvSpPr>
          <p:cNvPr id="25" name="Text 23"/>
          <p:cNvSpPr/>
          <p:nvPr/>
        </p:nvSpPr>
        <p:spPr>
          <a:xfrm>
            <a:off x="8430768" y="2194560"/>
            <a:ext cx="2752344" cy="740664"/>
          </a:xfrm>
          <a:prstGeom prst="rect">
            <a:avLst/>
          </a:prstGeom>
          <a:noFill/>
          <a:ln/>
        </p:spPr>
        <p:txBody>
          <a:bodyPr wrap="square" lIns="254" tIns="254" rIns="254" bIns="254" rtlCol="0" anchor="t"/>
          <a:lstStyle/>
          <a:p>
            <a:pPr indent="0" marL="0">
              <a:buNone/>
            </a:pPr>
            <a:r>
              <a:rPr lang="en-US" sz="1050" dirty="0">
                <a:solidFill>
                  <a:srgbClr val="41576D"/>
                </a:solidFill>
                <a:latin typeface="Aptos" pitchFamily="34" charset="0"/>
                <a:ea typeface="Aptos" pitchFamily="34" charset="-122"/>
                <a:cs typeface="Aptos" pitchFamily="34" charset="-120"/>
              </a:rPr>
              <a:t>Đã có operator console, health/readiness, backup/restore, notification worker và same-host runbook.</a:t>
            </a:r>
            <a:endParaRPr lang="en-US" sz="1050" dirty="0"/>
          </a:p>
        </p:txBody>
      </p:sp>
      <p:sp>
        <p:nvSpPr>
          <p:cNvPr id="26" name="Shape 24"/>
          <p:cNvSpPr/>
          <p:nvPr/>
        </p:nvSpPr>
        <p:spPr>
          <a:xfrm>
            <a:off x="841248" y="3730752"/>
            <a:ext cx="5669280" cy="1645920"/>
          </a:xfrm>
          <a:prstGeom prst="rect">
            <a:avLst/>
          </a:prstGeom>
          <a:solidFill>
            <a:srgbClr val="132436"/>
          </a:solidFill>
          <a:ln w="12700">
            <a:solidFill>
              <a:srgbClr val="132436"/>
            </a:solidFill>
            <a:prstDash val="solid"/>
          </a:ln>
        </p:spPr>
      </p:sp>
      <p:sp>
        <p:nvSpPr>
          <p:cNvPr id="27" name="Shape 25"/>
          <p:cNvSpPr/>
          <p:nvPr/>
        </p:nvSpPr>
        <p:spPr>
          <a:xfrm>
            <a:off x="1024128" y="3950208"/>
            <a:ext cx="73152" cy="1170432"/>
          </a:xfrm>
          <a:prstGeom prst="rect">
            <a:avLst/>
          </a:prstGeom>
          <a:solidFill>
            <a:srgbClr val="C96A2B"/>
          </a:solidFill>
          <a:ln w="12700">
            <a:solidFill>
              <a:srgbClr val="C96A2B"/>
            </a:solidFill>
            <a:prstDash val="solid"/>
          </a:ln>
        </p:spPr>
      </p:sp>
      <p:sp>
        <p:nvSpPr>
          <p:cNvPr id="28" name="Text 26"/>
          <p:cNvSpPr/>
          <p:nvPr/>
        </p:nvSpPr>
        <p:spPr>
          <a:xfrm>
            <a:off x="1261872" y="3931920"/>
            <a:ext cx="2560320" cy="237744"/>
          </a:xfrm>
          <a:prstGeom prst="rect">
            <a:avLst/>
          </a:prstGeom>
          <a:noFill/>
          <a:ln/>
        </p:spPr>
        <p:txBody>
          <a:bodyPr wrap="square" rtlCol="0" anchor="ctr"/>
          <a:lstStyle/>
          <a:p>
            <a:pPr indent="0" marL="0">
              <a:buNone/>
            </a:pPr>
            <a:r>
              <a:rPr lang="en-US" sz="1700" b="1" dirty="0">
                <a:solidFill>
                  <a:srgbClr val="FFFFFF"/>
                </a:solidFill>
                <a:latin typeface="Bahnschrift" pitchFamily="34" charset="0"/>
                <a:ea typeface="Bahnschrift" pitchFamily="34" charset="-122"/>
                <a:cs typeface="Bahnschrift" pitchFamily="34" charset="-120"/>
              </a:rPr>
              <a:t>Thông điệp chốt</a:t>
            </a:r>
            <a:endParaRPr lang="en-US" sz="1700" dirty="0"/>
          </a:p>
        </p:txBody>
      </p:sp>
      <p:sp>
        <p:nvSpPr>
          <p:cNvPr id="29" name="Text 27"/>
          <p:cNvSpPr/>
          <p:nvPr/>
        </p:nvSpPr>
        <p:spPr>
          <a:xfrm>
            <a:off x="1261872" y="4315968"/>
            <a:ext cx="4800600" cy="822960"/>
          </a:xfrm>
          <a:prstGeom prst="rect">
            <a:avLst/>
          </a:prstGeom>
          <a:noFill/>
          <a:ln/>
        </p:spPr>
        <p:txBody>
          <a:bodyPr wrap="square" rtlCol="0" anchor="ctr"/>
          <a:lstStyle/>
          <a:p>
            <a:pPr indent="0" marL="0">
              <a:buNone/>
            </a:pPr>
            <a:r>
              <a:rPr lang="en-US" sz="1160" dirty="0">
                <a:solidFill>
                  <a:srgbClr val="D8E4EE"/>
                </a:solidFill>
                <a:latin typeface="Aptos" pitchFamily="34" charset="0"/>
                <a:ea typeface="Aptos" pitchFamily="34" charset="-122"/>
                <a:cs typeface="Aptos" pitchFamily="34" charset="-120"/>
              </a:rPr>
              <a:t>Giá trị lớn nhất của project không nằm ở một mô hình điểm số cao đơn lẻ, mà nằm ở việc nối được machine learning với runtime, cảm biến sống và lớp vận hành để hình thành một IDS có khả năng triển khai thực tế.</a:t>
            </a:r>
            <a:endParaRPr lang="en-US" sz="1160" dirty="0"/>
          </a:p>
        </p:txBody>
      </p:sp>
      <p:sp>
        <p:nvSpPr>
          <p:cNvPr id="30" name="Shape 28"/>
          <p:cNvSpPr/>
          <p:nvPr/>
        </p:nvSpPr>
        <p:spPr>
          <a:xfrm>
            <a:off x="6858000" y="3730752"/>
            <a:ext cx="4160520" cy="1645920"/>
          </a:xfrm>
          <a:prstGeom prst="rect">
            <a:avLst/>
          </a:prstGeom>
          <a:solidFill>
            <a:srgbClr val="C96A2B"/>
          </a:solidFill>
          <a:ln w="12700">
            <a:solidFill>
              <a:srgbClr val="C96A2B"/>
            </a:solidFill>
            <a:prstDash val="solid"/>
          </a:ln>
        </p:spPr>
      </p:sp>
      <p:sp>
        <p:nvSpPr>
          <p:cNvPr id="31" name="Text 29"/>
          <p:cNvSpPr/>
          <p:nvPr/>
        </p:nvSpPr>
        <p:spPr>
          <a:xfrm>
            <a:off x="7059168" y="4315968"/>
            <a:ext cx="3657600" cy="384048"/>
          </a:xfrm>
          <a:prstGeom prst="rect">
            <a:avLst/>
          </a:prstGeom>
          <a:noFill/>
          <a:ln/>
        </p:spPr>
        <p:txBody>
          <a:bodyPr wrap="square" rtlCol="0" anchor="ctr"/>
          <a:lstStyle/>
          <a:p>
            <a:pPr algn="ctr" indent="0" marL="0">
              <a:buNone/>
            </a:pPr>
            <a:r>
              <a:rPr lang="en-US" sz="3000" b="1" dirty="0">
                <a:solidFill>
                  <a:srgbClr val="FFFFFF"/>
                </a:solidFill>
                <a:latin typeface="Bahnschrift" pitchFamily="34" charset="0"/>
                <a:ea typeface="Bahnschrift" pitchFamily="34" charset="-122"/>
                <a:cs typeface="Bahnschrift" pitchFamily="34" charset="-120"/>
              </a:rPr>
              <a:t>Q &amp; A</a:t>
            </a:r>
            <a:endParaRPr lang="en-US" sz="3000" dirty="0"/>
          </a:p>
        </p:txBody>
      </p:sp>
      <p:sp>
        <p:nvSpPr>
          <p:cNvPr id="32" name="Text 30"/>
          <p:cNvSpPr/>
          <p:nvPr/>
        </p:nvSpPr>
        <p:spPr>
          <a:xfrm>
            <a:off x="548640" y="6473952"/>
            <a:ext cx="9509760" cy="164592"/>
          </a:xfrm>
          <a:prstGeom prst="rect">
            <a:avLst/>
          </a:prstGeom>
          <a:noFill/>
          <a:ln/>
        </p:spPr>
        <p:txBody>
          <a:bodyPr wrap="square" rtlCol="0" anchor="ctr"/>
          <a:lstStyle/>
          <a:p>
            <a:pPr indent="0" marL="0">
              <a:buNone/>
            </a:pPr>
            <a:r>
              <a:rPr lang="en-US" sz="900" dirty="0">
                <a:solidFill>
                  <a:srgbClr val="7A7A76"/>
                </a:solidFill>
                <a:latin typeface="Aptos" pitchFamily="34" charset="0"/>
                <a:ea typeface="Aptos" pitchFamily="34" charset="-122"/>
                <a:cs typeface="Aptos" pitchFamily="34" charset="-120"/>
              </a:rPr>
              <a:t>Outline tham khảo chi tiết cho người thuyết trình được lưu tại presentation_outline_vi.md.</a:t>
            </a:r>
            <a:endParaRPr lang="en-US" sz="900" dirty="0"/>
          </a:p>
        </p:txBody>
      </p:sp>
      <p:sp>
        <p:nvSpPr>
          <p:cNvPr id="25" name="Slide Number Placeholder 0"/>
          <p:cNvSpPr>
            <a:spLocks noGrp="1"/>
          </p:cNvSpPr>
          <p:nvPr>
            <p:ph type="sldNum" sz="quarter" idx="4294967295"/>
          </p:nvPr>
        </p:nvSpPr>
        <p:spPr>
          <a:xfrm>
            <a:off x="11475720" y="6446520"/>
            <a:ext cx="32004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7A7A76"/>
                </a:solidFill>
              </a:defRPr>
            </a:lvl1pPr>
          </a:lstStyle>
          <a:p>
            <a:pPr algn="l"/>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Bahnschrif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IDS_ML_New</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Xây dựng hệ thống IDS dựa trên ML</dc:title>
  <dc:subject>Hệ thống IDS dựa trên Machine Learning</dc:subject>
  <dc:creator>OpenAI Codex</dc:creator>
  <cp:lastModifiedBy>OpenAI Codex</cp:lastModifiedBy>
  <cp:revision>1</cp:revision>
  <dcterms:created xsi:type="dcterms:W3CDTF">2026-03-29T18:17:14Z</dcterms:created>
  <dcterms:modified xsi:type="dcterms:W3CDTF">2026-03-29T18:17:14Z</dcterms:modified>
</cp:coreProperties>
</file>